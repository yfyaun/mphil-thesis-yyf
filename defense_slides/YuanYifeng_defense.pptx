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>
              <a:srgbClr val="83838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74.349999999999994</c:v>
              </c:pt>
              <c:pt idx="1">
                <c:v>79.53</c:v>
              </c:pt>
              <c:pt idx="2">
                <c:v>71.540000000000006</c:v>
              </c:pt>
              <c:pt idx="3">
                <c:v>94.66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2F-4534-80AA-6101F52FDA8D}"/>
            </c:ext>
          </c:extLst>
        </c:ser>
        <c:ser>
          <c:idx val="1"/>
          <c:order val="1"/>
          <c:tx>
            <c:v>Distributed multimodal attention</c:v>
          </c:tx>
          <c:spPr>
            <a:solidFill>
              <a:srgbClr val="0F00C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81.510000000000005</c:v>
              </c:pt>
              <c:pt idx="2">
                <c:v>71.13</c:v>
              </c:pt>
              <c:pt idx="3">
                <c:v>94.13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2F-4534-80AA-6101F52FDA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83838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AP@2m</c:v>
          </c:tx>
          <c:spPr>
            <a:ln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38.590000000000003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71.400000000000006</c:v>
              </c:pt>
              <c:pt idx="5">
                <c:v>80.41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F41-4FEC-8A94-CBC80E026618}"/>
            </c:ext>
          </c:extLst>
        </c:ser>
        <c:ser>
          <c:idx val="1"/>
          <c:order val="1"/>
          <c:tx>
            <c:v>Recall@2m</c:v>
          </c:tx>
          <c:spPr>
            <a:ln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F41-4FEC-8A94-CBC80E026618}"/>
            </c:ext>
          </c:extLst>
        </c:ser>
        <c:ser>
          <c:idx val="2"/>
          <c:order val="2"/>
          <c:tx>
            <c:v>Beam Top-4@2m</c:v>
          </c:tx>
          <c:spPr>
            <a:ln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2F41-4FEC-8A94-CBC80E02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FFBB-4959-A094-7EC0F47C6376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FFBB-4959-A094-7EC0F47C6376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FFBB-4959-A094-7EC0F47C637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FBB-4959-A094-7EC0F47C63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138.86799999999999</c:v>
              </c:pt>
              <c:pt idx="1">
                <c:v>142.52199999999999</c:v>
              </c:pt>
              <c:pt idx="2">
                <c:v>143.70099999999999</c:v>
              </c:pt>
              <c:pt idx="3">
                <c:v>146.33199999999999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FBB-4959-A094-7EC0F47C63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gradFill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1"/>
          <p:cNvPicPr>
            <a:picLocks noChangeAspect="1"/>
          </p:cNvPicPr>
          <p:nvPr/>
        </p:nvPicPr>
        <p:blipFill>
          <a:blip r:embed="rId2">
            <a:alphaModFix amt="14000"/>
          </a:blip>
          <a:srcRect r="90374"/>
          <a:stretch/>
        </p:blipFill>
        <p:spPr>
          <a:xfrm>
            <a:off x="4701908" y="1689194"/>
            <a:ext cx="3107159" cy="4487091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3">
            <a:alphaModFix amt="21000"/>
          </a:blip>
          <a:srcRect l="8" t="48319" r="92" b="33286"/>
          <a:stretch/>
        </p:blipFill>
        <p:spPr>
          <a:xfrm>
            <a:off x="0" y="0"/>
            <a:ext cx="12192000" cy="9497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"/>
          <a:srcRect r="46366"/>
          <a:stretch/>
        </p:blipFill>
        <p:spPr>
          <a:xfrm>
            <a:off x="208020" y="261391"/>
            <a:ext cx="2346921" cy="596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noGrp="1"/>
          </p:cNvSpPr>
          <p:nvPr/>
        </p:nvSpPr>
        <p:spPr>
          <a:xfrm>
            <a:off x="667124" y="949717"/>
            <a:ext cx="11524876" cy="54733"/>
          </a:xfrm>
          <a:prstGeom prst="rect">
            <a:avLst/>
          </a:prstGeom>
          <a:solidFill>
            <a:srgbClr val="00B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noGrp="1"/>
          </p:cNvSpPr>
          <p:nvPr/>
        </p:nvSpPr>
        <p:spPr>
          <a:xfrm>
            <a:off x="0" y="949716"/>
            <a:ext cx="667125" cy="54733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3"/>
          <p:cNvPicPr>
            <a:picLocks noChangeAspect="1"/>
          </p:cNvPicPr>
          <p:nvPr/>
        </p:nvPicPr>
        <p:blipFill>
          <a:blip r:embed="rId2"/>
          <a:srcRect l="58346"/>
          <a:stretch/>
        </p:blipFill>
        <p:spPr>
          <a:xfrm>
            <a:off x="10282518" y="261391"/>
            <a:ext cx="1822746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FF54DE5-C571-48E8-A5BC-B369434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79BA0B-69DA-4385-8551-E5A78E7330E4}" type="datetime3">
              <a:t>2026年7月17日星期五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188" y="1025525"/>
            <a:ext cx="10966450" cy="5375275"/>
          </a:xfrm>
        </p:spPr>
        <p:txBody>
          <a:bodyPr/>
          <a:lstStyle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noGrp="1"/>
          </p:cNvSpPr>
          <p:nvPr/>
        </p:nvSpPr>
        <p:spPr>
          <a:xfrm>
            <a:off x="208344" y="647024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6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noGrp="1"/>
          </p:cNvSpPr>
          <p:nvPr/>
        </p:nvSpPr>
        <p:spPr>
          <a:xfrm>
            <a:off x="609027" y="296125"/>
            <a:ext cx="10965590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DF5D18-0C97-4B9B-A5F0-23768CA63075}" type="datetime3">
              <a:t>2026年7月17日星期五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0698" y="1041721"/>
            <a:ext cx="5285887" cy="5359079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1041721"/>
            <a:ext cx="5482035" cy="5359080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noGrp="1"/>
          </p:cNvSpPr>
          <p:nvPr/>
        </p:nvSpPr>
        <p:spPr>
          <a:xfrm>
            <a:off x="617383" y="296125"/>
            <a:ext cx="10957234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>
            <a:fld id="{1D8A88B6-106F-4EA9-92E3-FB2DE653E9D7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15352" y="6527381"/>
            <a:ext cx="962683" cy="278072"/>
          </a:xfrm>
        </p:spPr>
        <p:txBody>
          <a:bodyPr/>
          <a:lstStyle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1" y="1013674"/>
            <a:ext cx="10967258" cy="528353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0698" y="6530413"/>
            <a:ext cx="143423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15352" y="6530413"/>
            <a:ext cx="96268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333625"/>
            <a:ext cx="10477500" cy="1381125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V2I Beam Alignment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4287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Narrow beams provide the array gain required by high-frequency V2I links, but vehicle motion, blockage, and path evolution rapidly age beam and CSI information.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10668000" cy="2381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342900" indent="-342900" algn="l">
              <a:lnSpc>
                <a:spcPct val="112000"/>
              </a:lnSpc>
              <a:buFont typeface="Wingdings" panose="05000000000000000000" pitchFamily="2" charset="2"/>
              <a:buChar char="p"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Repeated SSB and CSI-RS measurements improve reliability.
The same measurements consume resources otherwise available for data.
Measurement reliability  ↔  Measurement overhead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66800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target-level beam prediction is useful only when it is applied to the intended communication user.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Visible vehicles, active VUEs, and maintained tracks are not naturally one-to-one.</a:t>
            </a:r>
          </a:p>
        </p:txBody>
      </p:sp>
      <p:sp>
        <p:nvSpPr>
          <p:cNvPr id="26" name="replacement-domain-arrow">
            <a:extLst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619250" cy="666750"/>
          </a:xfrm>
          <a:prstGeom prst="rightArrow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nsing-domain">
            <a:extLst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714750" cy="2190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>
            <a:endParaRPr sz="18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</p:txBody>
      </p:sp>
      <p:sp>
        <p:nvSpPr>
          <p:cNvPr id="28" name="replacement-communication-domain">
            <a:extLst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714750" cy="2190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>
            <a:endParaRPr sz="18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measurements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Downlink transmission</a:t>
            </a:r>
          </a:p>
        </p:txBody>
      </p:sp>
      <p:sp>
        <p:nvSpPr>
          <p:cNvPr id="29" name="replacement-interface-question">
            <a:extLst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noGrp="1"/>
          </p:cNvSpPr>
          <p:nvPr/>
        </p:nvSpPr>
        <p:spPr>
          <a:xfrm>
            <a:off x="4762500" y="40005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track corresponds to which VUE?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10668000" cy="952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Close the sensing-to-communication loop while reducing beam-measurement overhead and preserving user-specific decisions.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5238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Communication evaluation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287000" cy="300037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and beam prediction
    Joint vehicle detection and per-target CSI beam classification.
2  Target-to-user association with IMM-based tracking
    Beam measurements establish associations; tracking preserves target continuity.
3  Multimodal V2I simulation and NR-oriented evaluation
    One chain connects sensing use, fallback, overhead, and effective user rate.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Network and Sensing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target BS combines BS-local ISAC sensing with distributed camera coverage from neighbouring sensing nodes.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3333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BS b serves U_b[n]
Neighbouring nodes add viewpoints but not communication cells
All inputs are aligned in the target-BS BEV frame
O_b,n = {I_b,n, I_Nb,n, P_b,n}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and Rate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beams affect both the measured channel and the resources remaining for data transmission.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714500" y="5000625"/>
            <a:ext cx="8763000" cy="7143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Missing a useful beam reduces SINR; measuring fewer successful candidates increases the data-resource fraction.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0287000" cy="2857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coarse direction  →  CSI-RS candidate measurement  →  CSI feedback  →  RZF precoding and data
Selected measured beam
 k*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arg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maxₖ γ̂ᶜˢⁱ(k),     k ∈ 𝒞(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b,u,n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
Effective user rate
 Rᵉᶠᶠ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ηdata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B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ηDL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log₂(1 +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γRZF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428875" y="5191125"/>
            <a:ext cx="7334250" cy="523875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9810750" cy="3048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Proposed Framework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10572750" cy="640080"/>
          </a:xfrm>
          <a:prstGeom prst="rect">
            <a:avLst/>
          </a:prstGeom>
          <a:noFill/>
          <a:ln w="14288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framework-arrow-2">
            <a:extLst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61912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placement-framework-arrow-3">
            <a:extLst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placement-framework-stage-1">
            <a:extLst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noGrp="1"/>
          </p:cNvSpPr>
          <p:nvPr/>
        </p:nvSpPr>
        <p:spPr>
          <a:xfrm>
            <a:off x="3571875" y="1619250"/>
            <a:ext cx="2143125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2143125" cy="2952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Cross-Node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Cross-node attention selects complementary viewpoints at each BEV location while preserving the target-BS perspective.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4810125"/>
            <a:ext cx="8953500" cy="762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Target-BS-conditioned queries preserve the serving-link view; geometry-aware keys distinguish node locations; masks exclude invalid projections.</a:t>
            </a:r>
          </a:p>
        </p:txBody>
      </p:sp>
      <p:sp>
        <p:nvSpPr>
          <p:cNvPr id="26" name="replacement-node-arrow-1">
            <a:extLst>
              <a:ext uri="{FF2B5EF4-FFF2-40B4-BE49-F238E27FC236}">
                <a16:creationId xmlns:a16="http://schemas.microsoft.com/office/drawing/2014/main" id="{80E9B17C-E432-4EBE-9B1F-4FFD96F1044E}"/>
              </a:ext>
            </a:extLst>
          </p:cNvPr>
          <p:cNvSpPr>
            <a:spLocks noGrp="1"/>
          </p:cNvSpPr>
          <p:nvPr/>
        </p:nvSpPr>
        <p:spPr>
          <a:xfrm>
            <a:off x="3857625" y="2952750"/>
            <a:ext cx="114300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node-arrow-2">
            <a:extLst>
              <a:ext uri="{FF2B5EF4-FFF2-40B4-BE49-F238E27FC236}">
                <a16:creationId xmlns:a16="http://schemas.microsoft.com/office/drawing/2014/main" id="{9F311998-5668-4CA2-8B48-6441C9DA949A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114300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node-inputs">
            <a:extLst>
              <a:ext uri="{FF2B5EF4-FFF2-40B4-BE49-F238E27FC236}">
                <a16:creationId xmlns:a16="http://schemas.microsoft.com/office/drawing/2014/main" id="{069698C8-D894-4E13-A98A-572C3E6FC4DA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2857500" cy="22860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1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2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Validity masks</a:t>
            </a:r>
          </a:p>
        </p:txBody>
      </p:sp>
      <p:sp>
        <p:nvSpPr>
          <p:cNvPr id="29" name="replacement-node-attention">
            <a:extLst>
              <a:ext uri="{FF2B5EF4-FFF2-40B4-BE49-F238E27FC236}">
                <a16:creationId xmlns:a16="http://schemas.microsoft.com/office/drawing/2014/main" id="{32FAD952-B9DE-44BB-95D2-DCCF787476AA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2857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GEOMETRY-AWARE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MASKED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αⱼ(x) = softmaxⱼ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[q(x)ᵀkⱼ(x)/√d + b(gⱼ→b)]</a:t>
            </a:r>
          </a:p>
        </p:txBody>
      </p:sp>
      <p:sp>
        <p:nvSpPr>
          <p:cNvPr id="30" name="replacement-node-output">
            <a:extLst>
              <a:ext uri="{FF2B5EF4-FFF2-40B4-BE49-F238E27FC236}">
                <a16:creationId xmlns:a16="http://schemas.microsoft.com/office/drawing/2014/main" id="{08B156C6-E082-4135-9C52-F90CB0B8C7BC}"/>
              </a:ext>
            </a:extLst>
          </p:cNvPr>
          <p:cNvSpPr>
            <a:spLocks noGrp="1"/>
          </p:cNvSpPr>
          <p:nvPr/>
        </p:nvSpPr>
        <p:spPr>
          <a:xfrm>
            <a:off x="8429625" y="2143125"/>
            <a:ext cx="2857500" cy="22860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Target-BS-centred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camera BEV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 evidence dominates only where valid.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Multimodal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local and global attention adapt camera–ISAC fusion to spatial and scene-wide observation conditions.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78105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fusion weights are learned from sensing features; availability masks only exclude missing inputs.</a:t>
            </a:r>
          </a:p>
        </p:txBody>
      </p:sp>
      <p:sp>
        <p:nvSpPr>
          <p:cNvPr id="26" name="replacement-modal-arrow-1">
            <a:extLst>
              <a:ext uri="{FF2B5EF4-FFF2-40B4-BE49-F238E27FC236}">
                <a16:creationId xmlns:a16="http://schemas.microsoft.com/office/drawing/2014/main" id="{F2D30A1C-1C4B-433E-B79D-F86279C6EBC7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123825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modal-arrow-2">
            <a:extLst>
              <a:ext uri="{FF2B5EF4-FFF2-40B4-BE49-F238E27FC236}">
                <a16:creationId xmlns:a16="http://schemas.microsoft.com/office/drawing/2014/main" id="{8E6D60DF-20E3-4978-97CD-931A58FF5DD7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123825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modal-inputs">
            <a:extLst>
              <a:ext uri="{FF2B5EF4-FFF2-40B4-BE49-F238E27FC236}">
                <a16:creationId xmlns:a16="http://schemas.microsoft.com/office/drawing/2014/main" id="{EA3A3AE2-E4E2-4E26-89FB-C1543245661B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952750" cy="2047875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Semantics and visibility</a:t>
            </a:r>
          </a:p>
          <a:p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ISAC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Complementary geometry</a:t>
            </a:r>
          </a:p>
        </p:txBody>
      </p:sp>
      <p:sp>
        <p:nvSpPr>
          <p:cNvPr id="29" name="replacement-modal-gate">
            <a:extLst>
              <a:ext uri="{FF2B5EF4-FFF2-40B4-BE49-F238E27FC236}">
                <a16:creationId xmlns:a16="http://schemas.microsoft.com/office/drawing/2014/main" id="{7F518C3A-E3FB-48E9-984F-3D8787926E41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2762250" cy="223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βq(x) ∝ exp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[ℓlocal,q(x) + ℓglobal,q]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Availability mask</a:t>
            </a:r>
          </a:p>
        </p:txBody>
      </p:sp>
      <p:sp>
        <p:nvSpPr>
          <p:cNvPr id="30" name="replacement-modal-output">
            <a:extLst>
              <a:ext uri="{FF2B5EF4-FFF2-40B4-BE49-F238E27FC236}">
                <a16:creationId xmlns:a16="http://schemas.microsoft.com/office/drawing/2014/main" id="{AD8C6D02-1D2F-4108-A484-B62077215462}"/>
              </a:ext>
            </a:extLst>
          </p:cNvPr>
          <p:cNvSpPr>
            <a:spLocks noGrp="1"/>
          </p:cNvSpPr>
          <p:nvPr/>
        </p:nvSpPr>
        <p:spPr>
          <a:xfrm>
            <a:off x="8620125" y="2143125"/>
            <a:ext cx="2857500" cy="2238375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FUSED BEV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weights respond to occlusion and sparsity.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 weights respond to illumination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Joint Detection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shared BEV representation produces vehicle detections and a per-target posterior over 192 CSI beams.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2857500" cy="347662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 output
 r̂ᵢ, attributes, confidence
Beam output
 pᵢ = softmax(logits at r̂ᵢ)
Training
Top-1 cross-entropy
Use
Full posterior retained for ranking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4130" y="1762125"/>
            <a:ext cx="6600491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IMM-Based Tracking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IMM estimation preserves physical-target continuity across straight and turning motion.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00" cy="3619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state
[x, y, vₓ, vᵧ]ᵀ
CT state
[x, y, v, ψ, ω]ᵀ
IMM cycle
Mix → predict/update → mode likelihood → fuse
Mahalanobis gating + Hungarian assignment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7197" y="1714500"/>
            <a:ext cx="685435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Initial 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Conventional beam measurements anchor the mapping between VUE identities and currently observed tracks.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9096375" y="2000250"/>
            <a:ext cx="2333625" cy="310896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Feasible pair
Current observation
SSB-parent consistency
Accepted association
Low cost + sufficient margin
One-to-one assignment
Unmatched option retained</a:t>
            </a:r>
          </a:p>
        </p:txBody>
      </p:sp>
      <p:sp>
        <p:nvSpPr>
          <p:cNvPr id="26" name="replacement-association-arrow-1">
            <a:extLst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noGrp="1"/>
          </p:cNvSpPr>
          <p:nvPr/>
        </p:nvSpPr>
        <p:spPr>
          <a:xfrm>
            <a:off x="2857500" y="3095625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association-arrow-2">
            <a:extLst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noGrp="1"/>
          </p:cNvSpPr>
          <p:nvPr/>
        </p:nvSpPr>
        <p:spPr>
          <a:xfrm>
            <a:off x="5905500" y="3095625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association-measurements">
            <a:extLst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238375" cy="27622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EVIDENCE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1  measured beam κ₁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2  measured beam κ₂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U  measured beam κᵤ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Serving SSB parent</a:t>
            </a:r>
          </a:p>
        </p:txBody>
      </p:sp>
      <p:sp>
        <p:nvSpPr>
          <p:cNvPr id="29" name="replacement-association-cost">
            <a:extLst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2333625" cy="2762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TRACK-INDEXED POSTERIORS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cᵤᵣ = −log[pᵣ(κᵤ)+ε]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──────────────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log MCSI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Filter infeasible pairs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Form bipartite cost matrix</a:t>
            </a:r>
          </a:p>
        </p:txBody>
      </p:sp>
      <p:sp>
        <p:nvSpPr>
          <p:cNvPr id="30" name="replacement-association-result">
            <a:extLst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noGrp="1"/>
          </p:cNvSpPr>
          <p:nvPr/>
        </p:nvSpPr>
        <p:spPr>
          <a:xfrm>
            <a:off x="6619875" y="2000250"/>
            <a:ext cx="2333625" cy="27622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ASSIGNMENT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Hungarian matching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+ unmatched option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 only if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cost ≤ threshold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margin ≥ threshold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 remain unbound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Candidate Beam Selection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Only an accepted association with a current observation can reduce the CSI-RS scan.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5286375"/>
            <a:ext cx="7810500" cy="523875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 both branches, the service beam is selected from measured CSI-RS quality.</a:t>
            </a:r>
          </a:p>
        </p:txBody>
      </p:sp>
      <p:sp>
        <p:nvSpPr>
          <p:cNvPr id="26" name="replacement-candidate-arrow-1">
            <a:extLst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noGrp="1"/>
          </p:cNvSpPr>
          <p:nvPr/>
        </p:nvSpPr>
        <p:spPr>
          <a:xfrm>
            <a:off x="5429250" y="3037204"/>
            <a:ext cx="666750" cy="523876"/>
          </a:xfrm>
          <a:prstGeom prst="down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candidate-arrow-2">
            <a:extLst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noGrp="1"/>
          </p:cNvSpPr>
          <p:nvPr/>
        </p:nvSpPr>
        <p:spPr>
          <a:xfrm>
            <a:off x="4286250" y="3619500"/>
            <a:ext cx="2952750" cy="523875"/>
          </a:xfrm>
          <a:prstGeom prst="left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candidate-gate">
            <a:extLst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352425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0CD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VUE–track pair</a:t>
            </a: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AND</a:t>
            </a: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current target observation?</a:t>
            </a:r>
          </a:p>
        </p:txBody>
      </p:sp>
      <p:sp>
        <p:nvSpPr>
          <p:cNvPr id="29" name="replacement-candidate-yes">
            <a:extLst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3619500" cy="1714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YES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posterior beams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or adaptive cumulative-mass set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(minimum Top-1)</a:t>
            </a:r>
          </a:p>
        </p:txBody>
      </p:sp>
      <p:sp>
        <p:nvSpPr>
          <p:cNvPr id="30" name="replacement-candidate-no">
            <a:extLst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3619500" cy="1714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CSI-RS refinement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(conventional fallback)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64008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525000" cy="3143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noGrp="1"/>
          </p:cNvSpPr>
          <p:nvPr/>
        </p:nvSpPr>
        <p:spPr>
          <a:xfrm>
            <a:off x="2952750" y="3048000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tup-arrow-2">
            <a:extLst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setup-scenes">
            <a:extLst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333625" cy="2857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noGrp="1"/>
          </p:cNvSpPr>
          <p:nvPr/>
        </p:nvSpPr>
        <p:spPr>
          <a:xfrm>
            <a:off x="3667125" y="2000250"/>
            <a:ext cx="2524125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noGrp="1"/>
          </p:cNvSpPr>
          <p:nvPr/>
        </p:nvSpPr>
        <p:spPr>
          <a:xfrm>
            <a:off x="6905625" y="2000250"/>
            <a:ext cx="2524125" cy="2857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809750" cy="2857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715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placement-perception-summary">
            <a:extLst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5242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810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2000250"/>
          <a:ext cx="7810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715375" y="2000250"/>
            <a:ext cx="2714625" cy="3383280"/>
          </a:xfrm>
          <a:prstGeom prst="rect">
            <a:avLst/>
          </a:prstGeom>
          <a:noFill/>
          <a:ln w="19050">
            <a:solidFill>
              <a:srgbClr val="0F00CD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7810500" cy="3238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1569</Words>
  <Application>Microsoft Office PowerPoint</Application>
  <DocSecurity>0</DocSecurity>
  <PresentationFormat>宽屏</PresentationFormat>
  <Paragraphs>227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Courier New</vt:lpstr>
      <vt:lpstr>Helvetica</vt:lpstr>
      <vt:lpstr>Segoe UI Historic</vt:lpstr>
      <vt:lpstr>Wingdings</vt:lpstr>
      <vt:lpstr>Academic Literature 16x9</vt:lpstr>
      <vt:lpstr>Multimodal Sensing-Assisted User Association
and Tracking in Vehicular Networks</vt:lpstr>
      <vt:lpstr>V2I Beam Alignment</vt:lpstr>
      <vt:lpstr>Target-to-User Association</vt:lpstr>
      <vt:lpstr>Research Objectives and Contributions</vt:lpstr>
      <vt:lpstr>System Model</vt:lpstr>
      <vt:lpstr>Network and Sensing Model</vt:lpstr>
      <vt:lpstr>Communication and Rate Model</vt:lpstr>
      <vt:lpstr>Design Requirements</vt:lpstr>
      <vt:lpstr>Proposed Framework</vt:lpstr>
      <vt:lpstr>DMSA-BM Architecture</vt:lpstr>
      <vt:lpstr>Cross-Node Fusion</vt:lpstr>
      <vt:lpstr>Multimodal Fusion</vt:lpstr>
      <vt:lpstr>Joint Detection and Beam Prediction</vt:lpstr>
      <vt:lpstr>IMM-Based Tracking</vt:lpstr>
      <vt:lpstr>Initial Target-to-User Association</vt:lpstr>
      <vt:lpstr>Candidate Beam Selection</vt:lpstr>
      <vt:lpstr>Algorithm Summary</vt:lpstr>
      <vt:lpstr>Experimental Evaluation</vt:lpstr>
      <vt:lpstr>Experimental Setup</vt:lpstr>
      <vt:lpstr>Perception and Beam Prediction</vt:lpstr>
      <vt:lpstr>Cooperative Sensing Nodes</vt:lpstr>
      <vt:lpstr>Ablation and Tracking Results</vt:lpstr>
      <vt:lpstr>Conclusion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Yifeng YUAN</cp:lastModifiedBy>
  <cp:revision>5</cp:revision>
  <dcterms:created xsi:type="dcterms:W3CDTF">2026-07-16T16:49:23Z</dcterms:created>
  <dcterms:modified xsi:type="dcterms:W3CDTF">2026-07-17T05:46:01Z</dcterms:modified>
</cp:coreProperties>
</file>