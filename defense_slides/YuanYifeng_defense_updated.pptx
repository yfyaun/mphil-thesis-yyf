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notesSlides/notesSlide21.xml" ContentType="application/vnd.openxmlformats-officedocument.presentationml.notesSlide+xml"/>
  <Override PartName="/ppt/charts/chart2.xml" ContentType="application/vnd.openxmlformats-officedocument.drawingml.chart+xml"/>
  <Override PartName="/ppt/notesSlides/notesSlide22.xml" ContentType="application/vnd.openxmlformats-officedocument.presentationml.notesSlide+xml"/>
  <Override PartName="/ppt/charts/chart3.xml" ContentType="application/vnd.openxmlformats-officedocument.drawingml.chart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slides/charts/chart4.xml" ContentType="application/vnd.openxmlformats-officedocument.drawingml.chart+xml"/>
  <Override PartName="/ppt/notesSlides/notesSlide28.xml" ContentType="application/vnd.openxmlformats-officedocument.presentationml.notesSlide+xml"/>
  <Override PartName="/docProps/custom.xml" ContentType="application/vnd.openxmlformats-officedocument.custom-properties+xml"/>
</Types>
</file>

<file path=_rels/.rels>&#65279;<?xml version="1.0" encoding="utf-8"?><Relationships xmlns="http://schemas.openxmlformats.org/package/2006/relationships"><Relationship Type="http://schemas.openxmlformats.org/officeDocument/2006/relationships/extended-properties" Target="docProps/app.xml" Id="rId3" /><Relationship Type="http://schemas.openxmlformats.org/package/2006/relationships/metadata/core-properties" Target="docProps/core.xml" Id="rId2" /><Relationship Type="http://schemas.openxmlformats.org/officeDocument/2006/relationships/officeDocument" Target="ppt/presentation.xml" Id="rId1" /><Relationship Type="http://schemas.openxmlformats.org/officeDocument/2006/relationships/custom-properties" Target="/docProps/custom.xml" Id="Rdfcc3d19d02a4a8f" /></Relationships>
</file>

<file path=ppt/presentation.xml><?xml version="1.0" encoding="utf-8"?>
<p:presentation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6"/>
  </p:notesMasterIdLst>
  <p:sldIdLst>
    <p:sldId id="256" r:id="rId2"/>
    <p:sldId id="281" r:id="R942d2742f37f4728"/>
    <p:sldId id="257" r:id="rId3"/>
    <p:sldId id="282" r:id="Rdd30481183254d1a"/>
    <p:sldId id="283" r:id="R8d4c0dd85b1e4089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84" r:id="R8afb1142320148b9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73A0DAA-6AF3-43AB-8588-CEC1D06C72B9}" styleName="中度样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684" y="1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" Target="slides/slide7.xml" Id="rId8" /><Relationship Type="http://schemas.openxmlformats.org/officeDocument/2006/relationships/slide" Target="slides/slide12.xml" Id="rId13" /><Relationship Type="http://schemas.openxmlformats.org/officeDocument/2006/relationships/slide" Target="slides/slide17.xml" Id="rId18" /><Relationship Type="http://schemas.openxmlformats.org/officeDocument/2006/relationships/notesMaster" Target="notesMasters/notesMaster1.xml" Id="rId26" /><Relationship Type="http://schemas.openxmlformats.org/officeDocument/2006/relationships/slide" Target="slides/slide2.xml" Id="rId3" /><Relationship Type="http://schemas.openxmlformats.org/officeDocument/2006/relationships/slide" Target="slides/slide20.xml" Id="rId21" /><Relationship Type="http://schemas.openxmlformats.org/officeDocument/2006/relationships/slide" Target="slides/slide6.xml" Id="rId7" /><Relationship Type="http://schemas.openxmlformats.org/officeDocument/2006/relationships/slide" Target="slides/slide11.xml" Id="rId12" /><Relationship Type="http://schemas.openxmlformats.org/officeDocument/2006/relationships/slide" Target="slides/slide16.xml" Id="rId17" /><Relationship Type="http://schemas.openxmlformats.org/officeDocument/2006/relationships/slide" Target="slides/slide24.xml" Id="rId25" /><Relationship Type="http://schemas.openxmlformats.org/officeDocument/2006/relationships/slide" Target="slides/slide1.xml" Id="rId2" /><Relationship Type="http://schemas.openxmlformats.org/officeDocument/2006/relationships/slide" Target="slides/slide15.xml" Id="rId16" /><Relationship Type="http://schemas.openxmlformats.org/officeDocument/2006/relationships/slide" Target="slides/slide19.xml" Id="rId20" /><Relationship Type="http://schemas.openxmlformats.org/officeDocument/2006/relationships/theme" Target="theme/theme1.xml" Id="rId29" /><Relationship Type="http://schemas.openxmlformats.org/officeDocument/2006/relationships/slideMaster" Target="slideMasters/slideMaster1.xml" Id="rId1" /><Relationship Type="http://schemas.openxmlformats.org/officeDocument/2006/relationships/slide" Target="slides/slide5.xml" Id="rId6" /><Relationship Type="http://schemas.openxmlformats.org/officeDocument/2006/relationships/slide" Target="slides/slide10.xml" Id="rId11" /><Relationship Type="http://schemas.openxmlformats.org/officeDocument/2006/relationships/slide" Target="slides/slide23.xml" Id="rId24" /><Relationship Type="http://schemas.openxmlformats.org/officeDocument/2006/relationships/slide" Target="slides/slide4.xml" Id="rId5" /><Relationship Type="http://schemas.openxmlformats.org/officeDocument/2006/relationships/slide" Target="slides/slide14.xml" Id="rId15" /><Relationship Type="http://schemas.openxmlformats.org/officeDocument/2006/relationships/slide" Target="slides/slide22.xml" Id="rId23" /><Relationship Type="http://schemas.openxmlformats.org/officeDocument/2006/relationships/viewProps" Target="viewProps.xml" Id="rId28" /><Relationship Type="http://schemas.openxmlformats.org/officeDocument/2006/relationships/slide" Target="slides/slide9.xml" Id="rId10" /><Relationship Type="http://schemas.openxmlformats.org/officeDocument/2006/relationships/slide" Target="slides/slide18.xml" Id="rId19" /><Relationship Type="http://schemas.openxmlformats.org/officeDocument/2006/relationships/slide" Target="slides/slide3.xml" Id="rId4" /><Relationship Type="http://schemas.openxmlformats.org/officeDocument/2006/relationships/slide" Target="slides/slide8.xml" Id="rId9" /><Relationship Type="http://schemas.openxmlformats.org/officeDocument/2006/relationships/slide" Target="slides/slide13.xml" Id="rId14" /><Relationship Type="http://schemas.openxmlformats.org/officeDocument/2006/relationships/slide" Target="slides/slide21.xml" Id="rId22" /><Relationship Type="http://schemas.openxmlformats.org/officeDocument/2006/relationships/presProps" Target="presProps.xml" Id="rId27" /><Relationship Type="http://schemas.openxmlformats.org/officeDocument/2006/relationships/tableStyles" Target="tableStyles.xml" Id="rId30" /><Relationship Type="http://schemas.openxmlformats.org/officeDocument/2006/relationships/slide" Target="/ppt/slides/slide25.xml" Id="R942d2742f37f4728" /><Relationship Type="http://schemas.openxmlformats.org/officeDocument/2006/relationships/slide" Target="/ppt/slides/slide26.xml" Id="Rdd30481183254d1a" /><Relationship Type="http://schemas.openxmlformats.org/officeDocument/2006/relationships/slide" Target="/ppt/slides/slide27.xml" Id="R8d4c0dd85b1e4089" /><Relationship Type="http://schemas.openxmlformats.org/officeDocument/2006/relationships/slide" Target="/ppt/slides/slide28.xml" Id="R8afb1142320148b9" 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Local camera–ISAC fusion</c:v>
          </c:tx>
          <c:spPr>
            <a:solidFill>
              <a:srgbClr val="838383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000000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AP@2m</c:v>
              </c:pt>
              <c:pt idx="1">
                <c:v>Recall@2m</c:v>
              </c:pt>
              <c:pt idx="2">
                <c:v>Beam Top-1</c:v>
              </c:pt>
              <c:pt idx="3">
                <c:v>Beam Top-4</c:v>
              </c:pt>
            </c:strLit>
          </c:cat>
          <c:val>
            <c:numLit>
              <c:formatCode>0"%"</c:formatCode>
              <c:ptCount val="4"/>
              <c:pt idx="0">
                <c:v>74.349999999999994</c:v>
              </c:pt>
              <c:pt idx="1">
                <c:v>79.53</c:v>
              </c:pt>
              <c:pt idx="2">
                <c:v>71.540000000000006</c:v>
              </c:pt>
              <c:pt idx="3">
                <c:v>94.66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BC2F-4534-80AA-6101F52FDA8D}"/>
            </c:ext>
          </c:extLst>
        </c:ser>
        <c:ser>
          <c:idx val="1"/>
          <c:order val="1"/>
          <c:tx>
            <c:v>Distributed multimodal attention</c:v>
          </c:tx>
          <c:spPr>
            <a:solidFill>
              <a:srgbClr val="0F00CD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>
                    <a:solidFill>
                      <a:srgbClr val="000000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AP@2m</c:v>
              </c:pt>
              <c:pt idx="1">
                <c:v>Recall@2m</c:v>
              </c:pt>
              <c:pt idx="2">
                <c:v>Beam Top-1</c:v>
              </c:pt>
              <c:pt idx="3">
                <c:v>Beam Top-4</c:v>
              </c:pt>
            </c:strLit>
          </c:cat>
          <c:val>
            <c:numLit>
              <c:formatCode>0"%"</c:formatCode>
              <c:ptCount val="4"/>
              <c:pt idx="0">
                <c:v>78.73</c:v>
              </c:pt>
              <c:pt idx="1">
                <c:v>81.510000000000005</c:v>
              </c:pt>
              <c:pt idx="2">
                <c:v>71.13</c:v>
              </c:pt>
              <c:pt idx="3">
                <c:v>94.13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BC2F-4534-80AA-6101F52FDA8D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7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838383"/>
            </a:solidFill>
            <a:prstDash val="solid"/>
          </a:ln>
        </c:spPr>
        <c:txPr>
          <a:bodyPr anchorCtr="1"/>
          <a:lstStyle/>
          <a:p>
            <a:pPr>
              <a:defRPr sz="1275">
                <a:solidFill>
                  <a:srgbClr val="000000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  <a:prstDash val="solid"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000000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20"/>
      </c:valAx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lineChart>
        <c:grouping val="standard"/>
        <c:varyColors val="1"/>
        <c:ser>
          <c:idx val="0"/>
          <c:order val="0"/>
          <c:tx>
            <c:v>AP@2m</c:v>
          </c:tx>
          <c:spPr>
            <a:ln w="28575">
              <a:solidFill>
                <a:srgbClr val="0F00CD"/>
              </a:solidFill>
              <a:prstDash val="solid"/>
            </a:ln>
          </c:spPr>
          <c:marker>
            <c:symbol val="circle"/>
            <c:size val="8"/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</c:numLit>
          </c:cat>
          <c:val>
            <c:numLit>
              <c:formatCode>0"%"</c:formatCode>
              <c:ptCount val="6"/>
              <c:pt idx="0">
                <c:v>38.590000000000003</c:v>
              </c:pt>
              <c:pt idx="1">
                <c:v>50.3</c:v>
              </c:pt>
              <c:pt idx="2">
                <c:v>56.42</c:v>
              </c:pt>
              <c:pt idx="3">
                <c:v>58.39</c:v>
              </c:pt>
              <c:pt idx="4">
                <c:v>71.400000000000006</c:v>
              </c:pt>
              <c:pt idx="5">
                <c:v>80.41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0-2F41-4FEC-8A94-CBC80E026618}"/>
            </c:ext>
          </c:extLst>
        </c:ser>
        <c:ser>
          <c:idx val="1"/>
          <c:order val="1"/>
          <c:tx>
            <c:v>Recall@2m</c:v>
          </c:tx>
          <c:spPr>
            <a:ln w="28575">
              <a:solidFill>
                <a:srgbClr val="F69200"/>
              </a:solidFill>
              <a:prstDash val="solid"/>
            </a:ln>
          </c:spPr>
          <c:marker>
            <c:symbol val="square"/>
            <c:size val="8"/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</c:numLit>
          </c:cat>
          <c:val>
            <c:numLit>
              <c:formatCode>0"%"</c:formatCode>
              <c:ptCount val="6"/>
              <c:pt idx="0">
                <c:v>52.34</c:v>
              </c:pt>
              <c:pt idx="1">
                <c:v>57.39</c:v>
              </c:pt>
              <c:pt idx="2">
                <c:v>60.78</c:v>
              </c:pt>
              <c:pt idx="3">
                <c:v>62.45</c:v>
              </c:pt>
              <c:pt idx="4">
                <c:v>74.25</c:v>
              </c:pt>
              <c:pt idx="5">
                <c:v>83.15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1-2F41-4FEC-8A94-CBC80E026618}"/>
            </c:ext>
          </c:extLst>
        </c:ser>
        <c:ser>
          <c:idx val="2"/>
          <c:order val="2"/>
          <c:tx>
            <c:v>Beam Top-4@2m</c:v>
          </c:tx>
          <c:spPr>
            <a:ln w="28575">
              <a:solidFill>
                <a:srgbClr val="596400"/>
              </a:solidFill>
              <a:prstDash val="solid"/>
            </a:ln>
          </c:spPr>
          <c:marker>
            <c:symbol val="triangle"/>
            <c:size val="8"/>
          </c:marker>
          <c:cat>
            <c:numLit>
              <c:formatCode>General</c:formatCode>
              <c:ptCount val="6"/>
              <c:pt idx="0">
                <c:v>0</c:v>
              </c:pt>
              <c:pt idx="1">
                <c:v>1</c:v>
              </c:pt>
              <c:pt idx="2">
                <c:v>2</c:v>
              </c:pt>
              <c:pt idx="3">
                <c:v>3</c:v>
              </c:pt>
              <c:pt idx="4">
                <c:v>4</c:v>
              </c:pt>
              <c:pt idx="5">
                <c:v>5</c:v>
              </c:pt>
            </c:numLit>
          </c:cat>
          <c:val>
            <c:numLit>
              <c:formatCode>0"%"</c:formatCode>
              <c:ptCount val="6"/>
              <c:pt idx="0">
                <c:v>91.58</c:v>
              </c:pt>
              <c:pt idx="1">
                <c:v>92.03</c:v>
              </c:pt>
              <c:pt idx="2">
                <c:v>94.09</c:v>
              </c:pt>
              <c:pt idx="3">
                <c:v>94.63</c:v>
              </c:pt>
              <c:pt idx="4">
                <c:v>95.3</c:v>
              </c:pt>
              <c:pt idx="5">
                <c:v>95.4</c:v>
              </c:pt>
            </c:numLit>
          </c:val>
          <c:smooth val="1"/>
          <c:extLst>
            <c:ext xmlns:c16="http://schemas.microsoft.com/office/drawing/2014/chart" uri="{C3380CC4-5D6E-409C-BE32-E72D297353CC}">
              <c16:uniqueId val="{00000002-2F41-4FEC-8A94-CBC80E02661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r>
                  <a:rPr lang="en-US" sz="1275">
                    <a:solidFill>
                      <a:srgbClr val="000000"/>
                    </a:solidFill>
                  </a:rPr>
                  <a:t>Available nearby sensing nodes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000000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w="9525">
              <a:solidFill>
                <a:srgbClr val="D9D9D9"/>
              </a:solidFill>
              <a:prstDash val="solid"/>
            </a:ln>
          </c:spPr>
        </c:majorGridlines>
        <c:numFmt formatCode="0&quot;%&quot;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000000"/>
                </a:solidFill>
              </a:defRPr>
            </a:pPr>
            <a:endParaRPr lang="zh-CN"/>
          </a:p>
        </c:txPr>
        <c:crossAx val="48650112"/>
        <c:crosses val="autoZero"/>
        <c:crossBetween val="between"/>
        <c:majorUnit val="20"/>
      </c:valAx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Effective user rate</c:v>
          </c:tx>
          <c:spPr>
            <a:solidFill>
              <a:srgbClr val="0F00CD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838383"/>
              </a:solidFill>
            </c:spPr>
            <c:extLst>
              <c:ext xmlns:c16="http://schemas.microsoft.com/office/drawing/2014/chart" uri="{C3380CC4-5D6E-409C-BE32-E72D297353CC}">
                <c16:uniqueId val="{00000001-FFBB-4959-A094-7EC0F47C6376}"/>
              </c:ext>
            </c:extLst>
          </c:dPt>
          <c:dPt>
            <c:idx val="1"/>
            <c:invertIfNegative val="1"/>
            <c:bubble3D val="0"/>
            <c:spPr>
              <a:solidFill>
                <a:srgbClr val="596400"/>
              </a:solidFill>
            </c:spPr>
            <c:extLst>
              <c:ext xmlns:c16="http://schemas.microsoft.com/office/drawing/2014/chart" uri="{C3380CC4-5D6E-409C-BE32-E72D297353CC}">
                <c16:uniqueId val="{00000003-FFBB-4959-A094-7EC0F47C6376}"/>
              </c:ext>
            </c:extLst>
          </c:dPt>
          <c:dPt>
            <c:idx val="2"/>
            <c:invertIfNegative val="1"/>
            <c:bubble3D val="0"/>
            <c:spPr>
              <a:solidFill>
                <a:srgbClr val="418AB3"/>
              </a:solidFill>
            </c:spPr>
            <c:extLst>
              <c:ext xmlns:c16="http://schemas.microsoft.com/office/drawing/2014/chart" uri="{C3380CC4-5D6E-409C-BE32-E72D297353CC}">
                <c16:uniqueId val="{00000005-FFBB-4959-A094-7EC0F47C6376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FFBB-4959-A094-7EC0F47C6376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125" b="1">
                    <a:solidFill>
                      <a:srgbClr val="000000"/>
                    </a:solidFill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4"/>
              <c:pt idx="0">
                <c:v>Camera-only</c:v>
              </c:pt>
              <c:pt idx="1">
                <c:v>ISAC-only</c:v>
              </c:pt>
              <c:pt idx="2">
                <c:v>Local camera–ISAC</c:v>
              </c:pt>
              <c:pt idx="3">
                <c:v>DMSA-BM</c:v>
              </c:pt>
            </c:strLit>
          </c:cat>
          <c:val>
            <c:numLit>
              <c:formatCode>General</c:formatCode>
              <c:ptCount val="4"/>
              <c:pt idx="0">
                <c:v>138.86799999999999</c:v>
              </c:pt>
              <c:pt idx="1">
                <c:v>142.52199999999999</c:v>
              </c:pt>
              <c:pt idx="2">
                <c:v>143.70099999999999</c:v>
              </c:pt>
              <c:pt idx="3">
                <c:v>146.33199999999999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FFBB-4959-A094-7EC0F47C6376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0E0E0"/>
              </a:solidFill>
              <a:prstDash val="solid"/>
            </a:ln>
          </c:spPr>
        </c:majorGridlines>
        <c:title>
          <c:tx>
            <c:rich>
              <a:bodyPr/>
              <a:lstStyle/>
              <a:p>
                <a:r>
                  <a:rPr lang="en-US" sz="1275">
                    <a:solidFill>
                      <a:srgbClr val="000000"/>
                    </a:solidFill>
                  </a:rPr>
                  <a:t>Mean effective user rate (Mbps)</a:t>
                </a:r>
              </a:p>
            </c:rich>
          </c:tx>
          <c:overlay val="1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00000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000000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1a61e7fd94894593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89ec88b345384bcc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c321c4be0b794032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0e1ab61d1bca4023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Introduce the thesis question: when can roadside sensing safely reduce beam measurements for the intended V2I user?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that narrow beams are valuable but require recurrent SSB and CSI-RS actions. The tension is reliable alignment versus measurement overhead.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Emphasise the domain mismatch: perception names physical targets, while communication schedules VUE identities. This slide defines the association problem; it does not yet propose the tracker.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State the three contributions in order: joint BEV perception and beam prediction, measurement-assisted association and tracking, then end-to-end communication evaluation.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Transition to the system model. The next three slides define what information is available and what a valid beam-management action must respect.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Define the target BS, the serving VUE set, distributed camera viewpoints, and the target-BS BEV reference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the NR-oriented SSB to CSI-RS chain, the effective-rate metric, and why a reduced candidate list only matters if the selected beam is credible for the VUE.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these requirements as guardrails: target observability, association correctness, and conservative fallback when the evidence is insufficient.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Introduce DMSA-BM as the framework that connects perception evidence to a user-specific candidate measurement decision.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Walk left to right through the architecture: distributed sensing, BEV fusion, joint target output, tracking, association, and candidate selection.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why neighbouring viewpoints improve observability without creating additional communication cells. All evidence is fused in the target-BS BEV frame.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Describe local camera and ISAC fusion as complementary inputs before cross-node BEV fusion.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Highlight the joint output: vehicle detections and a beam posterior for every detected target, rather than a beam chosen without a physical target.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that the IMM tracker preserves target continuity through motion changes and temporary observation variation.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that conventional VUE-indexed CSI-RS measurements initialise or renew the target-to-user mapping.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that only accepted, currently observed associations are allowed to narrow a VUE candidate list; otherwise the SSB-guided branch is retained.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Summarise the full decision loop and identify the guarded interface between sensing evidence and CSI-RS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Transition from method to evidence. The question is whether the complete chain improves the stated communication operating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Briefly state the scenario, modalities, channel and protocol assumptions, and the metrics reported on the following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the perception and per-target beam-prediction results, distinguishing detection quality from communication-level decisions.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the contribution of cooperative sensing nodes under the reported viewpoints and conditions.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Interpret ablation and tracker comparisons cautiously: the result identifies the reported operating point rather than a universal ordering.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Recap what has been established before the final slide: the association gate is the bridge between target-level sensing and VUE-specific measurement.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Close with the central conclusion and the stated future-work directions, then pause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Start from the application setting. Vehicular networks must support high-throughput, low-latency, reliable roadside connectivity despite fast motion and changing geometry.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Explain the common single-candidate formulation: once the physical target is known, multimodal scene observations can produce a short beam list.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Now remove the single-target assumption. With multiple visible vehicles, the prediction must be conditioned on the intended VUE, often using location or another side-information cue.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Use this slide to read the communication result directly: DMSA-BM combines the lowest reported CSI-RS overhead with the highest reported effective user rate among the compared schemes.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16="http://schemas.microsoft.com/office/drawing/2014/main" xmlns:a="http://schemas.openxmlformats.org/drawingml/2006/main" xmlns:r="http://schemas.openxmlformats.org/officeDocument/2006/relationships" xmlns:p="http://schemas.openxmlformats.org/presentationml/2006/main" type="title">
  <p:cSld name="标题幻灯片">
    <p:bg>
      <p:bgPr>
        <a:gradFill>
          <a:gsLst>
            <a:gs pos="0">
              <a:schemeClr val="accent1">
                <a:lumMod val="0"/>
                <a:lumOff val="100000"/>
                <a:alpha val="38000"/>
              </a:schemeClr>
            </a:gs>
            <a:gs pos="46000">
              <a:srgbClr val="00B08C">
                <a:alpha val="18000"/>
              </a:srgbClr>
            </a:gs>
            <a:gs pos="100000">
              <a:schemeClr val="accent1">
                <a:lumMod val="45000"/>
                <a:lumOff val="55000"/>
                <a:alpha val="40000"/>
              </a:schemeClr>
            </a:gs>
            <a:gs pos="75000">
              <a:schemeClr val="accent1">
                <a:lumMod val="30000"/>
                <a:lumOff val="70000"/>
                <a:alpha val="38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1"/>
          <p:cNvPicPr>
            <a:picLocks noChangeAspect="1"/>
          </p:cNvPicPr>
          <p:nvPr/>
        </p:nvPicPr>
        <p:blipFill>
          <a:blip r:embed="rId2">
            <a:alphaModFix amt="14000"/>
          </a:blip>
          <a:srcRect r="90374"/>
          <a:stretch/>
        </p:blipFill>
        <p:spPr>
          <a:xfrm>
            <a:off x="4701908" y="1689194"/>
            <a:ext cx="3107159" cy="4487091"/>
          </a:xfrm>
          <a:prstGeom prst="rect">
            <a:avLst/>
          </a:prstGeom>
        </p:spPr>
      </p:pic>
      <p:pic>
        <p:nvPicPr>
          <p:cNvPr id="15" name="图片 5"/>
          <p:cNvPicPr>
            <a:picLocks noChangeAspect="1"/>
          </p:cNvPicPr>
          <p:nvPr/>
        </p:nvPicPr>
        <p:blipFill>
          <a:blip r:embed="rId3">
            <a:alphaModFix amt="21000"/>
          </a:blip>
          <a:srcRect l="8" t="48319" r="92" b="33286"/>
          <a:stretch/>
        </p:blipFill>
        <p:spPr>
          <a:xfrm>
            <a:off x="0" y="0"/>
            <a:ext cx="12192000" cy="949715"/>
          </a:xfrm>
          <a:prstGeom prst="rect">
            <a:avLst/>
          </a:prstGeom>
        </p:spPr>
      </p:pic>
      <p:sp>
        <p:nvSpPr>
          <p:cNvPr id="2" name="标题 1">
            <a:extLst>
              <a:ext uri="{FF2B5EF4-FFF2-40B4-BE49-F238E27FC236}">
                <a16:creationId xmlns:a16="http://schemas.microsoft.com/office/drawing/2014/main" id="{DF718B08-A401-2718-2E19-F1205C5CFE1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buNone/>
              <a:defRPr sz="6000">
                <a:latin typeface="+mj-lt"/>
                <a:ea typeface="+mj-lt"/>
                <a:cs typeface="+mj-lt"/>
              </a:defRPr>
            </a:lvl1pPr>
          </a:lstStyle>
          <a:p>
            <a:endParaRPr/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CEB920E-E52B-E040-5995-1451BAAAB14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latin typeface="Segoe UI Historic"/>
                <a:ea typeface="Segoe UI Historic"/>
                <a:cs typeface="Segoe UI Historic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单击此处编辑母版副标题样式</a:t>
            </a:r>
          </a:p>
        </p:txBody>
      </p:sp>
      <p:pic>
        <p:nvPicPr>
          <p:cNvPr id="18" name="图片 6"/>
          <p:cNvPicPr>
            <a:picLocks noChangeAspect="1"/>
          </p:cNvPicPr>
          <p:nvPr/>
        </p:nvPicPr>
        <p:blipFill>
          <a:blip r:embed="rId2"/>
          <a:srcRect r="46366"/>
          <a:stretch/>
        </p:blipFill>
        <p:spPr>
          <a:xfrm>
            <a:off x="208020" y="261391"/>
            <a:ext cx="2346921" cy="596250"/>
          </a:xfrm>
          <a:prstGeom prst="rect">
            <a:avLst/>
          </a:prstGeom>
        </p:spPr>
      </p:pic>
      <p:sp>
        <p:nvSpPr>
          <p:cNvPr id="8" name="矩形 7">
            <a:extLst>
              <a:ext uri="{FF2B5EF4-FFF2-40B4-BE49-F238E27FC236}">
                <a16:creationId xmlns:a16="http://schemas.microsoft.com/office/drawing/2014/main" id="{2E5389A7-8BF4-0AB3-8836-589FC16E5D9B}"/>
              </a:ext>
            </a:extLst>
          </p:cNvPr>
          <p:cNvSpPr>
            <a:spLocks noGrp="1"/>
          </p:cNvSpPr>
          <p:nvPr/>
        </p:nvSpPr>
        <p:spPr>
          <a:xfrm>
            <a:off x="667124" y="949717"/>
            <a:ext cx="11524876" cy="54733"/>
          </a:xfrm>
          <a:prstGeom prst="rect">
            <a:avLst/>
          </a:prstGeom>
          <a:solidFill>
            <a:srgbClr val="00B08C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9" name="Rectangle 11">
            <a:extLst>
              <a:ext uri="{FF2B5EF4-FFF2-40B4-BE49-F238E27FC236}">
                <a16:creationId xmlns:a16="http://schemas.microsoft.com/office/drawing/2014/main" id="{A8700642-6B17-FC45-B6F6-CEF32BDB3813}"/>
              </a:ext>
            </a:extLst>
          </p:cNvPr>
          <p:cNvSpPr>
            <a:spLocks noGrp="1"/>
          </p:cNvSpPr>
          <p:nvPr/>
        </p:nvSpPr>
        <p:spPr>
          <a:xfrm>
            <a:off x="0" y="949716"/>
            <a:ext cx="667125" cy="54733"/>
          </a:xfrm>
          <a:prstGeom prst="rect">
            <a:avLst/>
          </a:prstGeom>
          <a:solidFill>
            <a:srgbClr val="003B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1" name="图片 3"/>
          <p:cNvPicPr>
            <a:picLocks noChangeAspect="1"/>
          </p:cNvPicPr>
          <p:nvPr/>
        </p:nvPicPr>
        <p:blipFill>
          <a:blip r:embed="rId2"/>
          <a:srcRect l="58346"/>
          <a:stretch/>
        </p:blipFill>
        <p:spPr>
          <a:xfrm>
            <a:off x="10282518" y="261391"/>
            <a:ext cx="1822746" cy="5962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58CEFA1-4F38-A339-D944-82817049D2AB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67F6A6F2-D14C-4131-92F5-EBAC01F52C2C}" type="datetime3">
              <a:t>2026年7月17日星期五</a:t>
            </a:fld>
            <a:endParaRPr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A54AD56-C53F-564B-2B64-BEDF6F1DDB17}"/>
              </a:ext>
            </a:extLst>
          </p:cNvPr>
          <p:cNvSpPr>
            <a:spLocks noGrp="1"/>
          </p:cNvSpPr>
          <p:nvPr>
            <p:ph type="sldNum" idx="11"/>
          </p:nvPr>
        </p:nvSpPr>
        <p:spPr/>
        <p:txBody>
          <a:bodyPr/>
          <a:lstStyle/>
          <a:p>
            <a:fld id="{0FF54DE5-C571-48E8-A5BC-B369434E2F44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16="http://schemas.microsoft.com/office/drawing/2014/main"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0C16161-9FFB-3348-BDA5-116A2457EBD3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79BA0B-69DA-4385-8551-E5A78E7330E4}" type="datetime3">
              <a:t>2026年7月17日星期五</a:t>
            </a:fld>
            <a:endParaRPr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4A1CF7-76F0-924F-880F-9F035505386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 sz="1600">
                <a:latin typeface="Arial"/>
                <a:ea typeface="Arial"/>
                <a:cs typeface="Arial"/>
              </a:defRPr>
            </a:lvl1pPr>
          </a:lstStyle>
          <a:p>
            <a:fld id="{0FF54DE5-C571-48E8-A5BC-B369434E2F44}" type="slidenum">
              <a:t>‹#›</a:t>
            </a:fld>
            <a:endParaRPr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2352F509-7AAE-F945-8668-71B46ABAB69B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11188" y="1025525"/>
            <a:ext cx="10966450" cy="5375275"/>
          </a:xfrm>
        </p:spPr>
        <p:txBody>
          <a:bodyPr/>
          <a:lstStyle>
            <a:lvl1pPr marL="228600" indent="-228600">
              <a:buSzPct val="80000"/>
              <a:buFont typeface="Wingdings"/>
              <a:buChar char="u"/>
              <a:defRPr sz="2300">
                <a:latin typeface="Helvetica"/>
                <a:ea typeface="Helvetica"/>
                <a:cs typeface="Helvetica"/>
              </a:defRPr>
            </a:lvl1pPr>
            <a:lvl2pPr marL="685800" indent="-228600">
              <a:buClr>
                <a:srgbClr val="00B0F0"/>
              </a:buClr>
              <a:buSzPct val="80000"/>
              <a:buFont typeface="Wingdings"/>
              <a:buChar char="u"/>
              <a:defRPr sz="2000">
                <a:latin typeface="Helvetica"/>
                <a:ea typeface="Helvetica"/>
                <a:cs typeface="Helvetica"/>
              </a:defRPr>
            </a:lvl2pPr>
            <a:lvl3pPr marL="1143000" indent="-228600">
              <a:buClr>
                <a:srgbClr val="00B050"/>
              </a:buClr>
              <a:buSzPct val="80000"/>
              <a:buFont typeface="Wingdings"/>
              <a:buChar char="u"/>
              <a:defRPr sz="1700">
                <a:latin typeface="Helvetica"/>
                <a:ea typeface="Helvetica"/>
                <a:cs typeface="Helvetica"/>
              </a:defRPr>
            </a:lvl3pPr>
            <a:lvl4pPr marL="1600200" indent="-228600">
              <a:buClr>
                <a:srgbClr val="7030A0"/>
              </a:buClr>
              <a:buSzPct val="80000"/>
              <a:buFont typeface="Wingdings"/>
              <a:buChar char="u"/>
              <a:defRPr sz="1500">
                <a:latin typeface="Helvetica"/>
                <a:ea typeface="Helvetica"/>
                <a:cs typeface="Helvetica"/>
              </a:defRPr>
            </a:lvl4pPr>
            <a:lvl5pPr marL="2057400" indent="-228600">
              <a:buClr>
                <a:srgbClr val="FF0000"/>
              </a:buClr>
              <a:buSzPct val="80000"/>
              <a:buFont typeface="Wingdings"/>
              <a:buChar char="u"/>
              <a:defRPr sz="1500">
                <a:latin typeface="Helvetica"/>
                <a:ea typeface="Helvetica"/>
                <a:cs typeface="Helvetica"/>
              </a:defRPr>
            </a:lvl5pPr>
          </a:lstStyle>
          <a:p>
            <a:pPr>
              <a:buNone/>
            </a:pPr>
            <a:r>
              <a:t> Edit Master text styles</a:t>
            </a:r>
          </a:p>
          <a:p>
            <a:pPr>
              <a:buNone/>
            </a:pPr>
            <a:r>
              <a:t> Second level</a:t>
            </a:r>
          </a:p>
          <a:p>
            <a:pPr>
              <a:buNone/>
            </a:pPr>
            <a:r>
              <a:t> 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36475C6-6A95-C042-840C-DC90F119E4BD}"/>
              </a:ext>
            </a:extLst>
          </p:cNvPr>
          <p:cNvSpPr>
            <a:spLocks noGrp="1"/>
          </p:cNvSpPr>
          <p:nvPr/>
        </p:nvSpPr>
        <p:spPr>
          <a:xfrm>
            <a:off x="208344" y="6470248"/>
            <a:ext cx="184731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0B18FBE7-3AE4-7E45-9BD2-DB4F3541B9D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383" y="310337"/>
            <a:ext cx="10865126" cy="650381"/>
          </a:xfrm>
          <a:prstGeom prst="rect">
            <a:avLst/>
          </a:prstGeom>
        </p:spPr>
        <p:txBody>
          <a:bodyPr vert="horz" lIns="0" tIns="45720" rIns="0" bIns="45720" anchor="b">
            <a:normAutofit/>
          </a:bodyPr>
          <a:lstStyle>
            <a:lvl1pPr>
              <a:buNone/>
              <a:defRPr sz="3200"/>
            </a:lvl1pPr>
          </a:lstStyle>
          <a:p>
            <a:r>
              <a:t> Click To Edit Master Title Style</a:t>
            </a:r>
          </a:p>
        </p:txBody>
      </p:sp>
      <p:sp>
        <p:nvSpPr>
          <p:cNvPr id="17" name="Freeform 7">
            <a:extLst>
              <a:ext uri="{FF2B5EF4-FFF2-40B4-BE49-F238E27FC236}">
                <a16:creationId xmlns:a16="http://schemas.microsoft.com/office/drawing/2014/main" id="{5FDDC3AC-43D5-334B-92C3-FBAE67D8CFF3}"/>
              </a:ext>
            </a:extLst>
          </p:cNvPr>
          <p:cNvSpPr>
            <a:spLocks noGrp="1"/>
          </p:cNvSpPr>
          <p:nvPr/>
        </p:nvSpPr>
        <p:spPr>
          <a:xfrm>
            <a:off x="609027" y="296125"/>
            <a:ext cx="10965590" cy="706206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8" name="矩形 44">
            <a:extLst>
              <a:ext uri="{FF2B5EF4-FFF2-40B4-BE49-F238E27FC236}">
                <a16:creationId xmlns:a16="http://schemas.microsoft.com/office/drawing/2014/main" id="{69B25CBF-12A0-7B4F-9E26-AF0EF7DF3CAF}"/>
              </a:ext>
            </a:extLst>
          </p:cNvPr>
          <p:cNvSpPr>
            <a:spLocks noGrp="1"/>
          </p:cNvSpPr>
          <p:nvPr/>
        </p:nvSpPr>
        <p:spPr>
          <a:xfrm flipV="1">
            <a:off x="609026" y="6383645"/>
            <a:ext cx="10967259" cy="45719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7" name="图片 1"/>
          <p:cNvPicPr>
            <a:picLocks noChangeAspect="1"/>
          </p:cNvPicPr>
          <p:nvPr/>
        </p:nvPicPr>
        <p:blipFill>
          <a:blip r:embed="rId2"/>
          <a:srcRect r="90374"/>
          <a:stretch/>
        </p:blipFill>
        <p:spPr>
          <a:xfrm>
            <a:off x="11161734" y="338860"/>
            <a:ext cx="412883" cy="59625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0396DA-DA61-4724-B756-D20E563AE927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D9DF5D18-0C97-4B9B-A5F0-23768CA63075}" type="datetime3">
              <a:t>2026年7月17日星期五</a:t>
            </a:fld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4FEF61A-01C0-458C-8906-C2599798C3F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>
            <a:lvl1pPr>
              <a:buNone/>
              <a:defRPr>
                <a:latin typeface="Arial"/>
                <a:ea typeface="Arial"/>
                <a:cs typeface="Arial"/>
              </a:defRPr>
            </a:lvl1pPr>
          </a:lstStyle>
          <a:p>
            <a:fld id="{0FF54DE5-C571-48E8-A5BC-B369434E2F44}" type="slidenum">
              <a:t>‹#›</a:t>
            </a:fld>
            <a:endParaRPr/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575D938D-D4E2-4422-A904-A576ED91824E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10698" y="1041721"/>
            <a:ext cx="5285887" cy="5359079"/>
          </a:xfrm>
        </p:spPr>
        <p:txBody>
          <a:bodyPr/>
          <a:lstStyle>
            <a:lvl1pPr marL="228600" indent="-228600">
              <a:buClr>
                <a:srgbClr val="C00000"/>
              </a:buClr>
              <a:buSzPct val="80000"/>
              <a:buFont typeface="Wingdings"/>
              <a:buChar char="u"/>
              <a:defRPr sz="2100">
                <a:latin typeface="Helvetica"/>
                <a:ea typeface="Helvetica"/>
                <a:cs typeface="Helvetica"/>
              </a:defRPr>
            </a:lvl1pPr>
            <a:lvl2pPr marL="685800" indent="-228600">
              <a:buClr>
                <a:schemeClr val="accent1"/>
              </a:buClr>
              <a:buSzPct val="80000"/>
              <a:buFont typeface="Wingdings"/>
              <a:buChar char="u"/>
              <a:defRPr sz="1800">
                <a:latin typeface="Helvetica"/>
                <a:ea typeface="Helvetica"/>
                <a:cs typeface="Helvetica"/>
              </a:defRPr>
            </a:lvl2pPr>
            <a:lvl3pPr marL="1143000" indent="-228600">
              <a:buClr>
                <a:srgbClr val="00B050"/>
              </a:buClr>
              <a:buSzPct val="80000"/>
              <a:buFont typeface="Wingdings"/>
              <a:buChar char="u"/>
              <a:defRPr sz="1600">
                <a:latin typeface="Helvetica"/>
                <a:ea typeface="Helvetica"/>
                <a:cs typeface="Helvetica"/>
              </a:defRPr>
            </a:lvl3pPr>
            <a:lvl4pPr marL="1600200" indent="-228600">
              <a:buClr>
                <a:srgbClr val="7030A0"/>
              </a:buClr>
              <a:buSzPct val="80000"/>
              <a:buFont typeface="Wingdings"/>
              <a:buChar char="u"/>
              <a:defRPr sz="1400">
                <a:latin typeface="Helvetica"/>
                <a:ea typeface="Helvetica"/>
                <a:cs typeface="Helvetica"/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/>
              <a:buChar char="u"/>
              <a:defRPr sz="1300">
                <a:latin typeface="Helvetica"/>
                <a:ea typeface="Helvetica"/>
                <a:cs typeface="Helvetica"/>
              </a:defRPr>
            </a:lvl5pPr>
          </a:lstStyle>
          <a:p>
            <a:pPr>
              <a:buNone/>
            </a:pPr>
            <a:r>
              <a:t> Edit Master text styles</a:t>
            </a:r>
          </a:p>
          <a:p>
            <a:pPr>
              <a:buNone/>
            </a:pPr>
            <a:r>
              <a:t> 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50E53E3D-054C-417B-8572-FC5E06257FEB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096000" y="1041721"/>
            <a:ext cx="5482035" cy="5359080"/>
          </a:xfrm>
        </p:spPr>
        <p:txBody>
          <a:bodyPr/>
          <a:lstStyle>
            <a:lvl1pPr marL="228600" indent="-228600">
              <a:buClr>
                <a:srgbClr val="C00000"/>
              </a:buClr>
              <a:buSzPct val="80000"/>
              <a:buFont typeface="Wingdings"/>
              <a:buChar char="u"/>
              <a:defRPr sz="2100">
                <a:latin typeface="Helvetica"/>
                <a:ea typeface="Helvetica"/>
                <a:cs typeface="Helvetica"/>
              </a:defRPr>
            </a:lvl1pPr>
            <a:lvl2pPr marL="685800" indent="-228600">
              <a:buClr>
                <a:schemeClr val="accent1"/>
              </a:buClr>
              <a:buSzPct val="80000"/>
              <a:buFont typeface="Wingdings"/>
              <a:buChar char="u"/>
              <a:defRPr sz="1800">
                <a:latin typeface="Helvetica"/>
                <a:ea typeface="Helvetica"/>
                <a:cs typeface="Helvetica"/>
              </a:defRPr>
            </a:lvl2pPr>
            <a:lvl3pPr marL="1143000" indent="-228600">
              <a:buClr>
                <a:srgbClr val="00B050"/>
              </a:buClr>
              <a:buSzPct val="80000"/>
              <a:buFont typeface="Wingdings"/>
              <a:buChar char="u"/>
              <a:defRPr sz="1600">
                <a:latin typeface="Helvetica"/>
                <a:ea typeface="Helvetica"/>
                <a:cs typeface="Helvetica"/>
              </a:defRPr>
            </a:lvl3pPr>
            <a:lvl4pPr marL="1600200" indent="-228600">
              <a:buClr>
                <a:srgbClr val="7030A0"/>
              </a:buClr>
              <a:buSzPct val="80000"/>
              <a:buFont typeface="Wingdings"/>
              <a:buChar char="u"/>
              <a:defRPr sz="1400">
                <a:latin typeface="Helvetica"/>
                <a:ea typeface="Helvetica"/>
                <a:cs typeface="Helvetica"/>
              </a:defRPr>
            </a:lvl4pPr>
            <a:lvl5pPr marL="2057400" indent="-228600">
              <a:buClr>
                <a:srgbClr val="C00000"/>
              </a:buClr>
              <a:buSzPct val="80000"/>
              <a:buFont typeface="Wingdings"/>
              <a:buChar char="u"/>
              <a:defRPr sz="1300">
                <a:latin typeface="Helvetica"/>
                <a:ea typeface="Helvetica"/>
                <a:cs typeface="Helvetica"/>
              </a:defRPr>
            </a:lvl5pPr>
          </a:lstStyle>
          <a:p>
            <a:pPr>
              <a:buNone/>
            </a:pPr>
            <a:r>
              <a:t> Edit Master text styles</a:t>
            </a:r>
          </a:p>
          <a:p>
            <a:pPr>
              <a:buNone/>
            </a:pPr>
            <a:r>
              <a:t> Second level</a:t>
            </a:r>
          </a:p>
          <a:p>
            <a:pPr>
              <a:buNone/>
            </a:pPr>
            <a:r>
              <a:t>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12" name="Freeform 7">
            <a:extLst>
              <a:ext uri="{FF2B5EF4-FFF2-40B4-BE49-F238E27FC236}">
                <a16:creationId xmlns:a16="http://schemas.microsoft.com/office/drawing/2014/main" id="{60159807-4D87-3948-8725-95558A307973}"/>
              </a:ext>
            </a:extLst>
          </p:cNvPr>
          <p:cNvSpPr>
            <a:spLocks noGrp="1"/>
          </p:cNvSpPr>
          <p:nvPr/>
        </p:nvSpPr>
        <p:spPr>
          <a:xfrm>
            <a:off x="617383" y="296125"/>
            <a:ext cx="10957234" cy="706206"/>
          </a:xfrm>
          <a:custGeom>
            <a:avLst/>
            <a:gdLst>
              <a:gd name="T0" fmla="*/ 0 w 1000"/>
              <a:gd name="T1" fmla="*/ 2147483647 h 1000"/>
              <a:gd name="T2" fmla="*/ 0 w 1000"/>
              <a:gd name="T3" fmla="*/ 0 h 1000"/>
              <a:gd name="T4" fmla="*/ 2147483647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/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  <p:txBody>
          <a:bodyPr/>
          <a:lstStyle/>
          <a:p>
            <a:pPr>
              <a:buNone/>
            </a:pPr>
            <a:endParaRPr/>
          </a:p>
        </p:txBody>
      </p:sp>
      <p:sp>
        <p:nvSpPr>
          <p:cNvPr id="13" name="矩形 44">
            <a:extLst>
              <a:ext uri="{FF2B5EF4-FFF2-40B4-BE49-F238E27FC236}">
                <a16:creationId xmlns:a16="http://schemas.microsoft.com/office/drawing/2014/main" id="{97F3D2F2-2416-2247-B28A-F2AFD29708C7}"/>
              </a:ext>
            </a:extLst>
          </p:cNvPr>
          <p:cNvSpPr>
            <a:spLocks noGrp="1"/>
          </p:cNvSpPr>
          <p:nvPr/>
        </p:nvSpPr>
        <p:spPr>
          <a:xfrm flipV="1">
            <a:off x="609026" y="6383645"/>
            <a:ext cx="10967259" cy="45719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noFill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pic>
        <p:nvPicPr>
          <p:cNvPr id="21" name="图片 1"/>
          <p:cNvPicPr>
            <a:picLocks noChangeAspect="1"/>
          </p:cNvPicPr>
          <p:nvPr/>
        </p:nvPicPr>
        <p:blipFill>
          <a:blip r:embed="rId2"/>
          <a:srcRect r="90374"/>
          <a:stretch/>
        </p:blipFill>
        <p:spPr>
          <a:xfrm>
            <a:off x="11161734" y="338860"/>
            <a:ext cx="412883" cy="596250"/>
          </a:xfrm>
          <a:prstGeom prst="rect">
            <a:avLst/>
          </a:prstGeom>
        </p:spPr>
      </p:pic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DDEF98DE-59B8-698D-2E48-3138C8A13A2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7383" y="310337"/>
            <a:ext cx="10865125" cy="650381"/>
          </a:xfrm>
          <a:prstGeom prst="rect">
            <a:avLst/>
          </a:prstGeom>
        </p:spPr>
        <p:txBody>
          <a:bodyPr vert="horz" lIns="0" tIns="45720" rIns="0" bIns="45720" anchor="b">
            <a:normAutofit/>
          </a:bodyPr>
          <a:lstStyle>
            <a:lvl1pPr>
              <a:buNone/>
              <a:defRPr sz="3200"/>
            </a:lvl1pPr>
          </a:lstStyle>
          <a:p>
            <a:r>
              <a:t> Click To Edit Master Title Style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8B951A-4328-4898-8B79-4DD30E09AD75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>
            <a:lvl1pPr>
              <a:buNone/>
              <a:defRPr baseline="0">
                <a:solidFill>
                  <a:schemeClr val="tx1"/>
                </a:solidFill>
              </a:defRPr>
            </a:lvl1pPr>
          </a:lstStyle>
          <a:p>
            <a:fld id="{1D8A88B6-106F-4EA9-92E3-FB2DE653E9D7}" type="datetime3">
              <a:t>2026年7月17日星期五</a:t>
            </a:fld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F2153D-E3AC-4008-9EFF-F85A73E4E7F1}"/>
              </a:ext>
            </a:extLst>
          </p:cNvPr>
          <p:cNvSpPr>
            <a:spLocks noGrp="1"/>
          </p:cNvSpPr>
          <p:nvPr>
            <p:ph type="sldNum" idx="12"/>
          </p:nvPr>
        </p:nvSpPr>
        <p:spPr>
          <a:xfrm>
            <a:off x="10615352" y="6527381"/>
            <a:ext cx="962683" cy="278072"/>
          </a:xfrm>
        </p:spPr>
        <p:txBody>
          <a:bodyPr/>
          <a:lstStyle>
            <a:lvl1pPr>
              <a:buNone/>
              <a:defRPr sz="1600" baseline="0">
                <a:solidFill>
                  <a:schemeClr val="tx1"/>
                </a:solidFill>
                <a:latin typeface="Arial"/>
                <a:ea typeface="Arial"/>
                <a:cs typeface="Arial"/>
              </a:defRPr>
            </a:lvl1pPr>
          </a:lstStyle>
          <a:p>
            <a:fld id="{0FF54DE5-C571-48E8-A5BC-B369434E2F44}" type="slidenum">
              <a:t>‹#›</a:t>
            </a:fld>
            <a:endParaRPr/>
          </a:p>
        </p:txBody>
      </p:sp>
      <p:pic>
        <p:nvPicPr>
          <p:cNvPr id="10" name="图片 2"/>
          <p:cNvPicPr>
            <a:picLocks noChangeAspect="1"/>
          </p:cNvPicPr>
          <p:nvPr/>
        </p:nvPicPr>
        <p:blipFill>
          <a:blip r:embed="rId2"/>
          <a:srcRect r="90374"/>
          <a:stretch/>
        </p:blipFill>
        <p:spPr>
          <a:xfrm>
            <a:off x="11161734" y="338860"/>
            <a:ext cx="412883" cy="59625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16="http://schemas.microsoft.com/office/drawing/2014/main" xmlns:p15="http://schemas.microsoft.com/office/powerpoint/2012/main"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bg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4E5973-7667-4205-9901-F95512235B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371" y="1013674"/>
            <a:ext cx="10967258" cy="5283536"/>
          </a:xfrm>
          <a:prstGeom prst="rect">
            <a:avLst/>
          </a:prstGeom>
        </p:spPr>
        <p:txBody>
          <a:bodyPr vert="horz" lIns="0" tIns="45720" rIns="0" bIns="45720">
            <a:normAutofit/>
          </a:bodyPr>
          <a:lstStyle/>
          <a:p>
            <a:pPr>
              <a:buNone/>
            </a:pPr>
            <a:r>
              <a:t> Edit Master text styles</a:t>
            </a:r>
          </a:p>
          <a:p>
            <a:pPr>
              <a:buNone/>
            </a:pPr>
            <a:r>
              <a:t> Second level</a:t>
            </a:r>
          </a:p>
          <a:p>
            <a:pPr>
              <a:buNone/>
            </a:pPr>
            <a:r>
              <a:t> Third level</a:t>
            </a:r>
          </a:p>
          <a:p>
            <a:pPr>
              <a:buNone/>
            </a:pPr>
            <a:r>
              <a:t>Fourth level</a:t>
            </a:r>
          </a:p>
          <a:p>
            <a:pPr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BE8031-E642-45CC-BAD1-BA3FF3138496}"/>
              </a:ext>
            </a:extLst>
          </p:cNvPr>
          <p:cNvSpPr>
            <a:spLocks noGrp="1"/>
          </p:cNvSpPr>
          <p:nvPr>
            <p:ph type="dt" idx="2"/>
          </p:nvPr>
        </p:nvSpPr>
        <p:spPr>
          <a:xfrm>
            <a:off x="610698" y="6530413"/>
            <a:ext cx="1434233" cy="278071"/>
          </a:xfrm>
          <a:prstGeom prst="rect">
            <a:avLst/>
          </a:prstGeom>
        </p:spPr>
        <p:txBody>
          <a:bodyPr vert="horz" lIns="0" tIns="45720" rIns="0" bIns="45720" anchor="ctr"/>
          <a:lstStyle>
            <a:lvl1pPr algn="l">
              <a:buNone/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fld id="{67F6A6F2-D14C-4131-92F5-EBAC01F52C2C}" type="datetime3">
              <a:t>2026年7月17日星期五</a:t>
            </a:fld>
            <a:endParaRPr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052FF3-E597-4BE5-AADF-5AABF1E6F7C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0615352" y="6530413"/>
            <a:ext cx="962683" cy="278071"/>
          </a:xfrm>
          <a:prstGeom prst="rect">
            <a:avLst/>
          </a:prstGeom>
        </p:spPr>
        <p:txBody>
          <a:bodyPr vert="horz" lIns="0" tIns="45720" rIns="0" bIns="45720" anchor="ctr"/>
          <a:lstStyle>
            <a:lvl1pPr algn="r">
              <a:buNone/>
              <a:defRPr sz="1600" baseline="0">
                <a:solidFill>
                  <a:schemeClr val="tx1">
                    <a:lumMod val="65000"/>
                    <a:lumOff val="35000"/>
                  </a:schemeClr>
                </a:solidFill>
                <a:latin typeface="Arial"/>
                <a:ea typeface="Arial"/>
                <a:cs typeface="Arial"/>
              </a:defRPr>
            </a:lvl1pPr>
          </a:lstStyle>
          <a:p>
            <a:fld id="{0FF54DE5-C571-48E8-A5BC-B369434E2F44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hdr="0" dt="0"/>
  <p:txStyles>
    <p:titleStyle>
      <a:lvl1pPr algn="l" defTabSz="914400">
        <a:lnSpc>
          <a:spcPct val="90000"/>
        </a:lnSpc>
        <a:spcBef>
          <a:spcPct val="0"/>
        </a:spcBef>
        <a:buNone/>
        <a:defRPr sz="3600" kern="1200">
          <a:solidFill>
            <a:srgbClr val="0F00CD"/>
          </a:solidFill>
          <a:latin typeface="Arial"/>
          <a:ea typeface="Arial"/>
          <a:cs typeface="Arial"/>
        </a:defRPr>
      </a:lvl1pPr>
    </p:titleStyle>
    <p:bodyStyle>
      <a:lvl1pPr marL="228600" indent="-228600" algn="l" defTabSz="914400">
        <a:lnSpc>
          <a:spcPct val="90000"/>
        </a:lnSpc>
        <a:spcBef>
          <a:spcPts val="1800"/>
        </a:spcBef>
        <a:buClr>
          <a:srgbClr val="A40503"/>
        </a:buClr>
        <a:buFont typeface="Wingdings"/>
        <a:buChar char="q"/>
        <a:defRPr sz="24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1pPr>
      <a:lvl2pPr marL="685800" indent="-228600" algn="l" defTabSz="914400">
        <a:lnSpc>
          <a:spcPct val="90000"/>
        </a:lnSpc>
        <a:spcBef>
          <a:spcPts val="600"/>
        </a:spcBef>
        <a:buClr>
          <a:srgbClr val="0432FF"/>
        </a:buClr>
        <a:buFont typeface="Wingdings"/>
        <a:buChar char="q"/>
        <a:defRPr sz="21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2pPr>
      <a:lvl3pPr marL="1143000" indent="-228600" algn="l" defTabSz="914400">
        <a:lnSpc>
          <a:spcPct val="90000"/>
        </a:lnSpc>
        <a:spcBef>
          <a:spcPts val="600"/>
        </a:spcBef>
        <a:buClr>
          <a:schemeClr val="accent1">
            <a:lumMod val="60000"/>
            <a:lumOff val="40000"/>
          </a:schemeClr>
        </a:buClr>
        <a:buFont typeface="Wingdings"/>
        <a:buChar char="Ø"/>
        <a:defRPr sz="18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3pPr>
      <a:lvl4pPr marL="1600200" indent="-228600" algn="l" defTabSz="914400">
        <a:lnSpc>
          <a:spcPct val="90000"/>
        </a:lnSpc>
        <a:spcBef>
          <a:spcPts val="600"/>
        </a:spcBef>
        <a:buClr>
          <a:schemeClr val="accent5">
            <a:lumMod val="75000"/>
          </a:schemeClr>
        </a:buClr>
        <a:buFont typeface="Courier New"/>
        <a:buChar char="o"/>
        <a:defRPr sz="15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4pPr>
      <a:lvl5pPr marL="2057400" indent="-228600" algn="l" defTabSz="914400">
        <a:lnSpc>
          <a:spcPct val="90000"/>
        </a:lnSpc>
        <a:spcBef>
          <a:spcPts val="600"/>
        </a:spcBef>
        <a:buFont typeface="Wingdings"/>
        <a:buChar char="§"/>
        <a:defRPr sz="1500" kern="1200">
          <a:solidFill>
            <a:schemeClr val="tx1"/>
          </a:solidFill>
          <a:latin typeface="Segoe UI Historic"/>
          <a:ea typeface="Segoe UI Historic"/>
          <a:cs typeface="Segoe UI Historic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Wingdings"/>
        <a:buChar char="§"/>
        <a:defRPr sz="14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  <p:extLst>
    <p:ext uri="{27BBF7A9-308A-43DC-89C8-2F10F3537804}">
      <p15:sldGuideLst xmlns:p15="http://schemas.microsoft.com/office/powerpoint/2012/main">
        <p15:guide id="1" pos="696">
          <p15:clr>
            <a:srgbClr val="F26B43"/>
          </p15:clr>
        </p15:guide>
        <p15:guide id="2" pos="6984">
          <p15:clr>
            <a:srgbClr val="F26B43"/>
          </p15:clr>
        </p15:guide>
        <p15:guide id="3" orient="horz" pos="1008">
          <p15:clr>
            <a:srgbClr val="F26B43"/>
          </p15:clr>
        </p15:guide>
        <p15:guide id="4" orient="horz" pos="388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b34ed6489915450f" /><Relationship Type="http://schemas.openxmlformats.org/officeDocument/2006/relationships/image" Target="/ppt/media/image3.png" Id="Rf7b5fe774b55445e" /><Relationship Type="http://schemas.openxmlformats.org/officeDocument/2006/relationships/notesSlide" Target="/ppt/notesSlides/notesSlide25.xml" Id="R72a64e6c9b8a4838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84be01176d649a1" /><Relationship Type="http://schemas.openxmlformats.org/officeDocument/2006/relationships/notesSlide" Target="/ppt/notesSlides/notesSlide26.xml" Id="R5c2bf5e4c5d14c3c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c25ba73d8fa4305" /><Relationship Type="http://schemas.openxmlformats.org/officeDocument/2006/relationships/notesSlide" Target="/ppt/notesSlides/notesSlide27.xml" Id="R706481c8adf34427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47bc512d3a642d7" /><Relationship Type="http://schemas.openxmlformats.org/officeDocument/2006/relationships/chart" Target="/ppt/slides/charts/chart4.xml" Id="Rdffba323d1fc4061" /><Relationship Type="http://schemas.openxmlformats.org/officeDocument/2006/relationships/notesSlide" Target="/ppt/notesSlides/notesSlide28.xml" Id="R03e28132b2f0413f" /></Relationships>
</file>

<file path=ppt/slides/charts/chart4.xml><?xml version="1.0" encoding="utf-8"?>
<c:chartSpace xmlns:c16="http://schemas.microsoft.com/office/drawing/2014/chart" xmlns:c15="http://schemas.microsoft.com/office/drawing/2012/chart" xmlns:c14="http://schemas.microsoft.com/office/drawing/2007/8/2/chart"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Effective user rate</c:v>
          </c:tx>
          <c:spPr>
            <a:solidFill>
              <a:srgbClr val="0F00CD"/>
            </a:solidFill>
          </c:spPr>
          <c:invertIfNegative val="1"/>
          <c:dPt>
            <c:idx val="0"/>
            <c:invertIfNegative val="1"/>
            <c:bubble3D val="0"/>
            <c:spPr>
              <a:solidFill>
                <a:srgbClr val="838383"/>
              </a:solidFill>
            </c:spPr>
            <c:extLst>
              <c:ext xmlns:c16="http://schemas.microsoft.com/office/drawing/2014/chart" uri="{C3380CC4-5D6E-409C-BE32-E72D297353CC}">
                <c16:uniqueId val="{00000001-FFBB-4959-A094-7EC0F47C6376}"/>
              </c:ext>
            </c:extLst>
          </c:dPt>
          <c:dPt>
            <c:idx val="1"/>
            <c:invertIfNegative val="1"/>
            <c:bubble3D val="0"/>
            <c:spPr>
              <a:solidFill>
                <a:srgbClr val="596400"/>
              </a:solidFill>
            </c:spPr>
            <c:extLst>
              <c:ext xmlns:c16="http://schemas.microsoft.com/office/drawing/2014/chart" uri="{C3380CC4-5D6E-409C-BE32-E72D297353CC}">
                <c16:uniqueId val="{00000003-FFBB-4959-A094-7EC0F47C6376}"/>
              </c:ext>
            </c:extLst>
          </c:dPt>
          <c:dPt>
            <c:idx val="2"/>
            <c:invertIfNegative val="1"/>
            <c:bubble3D val="0"/>
            <c:spPr>
              <a:solidFill>
                <a:srgbClr val="418AB3"/>
              </a:solidFill>
            </c:spPr>
            <c:extLst>
              <c:ext xmlns:c16="http://schemas.microsoft.com/office/drawing/2014/chart" uri="{C3380CC4-5D6E-409C-BE32-E72D297353CC}">
                <c16:uniqueId val="{00000005-FFBB-4959-A094-7EC0F47C6376}"/>
              </c:ext>
            </c:extLst>
          </c:dPt>
          <c:dPt>
            <c:idx val="3"/>
            <c:invertIfNegative val="1"/>
            <c:bubble3D val="0"/>
            <c:extLst>
              <c:ext xmlns:c16="http://schemas.microsoft.com/office/drawing/2014/chart" uri="{C3380CC4-5D6E-409C-BE32-E72D297353CC}">
                <c16:uniqueId val="{00000007-FFBB-4959-A094-7EC0F47C6376}"/>
              </c:ext>
            </c:extLst>
          </c:dPt>
          <c:dLbls>
            <c:txPr>
              <a:bodyPr/>
              <a:lstStyle/>
              <a:p>
                <a:pPr>
                  <a:defRPr sz="1100">
                    <a:solidFill>
                      <a:srgbClr val="000000"/>
                    </a:solidFill>
                    <a:latin typeface="Helvetica"/>
                    <a:ea typeface="Helvetica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Lit>
              <c:ptCount val="3"/>
              <c:pt idx="0">
                <c:v>SSB K=4</c:v>
              </c:pt>
              <c:pt idx="1">
                <c:v>SSB K=12</c:v>
              </c:pt>
              <c:pt idx="2">
                <c:v>DMSA</c:v>
              </c:pt>
            </c:strLit>
          </c:cat>
          <c:val>
            <c:numLit>
              <c:formatCode>General</c:formatCode>
              <c:ptCount val="3"/>
              <c:pt idx="0">
                <c:v>142.248</c:v>
              </c:pt>
              <c:pt idx="1">
                <c:v>115.89</c:v>
              </c:pt>
              <c:pt idx="2">
                <c:v>146.332</c:v>
              </c:pt>
            </c:numLit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8-FFBB-4959-A094-7EC0F47C6376}"/>
            </c:ext>
          </c:extLst>
        </c:ser>
        <c:dLbls>
          <c:txPr>
            <a:bodyPr/>
            <a:lstStyle/>
            <a:p>
              <a:pPr>
                <a:defRPr sz="1100">
                  <a:solidFill>
                    <a:srgbClr val="000000"/>
                  </a:solidFill>
                  <a:latin typeface="Helvetica"/>
                  <a:ea typeface="Helvetica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55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w="9525">
              <a:solidFill>
                <a:srgbClr val="E0E0E0"/>
              </a:solidFill>
              <a:prstDash val="solid"/>
            </a:ln>
          </c:spPr>
        </c:majorGridlines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125">
                <a:solidFill>
                  <a:srgbClr val="000000"/>
                </a:solidFill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0"/>
      </c:catAx>
      <c:valAx>
        <c:axId val="48672768"/>
        <c:scaling>
          <c:orientation val="minMax"/>
          <c:max val="160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200">
                <a:solidFill>
                  <a:srgbClr val="000000"/>
                </a:solidFill>
              </a:defRPr>
            </a:pPr>
            <a:endParaRPr lang="zh-CN"/>
          </a:p>
        </c:txPr>
        <c:crossAx val="48650112"/>
        <c:crosses val="autoZero"/>
        <c:crossBetween val="between"/>
      </c:valAx>
    </c:plotArea>
    <c:plotVisOnly val="1"/>
    <c:dispBlanksAs val="zero"/>
    <c:showDLblsOverMax val="1"/>
  </c:chart>
  <c:spPr>
    <a:solidFill>
      <a:srgbClr val="FFFFFF"/>
    </a:solidFill>
    <a:ln w="0">
      <a:solidFill>
        <a:srgbClr val="FFFFFF"/>
      </a:solidFill>
      <a:prstDash val="solid"/>
    </a:ln>
  </c:spPr>
</c:chartSpace>
</file>

<file path=ppt/slides/slide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7AB70E9-5AE2-6050-3793-D4B9B32B9A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7250" y="2333625"/>
            <a:ext cx="10477500" cy="1485900"/>
          </a:xfrm>
        </p:spPr>
        <p:txBody>
          <a:bodyPr wrap="square" anchor="ctr">
            <a:noAutofit/>
          </a:bodyPr>
          <a:lstStyle/>
          <a:p>
            <a:pPr marL="0" indent="0" algn="ctr">
              <a:lnSpc>
                <a:spcPct val="100000"/>
              </a:lnSpc>
              <a:buNone/>
              <a:defRPr sz="36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3600" b="1" dirty="0">
                <a:solidFill>
                  <a:srgbClr val="0F00CD"/>
                </a:solidFill>
                <a:latin typeface="Arial"/>
                <a:ea typeface="Arial"/>
                <a:cs typeface="Arial"/>
              </a:rPr>
              <a:t>Multimodal Sensing-Assisted User Association
and Tracking in Vehicular Networks</a:t>
            </a:r>
          </a:p>
        </p:txBody>
      </p:sp>
      <p:sp>
        <p:nvSpPr>
          <p:cNvPr id="7" name="副标题 6">
            <a:extLst>
              <a:ext uri="{FF2B5EF4-FFF2-40B4-BE49-F238E27FC236}">
                <a16:creationId xmlns:a16="http://schemas.microsoft.com/office/drawing/2014/main" id="{EBDC222C-0C82-FE71-CA39-73C387CF78A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wrap="square" anchor="ctr">
            <a:noAutofit/>
          </a:bodyPr>
          <a:lstStyle/>
          <a:p>
            <a:pPr algn="ctr">
              <a:lnSpc>
                <a:spcPct val="105000"/>
              </a:lnSpc>
              <a:buNone/>
              <a:defRPr sz="2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Yifeng YUAN · MPhil in Internet of Things</a:t>
            </a:r>
          </a:p>
          <a:p>
            <a:pPr algn="ctr">
              <a:lnSpc>
                <a:spcPct val="105000"/>
              </a:lnSpc>
              <a:buNone/>
              <a:defRPr sz="210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Supervisors: Shijian GAO and Jia YAN · June 2026</a:t>
            </a:r>
          </a:p>
        </p:txBody>
      </p:sp>
    </p:spTree>
    <p:extLst>
      <p:ext uri="{BB962C8B-B14F-4D97-AF65-F5344CB8AC3E}">
        <p14:creationId xmlns:p14="http://schemas.microsoft.com/office/powerpoint/2010/main" val="1493281749"/>
      </p:ext>
    </p:extLst>
  </p:cSld>
  <p:clrMapOvr>
    <a:masterClrMapping/>
  </p:clrMapOvr>
</p:sld>
</file>

<file path=ppt/slides/slide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V2I Beam Management Problem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10668000" cy="1016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High-frequency V2I links use narrow beams to obtain array gain. Mobility, blockage, and path evolution rapidly age beam information.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647700" y="3937000"/>
            <a:ext cx="10668000" cy="1397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More frequent or wider CSI-RS measurements improve alignment reliability, but consume time-frequency resources.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Measurement reliability  ↔  Measurement overhead</a:t>
            </a:r>
          </a:p>
        </p:txBody>
      </p:sp>
      <p:sp>
        <p:nvSpPr>
          <p:cNvPr id="100014" name="BM_SSB"/>
          <p:cNvSpPr/>
          <p:nvPr/>
        </p:nvSpPr>
        <p:spPr>
          <a:xfrm>
            <a:off x="698500" y="2730500"/>
            <a:ext cx="1968500" cy="69850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418AB3"/>
            </a:solidFill>
          </a:ln>
        </p:spPr>
        <p:txBody>
          <a:bodyPr anchor="ctr"/>
          <a:lstStyle/>
          <a:p>
            <a:pPr algn="ctr"/>
            <a:r>
              <a:rPr lang="en-US" sz="1700" b="1">
                <a:solidFill>
                  <a:srgbClr val="000000"/>
                </a:solidFill>
                <a:latin typeface="Helvetica"/>
                <a:ea typeface="Helvetica"/>
              </a:rPr>
              <a:t>SSB access</a:t>
            </a:r>
          </a:p>
        </p:txBody>
      </p:sp>
      <p:sp>
        <p:nvSpPr>
          <p:cNvPr id="100015" name="BM_A1"/>
          <p:cNvSpPr/>
          <p:nvPr/>
        </p:nvSpPr>
        <p:spPr>
          <a:xfrm>
            <a:off x="2819400" y="2895600"/>
            <a:ext cx="533400" cy="381000"/>
          </a:xfrm>
          <a:prstGeom prst="rightArrow">
            <a:avLst/>
          </a:prstGeom>
          <a:solidFill>
            <a:srgbClr val="418A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16" name="BM_CSI"/>
          <p:cNvSpPr/>
          <p:nvPr/>
        </p:nvSpPr>
        <p:spPr>
          <a:xfrm>
            <a:off x="3517900" y="2730500"/>
            <a:ext cx="2222500" cy="698500"/>
          </a:xfrm>
          <a:prstGeom prst="roundRect">
            <a:avLst/>
          </a:prstGeom>
          <a:solidFill>
            <a:srgbClr val="F0F3E4"/>
          </a:solidFill>
          <a:ln w="15875">
            <a:solidFill>
              <a:srgbClr val="596400"/>
            </a:solidFill>
          </a:ln>
        </p:spPr>
        <p:txBody>
          <a:bodyPr anchor="ctr"/>
          <a:lstStyle/>
          <a:p>
            <a:pPr algn="ctr"/>
            <a:r>
              <a:rPr lang="en-US" sz="1700" b="1">
                <a:solidFill>
                  <a:srgbClr val="000000"/>
                </a:solidFill>
                <a:latin typeface="Helvetica"/>
                <a:ea typeface="Helvetica"/>
              </a:rPr>
              <a:t>CSI-RS candidates</a:t>
            </a:r>
          </a:p>
        </p:txBody>
      </p:sp>
      <p:sp>
        <p:nvSpPr>
          <p:cNvPr id="100017" name="BM_A2"/>
          <p:cNvSpPr/>
          <p:nvPr/>
        </p:nvSpPr>
        <p:spPr>
          <a:xfrm>
            <a:off x="5905500" y="2895600"/>
            <a:ext cx="533400" cy="381000"/>
          </a:xfrm>
          <a:prstGeom prst="rightArrow">
            <a:avLst/>
          </a:prstGeom>
          <a:solidFill>
            <a:srgbClr val="418A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18" name="BM_FB"/>
          <p:cNvSpPr/>
          <p:nvPr/>
        </p:nvSpPr>
        <p:spPr>
          <a:xfrm>
            <a:off x="6604000" y="2730500"/>
            <a:ext cx="2222500" cy="69850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418AB3"/>
            </a:solidFill>
          </a:ln>
        </p:spPr>
        <p:txBody>
          <a:bodyPr anchor="ctr"/>
          <a:lstStyle/>
          <a:p>
            <a:pPr algn="ctr"/>
            <a:r>
              <a:rPr lang="en-US" sz="1700" b="1">
                <a:solidFill>
                  <a:srgbClr val="000000"/>
                </a:solidFill>
                <a:latin typeface="Helvetica"/>
                <a:ea typeface="Helvetica"/>
              </a:rPr>
              <a:t>CSI feedback</a:t>
            </a:r>
          </a:p>
        </p:txBody>
      </p:sp>
      <p:sp>
        <p:nvSpPr>
          <p:cNvPr id="100019" name="BM_A3"/>
          <p:cNvSpPr/>
          <p:nvPr/>
        </p:nvSpPr>
        <p:spPr>
          <a:xfrm>
            <a:off x="8991600" y="2895600"/>
            <a:ext cx="533400" cy="381000"/>
          </a:xfrm>
          <a:prstGeom prst="rightArrow">
            <a:avLst/>
          </a:prstGeom>
          <a:solidFill>
            <a:srgbClr val="418A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0" name="BM_Data"/>
          <p:cNvSpPr/>
          <p:nvPr/>
        </p:nvSpPr>
        <p:spPr>
          <a:xfrm>
            <a:off x="9690100" y="2730500"/>
            <a:ext cx="1841500" cy="698500"/>
          </a:xfrm>
          <a:prstGeom prst="roundRect">
            <a:avLst/>
          </a:prstGeom>
          <a:solidFill>
            <a:srgbClr val="F0F3E4"/>
          </a:solidFill>
          <a:ln w="15875">
            <a:solidFill>
              <a:srgbClr val="596400"/>
            </a:solidFill>
          </a:ln>
        </p:spPr>
        <p:txBody>
          <a:bodyPr anchor="ctr"/>
          <a:lstStyle/>
          <a:p>
            <a:pPr algn="ctr"/>
            <a:r>
              <a:rPr lang="en-US" sz="1550" b="1">
                <a:solidFill>
                  <a:srgbClr val="000000"/>
                </a:solidFill>
                <a:latin typeface="Helvetica"/>
                <a:ea typeface="Helvetica"/>
              </a:rPr>
              <a:t>Data transmission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  <a:masterClrMapping/>
  </p:clrMapOvr>
</p:sld>
</file>

<file path=ppt/slides/slide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3000"/>
              <a:t>Sensing-Target-to-User Association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66800"/>
            <a:ext cx="10668000" cy="85725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95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950" b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Sensing observes physical vehicles, while beam management serves VUE identities.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1524000" y="4953000"/>
            <a:ext cx="9144000" cy="66675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visible vehicle may not be active; the intended VUE may be unobserved; several targets may be plausible.</a:t>
            </a:r>
          </a:p>
        </p:txBody>
      </p:sp>
      <p:sp>
        <p:nvSpPr>
          <p:cNvPr id="26" name="replacement-domain-arrow">
            <a:extLst>
              <a:ext uri="{FF2B5EF4-FFF2-40B4-BE49-F238E27FC236}">
                <a16:creationId xmlns:a16="http://schemas.microsoft.com/office/drawing/2014/main" id="{DC0A9684-1797-47C0-86B9-122302775BA1}"/>
              </a:ext>
            </a:extLst>
          </p:cNvPr>
          <p:cNvSpPr>
            <a:spLocks noGrp="1"/>
          </p:cNvSpPr>
          <p:nvPr/>
        </p:nvSpPr>
        <p:spPr>
          <a:xfrm>
            <a:off x="5286375" y="3143250"/>
            <a:ext cx="1619250" cy="666750"/>
          </a:xfrm>
          <a:prstGeom prst="rightArrow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placement-sensing-domain">
            <a:extLst>
              <a:ext uri="{FF2B5EF4-FFF2-40B4-BE49-F238E27FC236}">
                <a16:creationId xmlns:a16="http://schemas.microsoft.com/office/drawing/2014/main" id="{20AB9B1A-2C59-48F3-B5DF-DB8DD8EB67AA}"/>
              </a:ext>
            </a:extLst>
          </p:cNvPr>
          <p:cNvSpPr>
            <a:spLocks noGrp="1"/>
          </p:cNvSpPr>
          <p:nvPr/>
        </p:nvSpPr>
        <p:spPr>
          <a:xfrm>
            <a:off x="857250" y="2381250"/>
            <a:ext cx="3714750" cy="2190750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SENSING DOMAIN</a:t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Physical vehicles</a:t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Detections</a:t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Perception tracks</a:t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Target-level beam posteriors</a:t>
            </a:r>
          </a:p>
        </p:txBody>
      </p:sp>
      <p:sp>
        <p:nvSpPr>
          <p:cNvPr id="28" name="replacement-communication-domain">
            <a:extLst>
              <a:ext uri="{FF2B5EF4-FFF2-40B4-BE49-F238E27FC236}">
                <a16:creationId xmlns:a16="http://schemas.microsoft.com/office/drawing/2014/main" id="{BF983AD3-7C1C-4770-90EF-8C93B0A005DC}"/>
              </a:ext>
            </a:extLst>
          </p:cNvPr>
          <p:cNvSpPr>
            <a:spLocks noGrp="1"/>
          </p:cNvSpPr>
          <p:nvPr/>
        </p:nvSpPr>
        <p:spPr>
          <a:xfrm>
            <a:off x="7524750" y="2381250"/>
            <a:ext cx="3714750" cy="2190750"/>
          </a:xfrm>
          <a:prstGeom prst="rect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COMMUNICATION DOMAIN</a:t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VUE identities</a:t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 / CSI-RS measurements</a:t>
            </a:r>
          </a:p>
          <a:p>
            <a:pPr algn="ctr">
              <a:lnSpc>
                <a:spcPct val="108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User-specific downlink</a:t>
            </a:r>
          </a:p>
        </p:txBody>
      </p:sp>
      <p:sp>
        <p:nvSpPr>
          <p:cNvPr id="29" name="replacement-interface-question">
            <a:extLst>
              <a:ext uri="{FF2B5EF4-FFF2-40B4-BE49-F238E27FC236}">
                <a16:creationId xmlns:a16="http://schemas.microsoft.com/office/drawing/2014/main" id="{595FA82D-420C-4D3F-9ADC-B90D352B8929}"/>
              </a:ext>
            </a:extLst>
          </p:cNvPr>
          <p:cNvSpPr>
            <a:spLocks noGrp="1"/>
          </p:cNvSpPr>
          <p:nvPr/>
        </p:nvSpPr>
        <p:spPr>
          <a:xfrm>
            <a:off x="4445000" y="4000500"/>
            <a:ext cx="31750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650" b="1">
                <a:solidFill>
                  <a:srgbClr val="0F00CD"/>
                </a:solidFill>
                <a:latin typeface="Helvetica"/>
                <a:ea typeface="Helvetica"/>
                <a:cs typeface="Helvetica"/>
              </a:defRPr>
            </a:pPr>
            <a:r>
              <a:rPr sz="1550" b="1">
                <a:solidFill>
                  <a:srgbClr val="0F00CD"/>
                </a:solidFill>
                <a:latin typeface="Helvetica"/>
                <a:ea typeface="Helvetica"/>
                <a:cs typeface="Helvetica"/>
              </a:rPr>
              <a:t>Which sensing target provides candidate beams for VUE u?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Research Objectives and Contributions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47750"/>
            <a:ext cx="10668000" cy="9525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Objective  Reduce CSI-RS measurement overhead while preserving user-specific beam-management decisions.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2143125" y="5286375"/>
            <a:ext cx="7905750" cy="523875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Perception  →  Association  →  User-specific beam management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noGrp="1"/>
          </p:cNvSpPr>
          <p:nvPr/>
        </p:nvSpPr>
        <p:spPr>
          <a:xfrm>
            <a:off x="762000" y="2143125"/>
            <a:ext cx="10287000" cy="3000375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Distributed multimodal BEV perception for joint vehicle detection and beam prediction</a:t>
            </a:r>
          </a:p>
          <a:p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 xml:space="preserve">   Multi-view cameras + BS-local ISAC yield vehicle detections and per-target beam posteriors.</a:t>
            </a:r>
          </a:p>
          <a:p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  Measurement-assisted target-to-user association and tracking</a:t>
            </a:r>
          </a:p>
          <a:p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 xml:space="preserve">   VUE-indexed beam measurements establish credible UE-track pairs.</a:t>
            </a:r>
          </a:p>
          <a:p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  NR-oriented end-to-end evaluation</a:t>
            </a:r>
          </a:p>
          <a:p>
            <a:pPr marL="0" indent="0" algn="l">
              <a:lnSpc>
                <a:spcPct val="102000"/>
              </a:lnSpc>
              <a:buNone/>
              <a:defRPr sz="17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 xml:space="preserve">   Sensing use, fallback, CSI-RS overhead, and effective user rate are evaluated together.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System Model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2857500" cy="1714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99060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What information is available to the BS, and how does a beam candidate affect user rate?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>
    <a:masterClrMapping/>
  </p:clrMapOvr>
</p:sld>
</file>

<file path=ppt/slides/slide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Network and Sensing Model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The target BS combines BS-local ISAC sensing with distributed camera coverage from neighbouring sensing nodes.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572500" y="1905000"/>
            <a:ext cx="2857500" cy="333375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 BS b serves U_b[n]
Neighbouring nodes add viewpoints but not communication cells
All inputs are aligned in the target-BS BEV frame
O_b,n = {I_b,n, I_Nb,n, P_b,n}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187133" y="1762125"/>
            <a:ext cx="6769734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Communication and Rate Model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809625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Candidate beams affect both the measured channel and the resources remaining for data transmission.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1714500" y="5000625"/>
            <a:ext cx="8763000" cy="714375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Missing a useful beam reduces SINR; measuring fewer successful candidates increases the data-resource fraction.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noGrp="1"/>
          </p:cNvSpPr>
          <p:nvPr/>
        </p:nvSpPr>
        <p:spPr>
          <a:xfrm>
            <a:off x="762000" y="1952625"/>
            <a:ext cx="10287000" cy="28575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05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 coarse direction  →  CSI-RS candidate measurement  →  CSI feedback  →  RZF precoding and data
Selected measured beam
 k* = </a:t>
            </a:r>
            <a:r>
              <a:rPr sz="1875" b="0" dirty="0" err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arg</a:t>
            </a:r>
            <a:r>
              <a:rPr sz="1875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maxₖ γ̂ᶜˢⁱ(k),     k ∈ 𝒞(</a:t>
            </a:r>
            <a:r>
              <a:rPr sz="1875" b="0" dirty="0" err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b,u,n</a:t>
            </a:r>
            <a:r>
              <a:rPr sz="1875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)
Effective user rate
 Rᵉᶠᶠ = </a:t>
            </a:r>
            <a:r>
              <a:rPr sz="1875" b="0" dirty="0" err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ηdata</a:t>
            </a:r>
            <a:r>
              <a:rPr sz="1875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B </a:t>
            </a:r>
            <a:r>
              <a:rPr sz="1875" b="0" dirty="0" err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ηDL</a:t>
            </a:r>
            <a:r>
              <a:rPr sz="1875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 log₂(1 + </a:t>
            </a:r>
            <a:r>
              <a:rPr sz="1875" b="0" dirty="0" err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γRZF</a:t>
            </a:r>
            <a:r>
              <a:rPr sz="1875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Design Requirements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28700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sensing-assisted beam-management policy must respect three information boundaries.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2428875" y="5191125"/>
            <a:ext cx="7334250" cy="523875"/>
          </a:xfrm>
          <a:prstGeom prst="rect">
            <a:avLst/>
          </a:prstGeom>
          <a:noFill/>
          <a:ln w="19050">
            <a:solidFill>
              <a:srgbClr val="F69200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65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No oracle VUE identity  ·  No direct service-beam declaration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noGrp="1"/>
          </p:cNvSpPr>
          <p:nvPr/>
        </p:nvSpPr>
        <p:spPr>
          <a:xfrm>
            <a:off x="1000125" y="1952625"/>
            <a:ext cx="9810750" cy="3048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05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TARGET-LEVEL PREDICTION
    Predict beams for an observed physical target, not a known VUE.
2  MEASUREMENT-GROUNDED ASSOCIATION
    Establish which perception track belongs to each VUE.
3  MEASURED SERVICE-BEAM SELECTION
    Use sensing to narrow CSI-RS candidates; use measured quality to select service.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dirty="0"/>
              <a:t>Proposed Framework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2857500" cy="1714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 dirty="0">
                <a:solidFill>
                  <a:srgbClr val="0F00CD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99060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How does unbound sensing evidence become a VUE-specific CSI-RS decision?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>
    <a:masterClrMapping/>
  </p:clrMapOvr>
</p:sld>
</file>

<file path=ppt/slides/slide10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DMSA-BM Architecture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809625" y="5286375"/>
            <a:ext cx="10572750" cy="640080"/>
          </a:xfrm>
          <a:prstGeom prst="rect">
            <a:avLst/>
          </a:prstGeom>
          <a:noFill/>
          <a:ln w="14288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5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Multimodal observations  →  detections and beam posteriors  →  physical-target tracks  →  VUE-track associations  →  CSI-RS candidates</a:t>
            </a:r>
          </a:p>
        </p:txBody>
      </p:sp>
      <p:sp>
        <p:nvSpPr>
          <p:cNvPr id="27" name="replacement-framework-arrow-1">
            <a:extLst>
              <a:ext uri="{FF2B5EF4-FFF2-40B4-BE49-F238E27FC236}">
                <a16:creationId xmlns:a16="http://schemas.microsoft.com/office/drawing/2014/main" id="{C4467F96-4529-4C0B-A20F-E02705CFC50A}"/>
              </a:ext>
            </a:extLst>
          </p:cNvPr>
          <p:cNvSpPr>
            <a:spLocks noGrp="1"/>
          </p:cNvSpPr>
          <p:nvPr/>
        </p:nvSpPr>
        <p:spPr>
          <a:xfrm>
            <a:off x="2952750" y="2952750"/>
            <a:ext cx="619125" cy="457200"/>
          </a:xfrm>
          <a:prstGeom prst="rightArrow">
            <a:avLst/>
          </a:prstGeom>
          <a:solidFill>
            <a:srgbClr val="EAF2F8"/>
          </a:solidFill>
          <a:ln w="14288">
            <a:solidFill>
              <a:srgbClr val="418A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placement-framework-arrow-2">
            <a:extLst>
              <a:ext uri="{FF2B5EF4-FFF2-40B4-BE49-F238E27FC236}">
                <a16:creationId xmlns:a16="http://schemas.microsoft.com/office/drawing/2014/main" id="{02F6D697-1800-4254-8800-653E028B81CE}"/>
              </a:ext>
            </a:extLst>
          </p:cNvPr>
          <p:cNvSpPr>
            <a:spLocks noGrp="1"/>
          </p:cNvSpPr>
          <p:nvPr/>
        </p:nvSpPr>
        <p:spPr>
          <a:xfrm>
            <a:off x="5715000" y="2952750"/>
            <a:ext cx="619125" cy="457200"/>
          </a:xfrm>
          <a:prstGeom prst="rightArrow">
            <a:avLst/>
          </a:prstGeom>
          <a:solidFill>
            <a:srgbClr val="F0F3E4"/>
          </a:solidFill>
          <a:ln w="14288">
            <a:solidFill>
              <a:srgbClr val="5964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replacement-framework-arrow-3">
            <a:extLst>
              <a:ext uri="{FF2B5EF4-FFF2-40B4-BE49-F238E27FC236}">
                <a16:creationId xmlns:a16="http://schemas.microsoft.com/office/drawing/2014/main" id="{FB3B3309-0AAB-4105-9A3A-C552D907B0B3}"/>
              </a:ext>
            </a:extLst>
          </p:cNvPr>
          <p:cNvSpPr>
            <a:spLocks noGrp="1"/>
          </p:cNvSpPr>
          <p:nvPr/>
        </p:nvSpPr>
        <p:spPr>
          <a:xfrm>
            <a:off x="8477250" y="2952750"/>
            <a:ext cx="619125" cy="457200"/>
          </a:xfrm>
          <a:prstGeom prst="rightArrow">
            <a:avLst/>
          </a:prstGeom>
          <a:solidFill>
            <a:srgbClr val="EAF2F8"/>
          </a:solidFill>
          <a:ln w="14288">
            <a:solidFill>
              <a:srgbClr val="418A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replacement-framework-stage-1">
            <a:extLst>
              <a:ext uri="{FF2B5EF4-FFF2-40B4-BE49-F238E27FC236}">
                <a16:creationId xmlns:a16="http://schemas.microsoft.com/office/drawing/2014/main" id="{4B05A932-F0D0-40AA-BE81-FA190B4717C5}"/>
              </a:ext>
            </a:extLst>
          </p:cNvPr>
          <p:cNvSpPr>
            <a:spLocks noGrp="1"/>
          </p:cNvSpPr>
          <p:nvPr/>
        </p:nvSpPr>
        <p:spPr>
          <a:xfrm>
            <a:off x="619125" y="1619250"/>
            <a:ext cx="2333625" cy="2952750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DISTRIBUTED MULTIMODAL PERCEPTION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Cameras + BS-local ISAC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Vehicle detections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Per-target beam posteriors</a:t>
            </a:r>
          </a:p>
        </p:txBody>
      </p:sp>
      <p:sp>
        <p:nvSpPr>
          <p:cNvPr id="31" name="replacement-framework-stage-2">
            <a:extLst>
              <a:ext uri="{FF2B5EF4-FFF2-40B4-BE49-F238E27FC236}">
                <a16:creationId xmlns:a16="http://schemas.microsoft.com/office/drawing/2014/main" id="{3D1371F3-CDBD-4FBC-B915-6F0B1BFAB09C}"/>
              </a:ext>
            </a:extLst>
          </p:cNvPr>
          <p:cNvSpPr>
            <a:spLocks noGrp="1"/>
          </p:cNvSpPr>
          <p:nvPr/>
        </p:nvSpPr>
        <p:spPr>
          <a:xfrm>
            <a:off x="3571875" y="1619250"/>
            <a:ext cx="2143125" cy="2952750"/>
          </a:xfrm>
          <a:prstGeom prst="rect">
            <a:avLst/>
          </a:prstGeom>
          <a:solidFill>
            <a:srgbClr val="FFFFFF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2  IMM-BASED TRACKING</a:t>
            </a:r>
          </a:p>
          <a:p>
            <a:endParaRPr sz="1500" b="0" dirty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CV and CT motion models</a:t>
            </a:r>
          </a:p>
          <a:p>
            <a:endParaRPr sz="1500" b="0" dirty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Detection-to-track assignment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Physical-target continuity</a:t>
            </a:r>
          </a:p>
        </p:txBody>
      </p:sp>
      <p:sp>
        <p:nvSpPr>
          <p:cNvPr id="32" name="replacement-framework-stage-3">
            <a:extLst>
              <a:ext uri="{FF2B5EF4-FFF2-40B4-BE49-F238E27FC236}">
                <a16:creationId xmlns:a16="http://schemas.microsoft.com/office/drawing/2014/main" id="{9F1FF29B-701D-40B8-A747-D8588979E4B6}"/>
              </a:ext>
            </a:extLst>
          </p:cNvPr>
          <p:cNvSpPr>
            <a:spLocks noGrp="1"/>
          </p:cNvSpPr>
          <p:nvPr/>
        </p:nvSpPr>
        <p:spPr>
          <a:xfrm>
            <a:off x="6334125" y="1619250"/>
            <a:ext cx="2143125" cy="2952750"/>
          </a:xfrm>
          <a:prstGeom prst="rect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3  TARGET-TO-USER ASSOCIATION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VUE-indexed beam measurements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One-to-one matching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Accepted or unmatched</a:t>
            </a:r>
          </a:p>
        </p:txBody>
      </p:sp>
      <p:sp>
        <p:nvSpPr>
          <p:cNvPr id="33" name="replacement-framework-stage-4">
            <a:extLst>
              <a:ext uri="{FF2B5EF4-FFF2-40B4-BE49-F238E27FC236}">
                <a16:creationId xmlns:a16="http://schemas.microsoft.com/office/drawing/2014/main" id="{605E7599-75E1-41FF-8821-8E4CAF1AD901}"/>
              </a:ext>
            </a:extLst>
          </p:cNvPr>
          <p:cNvSpPr>
            <a:spLocks noGrp="1"/>
          </p:cNvSpPr>
          <p:nvPr/>
        </p:nvSpPr>
        <p:spPr>
          <a:xfrm>
            <a:off x="9096375" y="1619250"/>
            <a:ext cx="2333625" cy="2952750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  CANDIDATE MEASUREMENT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Accepted + observed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Top-K predicted beams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Otherwise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SSB-guided refinement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>
    <a:masterClrMapping/>
  </p:clrMapOvr>
</p:sld>
</file>

<file path=ppt/slides/slide11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Cross-Node Fusion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809625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Cross-node attention selects complementary viewpoints at each BEV location while preserving the target-BS perspective.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1619250" y="4810125"/>
            <a:ext cx="8953500" cy="76200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Target-BS-conditioned queries preserve the serving-link view; geometry-aware keys distinguish node locations; masks exclude invalid projections.</a:t>
            </a:r>
          </a:p>
        </p:txBody>
      </p:sp>
      <p:sp>
        <p:nvSpPr>
          <p:cNvPr id="26" name="replacement-node-arrow-1">
            <a:extLst>
              <a:ext uri="{FF2B5EF4-FFF2-40B4-BE49-F238E27FC236}">
                <a16:creationId xmlns:a16="http://schemas.microsoft.com/office/drawing/2014/main" id="{80E9B17C-E432-4EBE-9B1F-4FFD96F1044E}"/>
              </a:ext>
            </a:extLst>
          </p:cNvPr>
          <p:cNvSpPr>
            <a:spLocks noGrp="1"/>
          </p:cNvSpPr>
          <p:nvPr/>
        </p:nvSpPr>
        <p:spPr>
          <a:xfrm>
            <a:off x="3857625" y="2952750"/>
            <a:ext cx="1143000" cy="523875"/>
          </a:xfrm>
          <a:prstGeom prst="rightArrow">
            <a:avLst/>
          </a:prstGeom>
          <a:solidFill>
            <a:srgbClr val="EAF2F8"/>
          </a:solidFill>
          <a:ln w="14288">
            <a:solidFill>
              <a:srgbClr val="418A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placement-node-arrow-2">
            <a:extLst>
              <a:ext uri="{FF2B5EF4-FFF2-40B4-BE49-F238E27FC236}">
                <a16:creationId xmlns:a16="http://schemas.microsoft.com/office/drawing/2014/main" id="{9F311998-5668-4CA2-8B48-6441C9DA949A}"/>
              </a:ext>
            </a:extLst>
          </p:cNvPr>
          <p:cNvSpPr>
            <a:spLocks noGrp="1"/>
          </p:cNvSpPr>
          <p:nvPr/>
        </p:nvSpPr>
        <p:spPr>
          <a:xfrm>
            <a:off x="7239000" y="2952750"/>
            <a:ext cx="1143000" cy="523875"/>
          </a:xfrm>
          <a:prstGeom prst="rightArrow">
            <a:avLst/>
          </a:prstGeom>
          <a:solidFill>
            <a:srgbClr val="F0F3E4"/>
          </a:solidFill>
          <a:ln w="14288">
            <a:solidFill>
              <a:srgbClr val="5964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placement-node-inputs">
            <a:extLst>
              <a:ext uri="{FF2B5EF4-FFF2-40B4-BE49-F238E27FC236}">
                <a16:creationId xmlns:a16="http://schemas.microsoft.com/office/drawing/2014/main" id="{069698C8-D894-4E13-A98A-572C3E6FC4DA}"/>
              </a:ext>
            </a:extLst>
          </p:cNvPr>
          <p:cNvSpPr>
            <a:spLocks noGrp="1"/>
          </p:cNvSpPr>
          <p:nvPr/>
        </p:nvSpPr>
        <p:spPr>
          <a:xfrm>
            <a:off x="904875" y="2143125"/>
            <a:ext cx="2857500" cy="2286000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Target-BS BEV</a:t>
            </a: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Node 1 BEV</a:t>
            </a: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Node 2 BEV</a:t>
            </a: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···</a:t>
            </a: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Validity masks</a:t>
            </a:r>
          </a:p>
        </p:txBody>
      </p:sp>
      <p:sp>
        <p:nvSpPr>
          <p:cNvPr id="29" name="replacement-node-attention">
            <a:extLst>
              <a:ext uri="{FF2B5EF4-FFF2-40B4-BE49-F238E27FC236}">
                <a16:creationId xmlns:a16="http://schemas.microsoft.com/office/drawing/2014/main" id="{32FAD952-B9DE-44BB-95D2-DCCF787476AA}"/>
              </a:ext>
            </a:extLst>
          </p:cNvPr>
          <p:cNvSpPr>
            <a:spLocks noGrp="1"/>
          </p:cNvSpPr>
          <p:nvPr/>
        </p:nvSpPr>
        <p:spPr>
          <a:xfrm>
            <a:off x="4953000" y="2143125"/>
            <a:ext cx="2857500" cy="22860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GEOMETRY-AWARE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MASKED ATTENTION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αⱼ(x) = softmaxⱼ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[q(x)ᵀkⱼ(x)/√d + b(gⱼ→b)]</a:t>
            </a:r>
          </a:p>
        </p:txBody>
      </p:sp>
      <p:sp>
        <p:nvSpPr>
          <p:cNvPr id="30" name="replacement-node-output">
            <a:extLst>
              <a:ext uri="{FF2B5EF4-FFF2-40B4-BE49-F238E27FC236}">
                <a16:creationId xmlns:a16="http://schemas.microsoft.com/office/drawing/2014/main" id="{08B156C6-E082-4135-9C52-F90CB0B8C7BC}"/>
              </a:ext>
            </a:extLst>
          </p:cNvPr>
          <p:cNvSpPr>
            <a:spLocks noGrp="1"/>
          </p:cNvSpPr>
          <p:nvPr/>
        </p:nvSpPr>
        <p:spPr>
          <a:xfrm>
            <a:off x="8429625" y="2143125"/>
            <a:ext cx="2857500" cy="2286000"/>
          </a:xfrm>
          <a:prstGeom prst="rect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Target-BS-centred</a:t>
            </a:r>
          </a:p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distributed camera BEV</a:t>
            </a:r>
          </a:p>
          <a:p>
            <a:endParaRPr sz="157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Neighbouring evidence dominates only where valid.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2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Multimodal Fusion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809625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Gated local and global attention adapt camera–ISAC fusion to spatial and scene-wide observation conditions.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2190750" y="4857750"/>
            <a:ext cx="7810500" cy="66675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The fusion weights are learned from sensing features; availability masks only exclude missing inputs.</a:t>
            </a:r>
          </a:p>
        </p:txBody>
      </p:sp>
      <p:sp>
        <p:nvSpPr>
          <p:cNvPr id="26" name="replacement-modal-arrow-1">
            <a:extLst>
              <a:ext uri="{FF2B5EF4-FFF2-40B4-BE49-F238E27FC236}">
                <a16:creationId xmlns:a16="http://schemas.microsoft.com/office/drawing/2014/main" id="{F2D30A1C-1C4B-433E-B79D-F86279C6EBC7}"/>
              </a:ext>
            </a:extLst>
          </p:cNvPr>
          <p:cNvSpPr>
            <a:spLocks noGrp="1"/>
          </p:cNvSpPr>
          <p:nvPr/>
        </p:nvSpPr>
        <p:spPr>
          <a:xfrm>
            <a:off x="3905250" y="2905125"/>
            <a:ext cx="1238250" cy="523875"/>
          </a:xfrm>
          <a:prstGeom prst="rightArrow">
            <a:avLst/>
          </a:prstGeom>
          <a:solidFill>
            <a:srgbClr val="EAF2F8"/>
          </a:solidFill>
          <a:ln w="14288">
            <a:solidFill>
              <a:srgbClr val="418A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placement-modal-arrow-2">
            <a:extLst>
              <a:ext uri="{FF2B5EF4-FFF2-40B4-BE49-F238E27FC236}">
                <a16:creationId xmlns:a16="http://schemas.microsoft.com/office/drawing/2014/main" id="{8E6D60DF-20E3-4978-97CD-931A58FF5DD7}"/>
              </a:ext>
            </a:extLst>
          </p:cNvPr>
          <p:cNvSpPr>
            <a:spLocks noGrp="1"/>
          </p:cNvSpPr>
          <p:nvPr/>
        </p:nvSpPr>
        <p:spPr>
          <a:xfrm>
            <a:off x="7334250" y="2905125"/>
            <a:ext cx="1238250" cy="523875"/>
          </a:xfrm>
          <a:prstGeom prst="rightArrow">
            <a:avLst/>
          </a:prstGeom>
          <a:solidFill>
            <a:srgbClr val="F0F3E4"/>
          </a:solidFill>
          <a:ln w="14288">
            <a:solidFill>
              <a:srgbClr val="5964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placement-modal-inputs">
            <a:extLst>
              <a:ext uri="{FF2B5EF4-FFF2-40B4-BE49-F238E27FC236}">
                <a16:creationId xmlns:a16="http://schemas.microsoft.com/office/drawing/2014/main" id="{EA3A3AE2-E4E2-4E26-89FB-C1543245661B}"/>
              </a:ext>
            </a:extLst>
          </p:cNvPr>
          <p:cNvSpPr>
            <a:spLocks noGrp="1"/>
          </p:cNvSpPr>
          <p:nvPr/>
        </p:nvSpPr>
        <p:spPr>
          <a:xfrm>
            <a:off x="857250" y="2238375"/>
            <a:ext cx="2952750" cy="2047875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CAMERA BEV</a:t>
            </a: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Semantics and visibility</a:t>
            </a:r>
          </a:p>
          <a:p>
            <a:endParaRPr sz="165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ISAC BEV</a:t>
            </a:r>
          </a:p>
          <a:p>
            <a:pPr algn="ctr">
              <a:lnSpc>
                <a:spcPct val="108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Complementary geometry</a:t>
            </a:r>
          </a:p>
        </p:txBody>
      </p:sp>
      <p:sp>
        <p:nvSpPr>
          <p:cNvPr id="29" name="replacement-modal-gate">
            <a:extLst>
              <a:ext uri="{FF2B5EF4-FFF2-40B4-BE49-F238E27FC236}">
                <a16:creationId xmlns:a16="http://schemas.microsoft.com/office/drawing/2014/main" id="{7F518C3A-E3FB-48E9-984F-3D8787926E41}"/>
              </a:ext>
            </a:extLst>
          </p:cNvPr>
          <p:cNvSpPr>
            <a:spLocks noGrp="1"/>
          </p:cNvSpPr>
          <p:nvPr/>
        </p:nvSpPr>
        <p:spPr>
          <a:xfrm>
            <a:off x="5191125" y="2143125"/>
            <a:ext cx="2762250" cy="2238375"/>
          </a:xfrm>
          <a:prstGeom prst="rect">
            <a:avLst/>
          </a:prstGeom>
          <a:solidFill>
            <a:srgbClr val="FFFFFF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GATED ATTENTION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βq(x) ∝ exp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[ℓlocal,q(x) + ℓglobal,q]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Availability mask</a:t>
            </a:r>
          </a:p>
        </p:txBody>
      </p:sp>
      <p:sp>
        <p:nvSpPr>
          <p:cNvPr id="30" name="replacement-modal-output">
            <a:extLst>
              <a:ext uri="{FF2B5EF4-FFF2-40B4-BE49-F238E27FC236}">
                <a16:creationId xmlns:a16="http://schemas.microsoft.com/office/drawing/2014/main" id="{AD8C6D02-1D2F-4108-A484-B62077215462}"/>
              </a:ext>
            </a:extLst>
          </p:cNvPr>
          <p:cNvSpPr>
            <a:spLocks noGrp="1"/>
          </p:cNvSpPr>
          <p:nvPr/>
        </p:nvSpPr>
        <p:spPr>
          <a:xfrm>
            <a:off x="8620125" y="2143125"/>
            <a:ext cx="2857500" cy="2238375"/>
          </a:xfrm>
          <a:prstGeom prst="rect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FUSED BEV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Local weights respond to occlusion and sparsity.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Global weights respond to illumination and visibility.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dirty="0"/>
              <a:t>Joint Detection and Beam Prediction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shared BEV representation produces vehicle detections and a per-target posterior over 192 CSI beams.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572500" y="1857375"/>
            <a:ext cx="2857500" cy="3476625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Detection output
 r̂ᵢ, attributes, confidence
Beam output
 pᵢ = softmax(logits at r̂ᵢ)
Training
Top-1 cross-entropy
Use
Full posterior retained for ranking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224130" y="1762125"/>
            <a:ext cx="6600491" cy="3714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IMM-Based Tracking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IMM estimation preserves physical-target continuity across straight and turning motion.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572500" y="1809750"/>
            <a:ext cx="2857500" cy="361950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CV state
[x, y, vₓ, vᵧ]ᵀ
CT state
[x, y, v, ψ, ω]ᵀ
IMM cycle
Mix → predict/update → mode likelihood → fuse
Mahalanobis gating + Hungarian assignment</a:t>
            </a:r>
          </a:p>
        </p:txBody>
      </p:sp>
      <p:pic>
        <p:nvPicPr>
          <p:cNvPr id="30" name="图片 29"/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1097197" y="1714500"/>
            <a:ext cx="6854356" cy="38576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Initial Target-to-User Association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Conventional beam measurements anchor the mapping between VUE identities and currently observed tracks.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9096375" y="2000250"/>
            <a:ext cx="2333625" cy="310896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Feasible pair
Current observation
SSB-parent consistency
Accepted association
Low cost + sufficient margin
One-to-one assignment
Unmatched option retained</a:t>
            </a:r>
          </a:p>
        </p:txBody>
      </p:sp>
      <p:sp>
        <p:nvSpPr>
          <p:cNvPr id="26" name="replacement-association-arrow-1">
            <a:extLst>
              <a:ext uri="{FF2B5EF4-FFF2-40B4-BE49-F238E27FC236}">
                <a16:creationId xmlns:a16="http://schemas.microsoft.com/office/drawing/2014/main" id="{735330BB-7502-4383-B147-3786EEFE64C4}"/>
              </a:ext>
            </a:extLst>
          </p:cNvPr>
          <p:cNvSpPr>
            <a:spLocks noGrp="1"/>
          </p:cNvSpPr>
          <p:nvPr/>
        </p:nvSpPr>
        <p:spPr>
          <a:xfrm>
            <a:off x="2857500" y="3095625"/>
            <a:ext cx="714375" cy="457200"/>
          </a:xfrm>
          <a:prstGeom prst="rightArrow">
            <a:avLst/>
          </a:prstGeom>
          <a:solidFill>
            <a:srgbClr val="EAF2F8"/>
          </a:solidFill>
          <a:ln w="14288">
            <a:solidFill>
              <a:srgbClr val="418A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placement-association-arrow-2">
            <a:extLst>
              <a:ext uri="{FF2B5EF4-FFF2-40B4-BE49-F238E27FC236}">
                <a16:creationId xmlns:a16="http://schemas.microsoft.com/office/drawing/2014/main" id="{A343ABEE-2260-4B18-820F-39F8C8CE5414}"/>
              </a:ext>
            </a:extLst>
          </p:cNvPr>
          <p:cNvSpPr>
            <a:spLocks noGrp="1"/>
          </p:cNvSpPr>
          <p:nvPr/>
        </p:nvSpPr>
        <p:spPr>
          <a:xfrm>
            <a:off x="5905500" y="3095625"/>
            <a:ext cx="714375" cy="457200"/>
          </a:xfrm>
          <a:prstGeom prst="rightArrow">
            <a:avLst/>
          </a:prstGeom>
          <a:solidFill>
            <a:srgbClr val="F0F3E4"/>
          </a:solidFill>
          <a:ln w="14288">
            <a:solidFill>
              <a:srgbClr val="5964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placement-association-measurements">
            <a:extLst>
              <a:ext uri="{FF2B5EF4-FFF2-40B4-BE49-F238E27FC236}">
                <a16:creationId xmlns:a16="http://schemas.microsoft.com/office/drawing/2014/main" id="{1CDFA73A-824D-4217-A047-B1A75EEFAA3F}"/>
              </a:ext>
            </a:extLst>
          </p:cNvPr>
          <p:cNvSpPr>
            <a:spLocks noGrp="1"/>
          </p:cNvSpPr>
          <p:nvPr/>
        </p:nvSpPr>
        <p:spPr>
          <a:xfrm>
            <a:off x="619125" y="2000250"/>
            <a:ext cx="2238375" cy="2762250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VUE-INDEXED EVIDENCE</a:t>
            </a:r>
          </a:p>
          <a:p>
            <a:endParaRPr sz="142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VUE 1  measured beam κ₁</a:t>
            </a: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VUE 2  measured beam κ₂</a:t>
            </a: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···</a:t>
            </a: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VUE U  measured beam κᵤ</a:t>
            </a:r>
          </a:p>
          <a:p>
            <a:endParaRPr sz="142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Serving SSB parent</a:t>
            </a:r>
          </a:p>
        </p:txBody>
      </p:sp>
      <p:sp>
        <p:nvSpPr>
          <p:cNvPr id="29" name="replacement-association-cost">
            <a:extLst>
              <a:ext uri="{FF2B5EF4-FFF2-40B4-BE49-F238E27FC236}">
                <a16:creationId xmlns:a16="http://schemas.microsoft.com/office/drawing/2014/main" id="{B5CB0B6A-A2E0-4DA8-B7FF-066FD7FD688A}"/>
              </a:ext>
            </a:extLst>
          </p:cNvPr>
          <p:cNvSpPr>
            <a:spLocks noGrp="1"/>
          </p:cNvSpPr>
          <p:nvPr/>
        </p:nvSpPr>
        <p:spPr>
          <a:xfrm>
            <a:off x="3571875" y="2000250"/>
            <a:ext cx="2333625" cy="2762250"/>
          </a:xfrm>
          <a:prstGeom prst="rect">
            <a:avLst/>
          </a:prstGeom>
          <a:solidFill>
            <a:srgbClr val="FFFFFF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TRACK-INDEXED POSTERIORS</a:t>
            </a:r>
          </a:p>
          <a:p>
            <a:endParaRPr sz="142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cᵤᵣ = −log[pᵣ(κᵤ)+ε]</a:t>
            </a: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──────────────</a:t>
            </a: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log MCSI</a:t>
            </a:r>
          </a:p>
          <a:p>
            <a:endParaRPr sz="142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Filter infeasible pairs</a:t>
            </a: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Form bipartite cost matrix</a:t>
            </a:r>
          </a:p>
        </p:txBody>
      </p:sp>
      <p:sp>
        <p:nvSpPr>
          <p:cNvPr id="30" name="replacement-association-result">
            <a:extLst>
              <a:ext uri="{FF2B5EF4-FFF2-40B4-BE49-F238E27FC236}">
                <a16:creationId xmlns:a16="http://schemas.microsoft.com/office/drawing/2014/main" id="{060A7524-9C61-48C3-9417-D2F39DD215B9}"/>
              </a:ext>
            </a:extLst>
          </p:cNvPr>
          <p:cNvSpPr>
            <a:spLocks noGrp="1"/>
          </p:cNvSpPr>
          <p:nvPr/>
        </p:nvSpPr>
        <p:spPr>
          <a:xfrm>
            <a:off x="6619875" y="2000250"/>
            <a:ext cx="2333625" cy="2762250"/>
          </a:xfrm>
          <a:prstGeom prst="rect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ONE-TO-ONE ASSIGNMENT</a:t>
            </a:r>
          </a:p>
          <a:p>
            <a:endParaRPr sz="142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Hungarian matching</a:t>
            </a: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+ unmatched option</a:t>
            </a:r>
          </a:p>
          <a:p>
            <a:endParaRPr sz="142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Accept only if</a:t>
            </a: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cost ≤ threshold</a:t>
            </a: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• margin ≥ threshold</a:t>
            </a:r>
          </a:p>
          <a:p>
            <a:endParaRPr sz="142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Otherwise remain unbound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Candidate Beam Selection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Only an accepted association with a current observation can reduce the CSI-RS scan.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2190750" y="5286375"/>
            <a:ext cx="7810500" cy="762000"/>
          </a:xfrm>
          <a:prstGeom prst="rect">
            <a:avLst/>
          </a:prstGeom>
          <a:noFill/>
          <a:ln w="19050">
            <a:solidFill>
              <a:srgbClr val="F69200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65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In both branches, the service beam is selected from measured CSI-RS quality.</a:t>
            </a:r>
          </a:p>
        </p:txBody>
      </p:sp>
      <p:sp>
        <p:nvSpPr>
          <p:cNvPr id="26" name="replacement-candidate-arrow-1">
            <a:extLst>
              <a:ext uri="{FF2B5EF4-FFF2-40B4-BE49-F238E27FC236}">
                <a16:creationId xmlns:a16="http://schemas.microsoft.com/office/drawing/2014/main" id="{CBB522AA-7A51-4FA0-B1EC-52C2BF66C77A}"/>
              </a:ext>
            </a:extLst>
          </p:cNvPr>
          <p:cNvSpPr>
            <a:spLocks noGrp="1"/>
          </p:cNvSpPr>
          <p:nvPr/>
        </p:nvSpPr>
        <p:spPr>
          <a:xfrm>
            <a:off x="5429250" y="3037204"/>
            <a:ext cx="666750" cy="523876"/>
          </a:xfrm>
          <a:prstGeom prst="downArrow">
            <a:avLst/>
          </a:prstGeom>
          <a:solidFill>
            <a:srgbClr val="EAF2F8"/>
          </a:solidFill>
          <a:ln w="14288">
            <a:solidFill>
              <a:srgbClr val="418A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placement-candidate-arrow-2">
            <a:extLst>
              <a:ext uri="{FF2B5EF4-FFF2-40B4-BE49-F238E27FC236}">
                <a16:creationId xmlns:a16="http://schemas.microsoft.com/office/drawing/2014/main" id="{E42FCA9E-92D4-45C8-8A6F-48C2A9AE47CD}"/>
              </a:ext>
            </a:extLst>
          </p:cNvPr>
          <p:cNvSpPr>
            <a:spLocks noGrp="1"/>
          </p:cNvSpPr>
          <p:nvPr/>
        </p:nvSpPr>
        <p:spPr>
          <a:xfrm>
            <a:off x="4286250" y="3619500"/>
            <a:ext cx="2952750" cy="523875"/>
          </a:xfrm>
          <a:prstGeom prst="leftRightArrow">
            <a:avLst/>
          </a:prstGeom>
          <a:solidFill>
            <a:srgbClr val="F0F3E4"/>
          </a:solidFill>
          <a:ln w="14288">
            <a:solidFill>
              <a:srgbClr val="5964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placement-candidate-gate">
            <a:extLst>
              <a:ext uri="{FF2B5EF4-FFF2-40B4-BE49-F238E27FC236}">
                <a16:creationId xmlns:a16="http://schemas.microsoft.com/office/drawing/2014/main" id="{57B5C4DD-AACD-4962-ADF0-B021CAAA601B}"/>
              </a:ext>
            </a:extLst>
          </p:cNvPr>
          <p:cNvSpPr>
            <a:spLocks noGrp="1"/>
          </p:cNvSpPr>
          <p:nvPr/>
        </p:nvSpPr>
        <p:spPr>
          <a:xfrm>
            <a:off x="4000500" y="1809750"/>
            <a:ext cx="3524250" cy="1143000"/>
          </a:xfrm>
          <a:prstGeom prst="rect">
            <a:avLst/>
          </a:prstGeom>
          <a:solidFill>
            <a:srgbClr val="FFFFFF"/>
          </a:solidFill>
          <a:ln w="19050">
            <a:solidFill>
              <a:srgbClr val="0F00CD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Accepted VUE–track pair</a:t>
            </a:r>
          </a:p>
          <a:p>
            <a:pPr algn="ctr">
              <a:lnSpc>
                <a:spcPct val="108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AND</a:t>
            </a:r>
          </a:p>
          <a:p>
            <a:pPr algn="ctr">
              <a:lnSpc>
                <a:spcPct val="108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current target observation?</a:t>
            </a:r>
          </a:p>
        </p:txBody>
      </p:sp>
      <p:sp>
        <p:nvSpPr>
          <p:cNvPr id="29" name="replacement-candidate-yes">
            <a:extLst>
              <a:ext uri="{FF2B5EF4-FFF2-40B4-BE49-F238E27FC236}">
                <a16:creationId xmlns:a16="http://schemas.microsoft.com/office/drawing/2014/main" id="{B024C894-001E-4FB1-B7A4-B3B6B3ED6C55}"/>
              </a:ext>
            </a:extLst>
          </p:cNvPr>
          <p:cNvSpPr>
            <a:spLocks noGrp="1"/>
          </p:cNvSpPr>
          <p:nvPr/>
        </p:nvSpPr>
        <p:spPr>
          <a:xfrm>
            <a:off x="1047750" y="3429000"/>
            <a:ext cx="3619500" cy="1714500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YES</a:t>
            </a:r>
          </a:p>
          <a:p>
            <a:endParaRPr sz="157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Top-K posterior beams</a:t>
            </a:r>
          </a:p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or adaptive cumulative-mass set</a:t>
            </a:r>
          </a:p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(minimum Top-1)</a:t>
            </a:r>
          </a:p>
        </p:txBody>
      </p:sp>
      <p:sp>
        <p:nvSpPr>
          <p:cNvPr id="30" name="replacement-candidate-no">
            <a:extLst>
              <a:ext uri="{FF2B5EF4-FFF2-40B4-BE49-F238E27FC236}">
                <a16:creationId xmlns:a16="http://schemas.microsoft.com/office/drawing/2014/main" id="{35DC6E83-58B0-49EF-9625-969309831F4C}"/>
              </a:ext>
            </a:extLst>
          </p:cNvPr>
          <p:cNvSpPr>
            <a:spLocks noGrp="1"/>
          </p:cNvSpPr>
          <p:nvPr/>
        </p:nvSpPr>
        <p:spPr>
          <a:xfrm>
            <a:off x="7524750" y="3429000"/>
            <a:ext cx="3619500" cy="1714500"/>
          </a:xfrm>
          <a:prstGeom prst="rect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NO</a:t>
            </a:r>
          </a:p>
          <a:p>
            <a:endParaRPr sz="157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SSB-guided CSI-RS refinement</a:t>
            </a:r>
          </a:p>
          <a:p>
            <a:pPr algn="ctr">
              <a:lnSpc>
                <a:spcPct val="108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(conventional fallback)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Algorithm Summary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The framework separates sensing computation from air-interface measurement cost.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1619250" y="5286375"/>
            <a:ext cx="8953500" cy="64008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Scaling drivers  Views and BEV resolution · targets and tracks · assignment size · M_CSI · K_scan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noGrp="1"/>
          </p:cNvSpPr>
          <p:nvPr/>
        </p:nvSpPr>
        <p:spPr>
          <a:xfrm>
            <a:off x="1143000" y="1952625"/>
            <a:ext cx="9525000" cy="314325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  Construct distributed multimodal BEV features.
2  Decode detections and beam-class posteriors.
3  Predict, assign, and update physical-target tracks.
4  Reassociate only when an association event occurs.
5  Select sensing-derived or SSB-guided CSI-RS candidates.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18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Experimental Evaluation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2857500" cy="1714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99060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Does the complete decision chain improve communication performance after measurement cost is included?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>
    <a:masterClrMapping/>
  </p:clrMapOvr>
</p:sld>
</file>

<file path=ppt/slides/slide19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Experimental Setup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 common multimodal and communication protocol links perception results to effective user rate.</a:t>
            </a:r>
          </a:p>
        </p:txBody>
      </p:sp>
      <p:sp>
        <p:nvSpPr>
          <p:cNvPr id="26" name="replacement-setup-arrow-1">
            <a:extLst>
              <a:ext uri="{FF2B5EF4-FFF2-40B4-BE49-F238E27FC236}">
                <a16:creationId xmlns:a16="http://schemas.microsoft.com/office/drawing/2014/main" id="{46008BF8-8E9B-402C-BE75-3964C1A34432}"/>
              </a:ext>
            </a:extLst>
          </p:cNvPr>
          <p:cNvSpPr>
            <a:spLocks noGrp="1"/>
          </p:cNvSpPr>
          <p:nvPr/>
        </p:nvSpPr>
        <p:spPr>
          <a:xfrm>
            <a:off x="2952750" y="3048000"/>
            <a:ext cx="714375" cy="457200"/>
          </a:xfrm>
          <a:prstGeom prst="rightArrow">
            <a:avLst/>
          </a:prstGeom>
          <a:solidFill>
            <a:srgbClr val="EAF2F8"/>
          </a:solidFill>
          <a:ln w="14288">
            <a:solidFill>
              <a:srgbClr val="418AB3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replacement-setup-arrow-2">
            <a:extLst>
              <a:ext uri="{FF2B5EF4-FFF2-40B4-BE49-F238E27FC236}">
                <a16:creationId xmlns:a16="http://schemas.microsoft.com/office/drawing/2014/main" id="{D24FCD7F-9292-40C1-ADD0-C1FD5664DAD1}"/>
              </a:ext>
            </a:extLst>
          </p:cNvPr>
          <p:cNvSpPr>
            <a:spLocks noGrp="1"/>
          </p:cNvSpPr>
          <p:nvPr/>
        </p:nvSpPr>
        <p:spPr>
          <a:xfrm>
            <a:off x="6191250" y="3048000"/>
            <a:ext cx="714375" cy="457200"/>
          </a:xfrm>
          <a:prstGeom prst="rightArrow">
            <a:avLst/>
          </a:prstGeom>
          <a:solidFill>
            <a:srgbClr val="F0F3E4"/>
          </a:solidFill>
          <a:ln w="14288">
            <a:solidFill>
              <a:srgbClr val="59640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replacement-setup-scenes">
            <a:extLst>
              <a:ext uri="{FF2B5EF4-FFF2-40B4-BE49-F238E27FC236}">
                <a16:creationId xmlns:a16="http://schemas.microsoft.com/office/drawing/2014/main" id="{421A6659-BFA9-4559-A8C5-453981DC7AAF}"/>
              </a:ext>
            </a:extLst>
          </p:cNvPr>
          <p:cNvSpPr>
            <a:spLocks noGrp="1"/>
          </p:cNvSpPr>
          <p:nvPr/>
        </p:nvSpPr>
        <p:spPr>
          <a:xfrm>
            <a:off x="619125" y="2000250"/>
            <a:ext cx="2333625" cy="2857500"/>
          </a:xfrm>
          <a:prstGeom prst="rect">
            <a:avLst/>
          </a:prstGeom>
          <a:solidFill>
            <a:srgbClr val="EAF2F8"/>
          </a:solidFill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SCENARIOS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Four roadside BSs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Clear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Rain/Fog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Night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Disjoint train, validation, and test sequences</a:t>
            </a:r>
          </a:p>
        </p:txBody>
      </p:sp>
      <p:sp>
        <p:nvSpPr>
          <p:cNvPr id="29" name="replacement-setup-data">
            <a:extLst>
              <a:ext uri="{FF2B5EF4-FFF2-40B4-BE49-F238E27FC236}">
                <a16:creationId xmlns:a16="http://schemas.microsoft.com/office/drawing/2014/main" id="{F4F3FF8F-5EBF-4DDF-991C-3122D392FBFB}"/>
              </a:ext>
            </a:extLst>
          </p:cNvPr>
          <p:cNvSpPr>
            <a:spLocks noGrp="1"/>
          </p:cNvSpPr>
          <p:nvPr/>
        </p:nvSpPr>
        <p:spPr>
          <a:xfrm>
            <a:off x="3667125" y="2000250"/>
            <a:ext cx="2524125" cy="2857500"/>
          </a:xfrm>
          <a:prstGeom prst="rect">
            <a:avLst/>
          </a:prstGeom>
          <a:solidFill>
            <a:srgbClr val="FFFFFF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MULTIMODAL DATA</a:t>
            </a:r>
          </a:p>
          <a:p>
            <a:endParaRPr sz="1500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Target-BS cameras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Neighbouring-node cameras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BS-local ISAC point clouds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Vehicle trajectories</a:t>
            </a:r>
          </a:p>
          <a:p>
            <a:pPr algn="ctr">
              <a:lnSpc>
                <a:spcPct val="108000"/>
              </a:lnSpc>
              <a:buNone/>
              <a:def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Ray-traced channels</a:t>
            </a:r>
          </a:p>
        </p:txBody>
      </p:sp>
      <p:sp>
        <p:nvSpPr>
          <p:cNvPr id="30" name="replacement-setup-radio">
            <a:extLst>
              <a:ext uri="{FF2B5EF4-FFF2-40B4-BE49-F238E27FC236}">
                <a16:creationId xmlns:a16="http://schemas.microsoft.com/office/drawing/2014/main" id="{F3022430-89A8-4727-976A-369B6C699047}"/>
              </a:ext>
            </a:extLst>
          </p:cNvPr>
          <p:cNvSpPr>
            <a:spLocks noGrp="1"/>
          </p:cNvSpPr>
          <p:nvPr/>
        </p:nvSpPr>
        <p:spPr>
          <a:xfrm>
            <a:off x="6905625" y="2000250"/>
            <a:ext cx="2524125" cy="2857500"/>
          </a:xfrm>
          <a:prstGeom prst="rect">
            <a:avLst/>
          </a:prstGeom>
          <a:solidFill>
            <a:srgbClr val="F0F3E4"/>
          </a:solidFill>
          <a:ln w="19050">
            <a:solidFill>
              <a:srgbClr val="596400"/>
            </a:solidFill>
            <a:prstDash val="solid"/>
          </a:ln>
        </p:spPr>
        <p:txBody>
          <a:bodyPr wrap="square" lIns="95250" tIns="76200" rIns="95250" bIns="76200" anchor="ctr">
            <a:noAutofit/>
          </a:bodyPr>
          <a:lstStyle/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RADIO PROFILE</a:t>
            </a:r>
          </a:p>
          <a:p>
            <a:endParaRPr sz="142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48 SSB beams</a:t>
            </a: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192 CSI-RS beams</a:t>
            </a:r>
          </a:p>
          <a:p>
            <a:endParaRPr sz="142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 period 100 ms</a:t>
            </a: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CSI-RS period 20 ms</a:t>
            </a:r>
          </a:p>
          <a:p>
            <a:endParaRPr sz="142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42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Common power, noise, Doppler, RZF, and overhead accounting</a:t>
            </a:r>
          </a:p>
        </p:txBody>
      </p:sp>
      <p:sp>
        <p:nvSpPr>
          <p:cNvPr id="31" name="replacement-evaluation-chain">
            <a:extLst>
              <a:ext uri="{FF2B5EF4-FFF2-40B4-BE49-F238E27FC236}">
                <a16:creationId xmlns:a16="http://schemas.microsoft.com/office/drawing/2014/main" id="{E112032D-33F9-46CB-A8E4-08259FB6A742}"/>
              </a:ext>
            </a:extLst>
          </p:cNvPr>
          <p:cNvSpPr>
            <a:spLocks noGrp="1"/>
          </p:cNvSpPr>
          <p:nvPr/>
        </p:nvSpPr>
        <p:spPr>
          <a:xfrm>
            <a:off x="9620250" y="2000250"/>
            <a:ext cx="1809750" cy="285750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EVALUATION CHAIN</a:t>
            </a:r>
          </a:p>
          <a:p>
            <a:endParaRPr sz="1163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Detection</a:t>
            </a:r>
          </a:p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Beam ranking</a:t>
            </a:r>
          </a:p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Association-conditioned use</a:t>
            </a:r>
          </a:p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CSI-RS overhead</a:t>
            </a:r>
          </a:p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→ Effective user rate</a:t>
            </a:r>
          </a:p>
          <a:p>
            <a:endParaRPr sz="1163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ctr">
              <a:lnSpc>
                <a:spcPct val="108000"/>
              </a:lnSpc>
              <a:buNone/>
              <a:def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163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Rain/Fog margin is a fixed test-tuned operating point.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20.xml><?xml version="1.0" encoding="utf-8"?>
<p:sld xmlns:a16="http://schemas.microsoft.com/office/drawing/2014/main" xmlns:c="http://schemas.openxmlformats.org/drawingml/2006/chart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Perception and Beam Prediction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85725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Distributed multimodal attention improves target availability without uniformly dominating every beam-ranking metric.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="619125" y="1952625"/>
          <a:ext cx="771525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7" name="replacement-perception-summary">
            <a:extLst>
              <a:ext uri="{FF2B5EF4-FFF2-40B4-BE49-F238E27FC236}">
                <a16:creationId xmlns:a16="http://schemas.microsoft.com/office/drawing/2014/main" id="{C0728BE8-0C87-43C3-ACC4-F367DF7D12B1}"/>
              </a:ext>
            </a:extLst>
          </p:cNvPr>
          <p:cNvSpPr>
            <a:spLocks noGrp="1"/>
          </p:cNvSpPr>
          <p:nvPr/>
        </p:nvSpPr>
        <p:spPr>
          <a:xfrm>
            <a:off x="8572500" y="2095500"/>
            <a:ext cx="2857500" cy="352425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95250" tIns="76200" rIns="95250" bIns="76200" anchor="t">
            <a:noAutofit/>
          </a:bodyPr>
          <a:lstStyle/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Blue  Distributed multimodal attention</a:t>
            </a: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Gray  Local camera–ISAC fusion</a:t>
            </a:r>
          </a:p>
          <a:p>
            <a:endParaRPr sz="136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Proposed</a:t>
            </a: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AP 78.73%</a:t>
            </a: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Recall 81.51%</a:t>
            </a: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Top-4 power ratio 97.01%</a:t>
            </a:r>
          </a:p>
          <a:p>
            <a:endParaRPr sz="136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Local fusion</a:t>
            </a: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Top-1 71.54%</a:t>
            </a: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Top-4 94.66%</a:t>
            </a:r>
          </a:p>
          <a:p>
            <a:endParaRPr sz="1365" b="0">
              <a:solidFill>
                <a:srgbClr val="000000"/>
              </a:solidFill>
              <a:latin typeface="Helvetica"/>
              <a:ea typeface="Helvetica"/>
              <a:cs typeface="Helvetica"/>
            </a:endParaRPr>
          </a:p>
          <a:p>
            <a:pPr algn="l">
              <a:lnSpc>
                <a:spcPct val="108000"/>
              </a:lnSpc>
              <a:buNone/>
              <a:def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65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Target observability and beam ranking are distinct objectives.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21.xml><?xml version="1.0" encoding="utf-8"?>
<p:sld xmlns:a16="http://schemas.microsoft.com/office/drawing/2014/main" xmlns:c="http://schemas.openxmlformats.org/drawingml/2006/chart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Cooperative Sensing Nodes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Additional roadside viewpoints primarily improve detection and </a:t>
            </a:r>
            <a:r>
              <a:rPr sz="1800" b="1" dirty="0" err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localisation</a:t>
            </a:r>
            <a:r>
              <a:rPr sz="1800" b="1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572500" y="2095500"/>
            <a:ext cx="2857500" cy="393192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33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35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Blue  AP@2m
Orange  Recall@2m
Olive  Beam Top-4@2m
Fixed trained model
Available nodes varied only at test time
0 → 5 nodes
AP 38.59% → 80.41%
Recall 52.34% → 83.15%
Beam Top-4 approaches saturation.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="619125" y="1952625"/>
          <a:ext cx="7810500" cy="3429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22.xml><?xml version="1.0" encoding="utf-8"?>
<p:sld xmlns:a16="http://schemas.microsoft.com/office/drawing/2014/main" xmlns:c="http://schemas.openxmlformats.org/drawingml/2006/chart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Ablation and Tracking Results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85725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Local multimodal complementarity provides most of the gain; distributed sensing improves the final operating point.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572500" y="2047875"/>
            <a:ext cx="2857500" cy="393192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CSI-RS overhead
Camera 1.86%
ISAC 1.81%
Local fusion 1.80%
DMSA-BM 1.56%
Tracker check
IMM 146.332
KF-CV 146.373
KF-CT 145.880 Mbps
Similar rates do not establish universal IMM superiority.</a:t>
            </a:r>
          </a:p>
        </p:txBody>
      </p:sp>
      <p:graphicFrame>
        <p:nvGraphicFramePr>
          <p:cNvPr id="30" name="Chart"/>
          <p:cNvGraphicFramePr/>
          <p:nvPr/>
        </p:nvGraphicFramePr>
        <p:xfrm>
          <a:off x="619125" y="2000250"/>
          <a:ext cx="781050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23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Conclusion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noGrp="1"/>
          </p:cNvSpPr>
          <p:nvPr/>
        </p:nvSpPr>
        <p:spPr>
          <a:xfrm>
            <a:off x="723900" y="1428750"/>
            <a:ext cx="2857500" cy="17145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6900" b="1">
                <a:solidFill>
                  <a:srgbClr val="0F00CD"/>
                </a:solidFill>
                <a:latin typeface="Arial"/>
                <a:ea typeface="Arial"/>
                <a:cs typeface="Arial"/>
              </a:defRPr>
            </a:pPr>
            <a:r>
              <a:rPr sz="6900" b="1">
                <a:solidFill>
                  <a:srgbClr val="0F00CD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762000" y="3524250"/>
            <a:ext cx="9906000" cy="114300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210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What has been established, and what remains before deployment?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>
    <a:masterClrMapping/>
  </p:clrMapOvr>
</p:sld>
</file>

<file path=ppt/slides/slide24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Conclusions and Future Work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Distributed sensing becomes useful for beam management through a user-specific measurement interface.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715375" y="2000250"/>
            <a:ext cx="2714625" cy="3383280"/>
          </a:xfrm>
          <a:prstGeom prst="rect">
            <a:avLst/>
          </a:prstGeom>
          <a:noFill/>
          <a:ln w="19050">
            <a:solidFill>
              <a:srgbClr val="0F00CD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ctr">
              <a:lnSpc>
                <a:spcPct val="112000"/>
              </a:lnSpc>
              <a:buNone/>
              <a:defRPr sz="1500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00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NEXT STEPS
Real-world validation
Protocol-level NR evaluation
Online and domain adaptation
Cooperative multi-BS association
QUESTIONS AND DISCUSSION</a:t>
            </a:r>
          </a:p>
        </p:txBody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93FBFACC-3F05-25DE-A0A3-63BDE6511845}"/>
              </a:ext>
            </a:extLst>
          </p:cNvPr>
          <p:cNvSpPr>
            <a:spLocks noGrp="1"/>
          </p:cNvSpPr>
          <p:nvPr/>
        </p:nvSpPr>
        <p:spPr>
          <a:xfrm>
            <a:off x="714375" y="1952625"/>
            <a:ext cx="7810500" cy="32385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6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□ Distributed multimodal BEV perception jointly detects vehicles and ranks per-target CSI beams.
□ IMM tracking preserves physical-target continuity without treating a track as a VUE identity.
□ Beam measurements establish target-to-user associations; only accepted, currently observed pairs reduce CSI-RS scanning.
□ Under the stated operating point, DMSA-BM achieves 146.332 Mbps with 1.56% CSI-RS overhead.</a:t>
            </a:r>
          </a:p>
        </p:txBody>
      </p:sp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25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0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Background</a:t>
            </a:r>
          </a:p>
        </p:txBody>
      </p:sp>
      <p:sp>
        <p:nvSpPr>
          <p:cNvPr id="100001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7620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7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Connected mobility and intelligent transportation rely on reliable V2I connectivity.</a:t>
            </a:r>
          </a:p>
        </p:txBody>
      </p:sp>
      <p:sp>
        <p:nvSpPr>
          <p:cNvPr id="100002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572500" y="1905000"/>
            <a:ext cx="2857500" cy="419100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Vehicular networks connect moving vehicles, roadside infrastructure, and network services.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Roadside operating conditions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High mobility · rapidly changing geometry · intermittent blockage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Communication requirements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defRPr sz="1575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5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High data rate · low latency · reliable connectivity</a:t>
            </a:r>
          </a:p>
        </p:txBody>
      </p:sp>
      <p:pic>
        <p:nvPicPr>
          <p:cNvPr id="100003" name="图片 29"/>
          <p:cNvPicPr>
            <a:picLocks noChangeAspect="1"/>
          </p:cNvPicPr>
          <p:nvPr/>
        </p:nvPicPr>
        <p:blipFill>
          <a:blip r:embed="Rf7b5fe774b55445e"/>
          <a:stretch/>
        </p:blipFill>
        <p:spPr>
          <a:xfrm>
            <a:off x="1187133" y="1762125"/>
            <a:ext cx="6769734" cy="381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slides/slide26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4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800"/>
              <a:t>Sensing-Assisted Beam Prediction: Single-Candidate Scenario</a:t>
            </a:r>
          </a:p>
        </p:txBody>
      </p:sp>
      <p:sp>
        <p:nvSpPr>
          <p:cNvPr id="100005" name="矩形 24">
            <a:extLst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10668000" cy="10795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Multimodal sensing can predict or rank beams for a known physical target.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80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Camera · position · radar · LiDAR  →  physical-scene observations</a:t>
            </a:r>
          </a:p>
        </p:txBody>
      </p:sp>
      <p:sp>
        <p:nvSpPr>
          <p:cNvPr id="100006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647700" y="3873500"/>
            <a:ext cx="10668000" cy="20955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Single-candidate assumption: a specified or visually isolated target is treated as the intended communication user.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Beam prediction:  fθ(O[n])  →  Top-K candidates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Prediction narrows the CSI-RS search; measured CSI quality selects the service beam.</a:t>
            </a:r>
          </a:p>
        </p:txBody>
      </p:sp>
      <p:sp>
        <p:nvSpPr>
          <p:cNvPr id="100021" name="SC_Target"/>
          <p:cNvSpPr/>
          <p:nvPr/>
        </p:nvSpPr>
        <p:spPr>
          <a:xfrm>
            <a:off x="698500" y="2603500"/>
            <a:ext cx="2413000" cy="88900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418AB3"/>
            </a:solidFill>
          </a:ln>
        </p:spPr>
        <p:txBody>
          <a:bodyPr anchor="ctr"/>
          <a:lstStyle/>
          <a:p>
            <a:pPr algn="ctr"/>
            <a:r>
              <a:rPr lang="en-US" sz="1700" b="1">
                <a:solidFill>
                  <a:srgbClr val="000000"/>
                </a:solidFill>
                <a:latin typeface="Helvetica"/>
                <a:ea typeface="Helvetica"/>
              </a:rPr>
              <a:t>Known physical target</a:t>
            </a:r>
          </a:p>
        </p:txBody>
      </p:sp>
      <p:sp>
        <p:nvSpPr>
          <p:cNvPr id="100022" name="SC_A1"/>
          <p:cNvSpPr/>
          <p:nvPr/>
        </p:nvSpPr>
        <p:spPr>
          <a:xfrm>
            <a:off x="3302000" y="2857500"/>
            <a:ext cx="508000" cy="381000"/>
          </a:xfrm>
          <a:prstGeom prst="rightArrow">
            <a:avLst/>
          </a:prstGeom>
          <a:solidFill>
            <a:srgbClr val="418A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3" name="SC_Obs"/>
          <p:cNvSpPr/>
          <p:nvPr/>
        </p:nvSpPr>
        <p:spPr>
          <a:xfrm>
            <a:off x="4000500" y="2603500"/>
            <a:ext cx="3238500" cy="889000"/>
          </a:xfrm>
          <a:prstGeom prst="roundRect">
            <a:avLst/>
          </a:prstGeom>
          <a:solidFill>
            <a:srgbClr val="F0F3E4"/>
          </a:solidFill>
          <a:ln w="15875">
            <a:solidFill>
              <a:srgbClr val="596400"/>
            </a:solidFill>
          </a:ln>
        </p:spPr>
        <p:txBody>
          <a:bodyPr anchor="ctr"/>
          <a:lstStyle/>
          <a:p>
            <a:pPr algn="ctr"/>
            <a:r>
              <a:rPr lang="en-US" sz="1700" b="1">
                <a:solidFill>
                  <a:srgbClr val="000000"/>
                </a:solidFill>
                <a:latin typeface="Helvetica"/>
                <a:ea typeface="Helvetica"/>
              </a:rPr>
              <a:t>Multimodal scene observation</a:t>
            </a:r>
          </a:p>
        </p:txBody>
      </p:sp>
      <p:sp>
        <p:nvSpPr>
          <p:cNvPr id="100024" name="SC_A2"/>
          <p:cNvSpPr/>
          <p:nvPr/>
        </p:nvSpPr>
        <p:spPr>
          <a:xfrm>
            <a:off x="7429500" y="2857500"/>
            <a:ext cx="508000" cy="381000"/>
          </a:xfrm>
          <a:prstGeom prst="rightArrow">
            <a:avLst/>
          </a:prstGeom>
          <a:solidFill>
            <a:srgbClr val="418A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5" name="SC_Beams"/>
          <p:cNvSpPr/>
          <p:nvPr/>
        </p:nvSpPr>
        <p:spPr>
          <a:xfrm>
            <a:off x="8128000" y="2603500"/>
            <a:ext cx="3175000" cy="88900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418AB3"/>
            </a:solidFill>
          </a:ln>
        </p:spPr>
        <p:txBody>
          <a:bodyPr anchor="ctr"/>
          <a:lstStyle/>
          <a:p>
            <a:pPr algn="ctr"/>
            <a:r>
              <a:rPr lang="en-US" sz="1700" b="1">
                <a:solidFill>
                  <a:srgbClr val="000000"/>
                </a:solidFill>
                <a:latin typeface="Helvetica"/>
                <a:ea typeface="Helvetica"/>
              </a:rPr>
              <a:t>Top-K beam candidates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  <a:masterClrMapping/>
  </p:clrMapOvr>
</p:sld>
</file>

<file path=ppt/slides/slide27.xml><?xml version="1.0" encoding="utf-8"?>
<p: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07" name="Title 2">
            <a:extLst>
              <a:ext uri="{FF2B5EF4-FFF2-40B4-BE49-F238E27FC236}">
                <a16:creationId xmlns:a16="http://schemas.microsoft.com/office/drawing/2014/main" id="{6A34D1D7-74A4-E3A7-4F23-63F0B92D20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rPr sz="2800"/>
              <a:t>Sensing-Assisted Beam Prediction: Multi-Candidate Scenario</a:t>
            </a:r>
          </a:p>
        </p:txBody>
      </p:sp>
      <p:sp>
        <p:nvSpPr>
          <p:cNvPr id="100008" name="矩形 24">
            <a:extLst>
              <a:ext uri="{FF2B5EF4-FFF2-40B4-BE49-F238E27FC236}">
                <a16:creationId xmlns:a16="http://schemas.microsoft.com/office/drawing/2014/main" id="{0BF130BF-86F1-FCD0-FAC3-C2F80BAE2832}"/>
              </a:ext>
            </a:extLst>
          </p:cNvPr>
          <p:cNvSpPr>
            <a:spLocks noGrp="1"/>
          </p:cNvSpPr>
          <p:nvPr/>
        </p:nvSpPr>
        <p:spPr>
          <a:xfrm>
            <a:off x="647700" y="1190625"/>
            <a:ext cx="10668000" cy="10795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When several vehicles are visible, prediction must first identify the intended transmitter.</a:t>
            </a:r>
          </a:p>
          <a:p>
            <a:pPr algn="l">
              <a:lnSpc>
                <a:spcPct val="112000"/>
              </a:lnSpc>
              <a:buNone/>
              <a:defRPr sz="180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User-conditioned prediction:  fθ(O[n], g[u,n])  →  VUE-specific Top-K beams</a:t>
            </a:r>
          </a:p>
        </p:txBody>
      </p:sp>
      <p:sp>
        <p:nvSpPr>
          <p:cNvPr id="100009" name="矩形 25">
            <a:extLst>
              <a:ext uri="{FF2B5EF4-FFF2-40B4-BE49-F238E27FC236}">
                <a16:creationId xmlns:a16="http://schemas.microsoft.com/office/drawing/2014/main" id="{0FF3106F-4B77-0441-4A3A-D0CCE327E271}"/>
              </a:ext>
            </a:extLst>
          </p:cNvPr>
          <p:cNvSpPr>
            <a:spLocks noGrp="1"/>
          </p:cNvSpPr>
          <p:nvPr/>
        </p:nvSpPr>
        <p:spPr>
          <a:xfrm>
            <a:off x="647700" y="3873500"/>
            <a:ext cx="10668000" cy="209550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O[n]: scene-level sensing observations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g[u,n]: location or other user-specific side information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Location can be unavailable, inaccurate, stale, or misaligned.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Candidate scoring is conditioned on every active VUE.</a:t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>
            <a:pPr algn="l">
              <a:lnSpc>
                <a:spcPct val="112000"/>
              </a:lnSpc>
              <a:buNone/>
              <a:defRPr sz="1950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650" b="0" dirty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Whose candidate list is it?</a:t>
            </a:r>
          </a:p>
        </p:txBody>
      </p:sp>
      <p:sp>
        <p:nvSpPr>
          <p:cNvPr id="100026" name="MC_Visible"/>
          <p:cNvSpPr/>
          <p:nvPr/>
        </p:nvSpPr>
        <p:spPr>
          <a:xfrm>
            <a:off x="698500" y="2603500"/>
            <a:ext cx="2413000" cy="88900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418AB3"/>
            </a:solidFill>
          </a:ln>
        </p:spPr>
        <p:txBody>
          <a:bodyPr anchor="ctr"/>
          <a:lstStyle/>
          <a:p>
            <a:pPr algn="ctr"/>
            <a:r>
              <a:rPr lang="en-US" sz="1700" b="1">
                <a:solidFill>
                  <a:srgbClr val="000000"/>
                </a:solidFill>
                <a:latin typeface="Helvetica"/>
                <a:ea typeface="Helvetica"/>
              </a:rPr>
              <a:t>Multiple visible vehicles</a:t>
            </a:r>
          </a:p>
        </p:txBody>
      </p:sp>
      <p:sp>
        <p:nvSpPr>
          <p:cNvPr id="100027" name="MC_A1"/>
          <p:cNvSpPr/>
          <p:nvPr/>
        </p:nvSpPr>
        <p:spPr>
          <a:xfrm>
            <a:off x="3302000" y="2857500"/>
            <a:ext cx="508000" cy="381000"/>
          </a:xfrm>
          <a:prstGeom prst="rightArrow">
            <a:avLst/>
          </a:prstGeom>
          <a:solidFill>
            <a:srgbClr val="418A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28" name="MC_SideInfo"/>
          <p:cNvSpPr/>
          <p:nvPr/>
        </p:nvSpPr>
        <p:spPr>
          <a:xfrm>
            <a:off x="4000500" y="2603500"/>
            <a:ext cx="3238500" cy="889000"/>
          </a:xfrm>
          <a:prstGeom prst="roundRect">
            <a:avLst/>
          </a:prstGeom>
          <a:solidFill>
            <a:srgbClr val="F0F3E4"/>
          </a:solidFill>
          <a:ln w="15875">
            <a:solidFill>
              <a:srgbClr val="596400"/>
            </a:solidFill>
          </a:ln>
        </p:spPr>
        <p:txBody>
          <a:bodyPr anchor="ctr"/>
          <a:lstStyle/>
          <a:p>
            <a:pPr algn="ctr"/>
            <a:r>
              <a:rPr lang="en-US" sz="1700" b="1">
                <a:solidFill>
                  <a:srgbClr val="000000"/>
                </a:solidFill>
                <a:latin typeface="Helvetica"/>
                <a:ea typeface="Helvetica"/>
              </a:rPr>
              <a:t>Sensing + user side information</a:t>
            </a:r>
          </a:p>
        </p:txBody>
      </p:sp>
      <p:sp>
        <p:nvSpPr>
          <p:cNvPr id="100029" name="MC_A2"/>
          <p:cNvSpPr/>
          <p:nvPr/>
        </p:nvSpPr>
        <p:spPr>
          <a:xfrm>
            <a:off x="7429500" y="2857500"/>
            <a:ext cx="508000" cy="381000"/>
          </a:xfrm>
          <a:prstGeom prst="rightArrow">
            <a:avLst/>
          </a:prstGeom>
          <a:solidFill>
            <a:srgbClr val="418AB3"/>
          </a:solidFill>
          <a:ln>
            <a:noFill/>
          </a:ln>
        </p:spPr>
        <p:txBody>
          <a:bodyPr/>
          <a:lstStyle/>
          <a:p/>
        </p:txBody>
      </p:sp>
      <p:sp>
        <p:nvSpPr>
          <p:cNvPr id="100030" name="MC_Beams"/>
          <p:cNvSpPr/>
          <p:nvPr/>
        </p:nvSpPr>
        <p:spPr>
          <a:xfrm>
            <a:off x="8128000" y="2603500"/>
            <a:ext cx="3175000" cy="889000"/>
          </a:xfrm>
          <a:prstGeom prst="roundRect">
            <a:avLst/>
          </a:prstGeom>
          <a:solidFill>
            <a:srgbClr val="EAF2F8"/>
          </a:solidFill>
          <a:ln w="15875">
            <a:solidFill>
              <a:srgbClr val="418AB3"/>
            </a:solidFill>
          </a:ln>
        </p:spPr>
        <p:txBody>
          <a:bodyPr anchor="ctr"/>
          <a:lstStyle/>
          <a:p>
            <a:pPr algn="ctr"/>
            <a:r>
              <a:rPr lang="en-US" sz="1700" b="1">
                <a:solidFill>
                  <a:srgbClr val="000000"/>
                </a:solidFill>
                <a:latin typeface="Helvetica"/>
                <a:ea typeface="Helvetica"/>
              </a:rPr>
              <a:t>VUE-specific Top-K beams</a:t>
            </a:r>
          </a:p>
        </p:txBody>
      </p:sp>
    </p:spTree>
    <p:extLst>
      <p:ext uri="{BB962C8B-B14F-4D97-AF65-F5344CB8AC3E}">
        <p14:creationId xmlns:p14="http://schemas.microsoft.com/office/powerpoint/2010/main" val="2200470425"/>
      </p:ext>
    </p:extLst>
  </p:cSld>
  <p:clrMapOvr xmlns:a16="http://schemas.microsoft.com/office/drawing/2014/main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  <a:masterClrMapping/>
  </p:clrMapOvr>
</p:sld>
</file>

<file path=ppt/slides/slide28.xml><?xml version="1.0" encoding="utf-8"?>
<p:sld xmlns:a16="http://schemas.microsoft.com/office/drawing/2014/main" xmlns:c="http://schemas.openxmlformats.org/drawingml/2006/chart"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010" name="Title 2">
            <a:extLst>
              <a:ext uri="{FF2B5EF4-FFF2-40B4-BE49-F238E27FC236}">
                <a16:creationId xmlns:a16="http://schemas.microsoft.com/office/drawing/2014/main" id="{9501908D-834C-CC34-BD05-87C241503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0" indent="0">
              <a:buNone/>
            </a:pPr>
            <a:r>
              <a:t>Communication Performance</a:t>
            </a:r>
          </a:p>
        </p:txBody>
      </p:sp>
      <p:sp>
        <p:nvSpPr>
          <p:cNvPr id="100011" name="矩形 8">
            <a:extLst>
              <a:ext uri="{FF2B5EF4-FFF2-40B4-BE49-F238E27FC236}">
                <a16:creationId xmlns:a16="http://schemas.microsoft.com/office/drawing/2014/main" id="{993DEC5E-6800-9CCE-7772-41552D0D9DF2}"/>
              </a:ext>
            </a:extLst>
          </p:cNvPr>
          <p:cNvSpPr>
            <a:spLocks noGrp="1"/>
          </p:cNvSpPr>
          <p:nvPr/>
        </p:nvSpPr>
        <p:spPr>
          <a:xfrm>
            <a:off x="647700" y="1000125"/>
            <a:ext cx="10668000" cy="857250"/>
          </a:xfrm>
          <a:prstGeom prst="rect">
            <a:avLst/>
          </a:prstGeom>
          <a:noFill/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725" b="1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DMSA-BM achieves the highest reported effective user rate with the lowest CSI-RS overhead among the compared schemes.</a:t>
            </a:r>
          </a:p>
        </p:txBody>
      </p:sp>
      <p:sp>
        <p:nvSpPr>
          <p:cNvPr id="100012" name="矩形 24">
            <a:extLst>
              <a:ext uri="{FF2B5EF4-FFF2-40B4-BE49-F238E27FC236}">
                <a16:creationId xmlns:a16="http://schemas.microsoft.com/office/drawing/2014/main" id="{988E3466-C9B5-EE2D-F9E8-7B039AD22B4D}"/>
              </a:ext>
            </a:extLst>
          </p:cNvPr>
          <p:cNvSpPr>
            <a:spLocks noGrp="1"/>
          </p:cNvSpPr>
          <p:nvPr/>
        </p:nvSpPr>
        <p:spPr>
          <a:xfrm>
            <a:off x="8572500" y="2047875"/>
            <a:ext cx="2857500" cy="3931920"/>
          </a:xfrm>
          <a:prstGeom prst="rect">
            <a:avLst/>
          </a:prstGeom>
          <a:noFill/>
          <a:ln w="19050">
            <a:solidFill>
              <a:srgbClr val="418AB3"/>
            </a:solidFill>
            <a:prstDash val="solid"/>
          </a:ln>
        </p:spPr>
        <p:txBody>
          <a:bodyPr wrap="square" lIns="76200" tIns="57150" rIns="76200" bIns="57150" anchor="t">
            <a:noAutofit/>
          </a:bodyPr>
          <a:lstStyle/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CSI-RS overhead</a:t>
            </a:r>
          </a:p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SSB-guided, Kref = 4      1.90%</a:t>
            </a:r>
          </a:p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SSB-guided, Kref = 12     5.71%</a:t>
            </a:r>
          </a:p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DMSA-BM                   1.56%</a:t>
            </a:r>
          </a:p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Sensing use</a:t>
            </a:r>
          </a:p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Clear 76.35% · Rain/Fog 56.65% · Night 30.07%</a:t>
            </a:r>
          </a:p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/>
            </a:r>
          </a:p>
          <a:p>
            <a:pPr marL="0" indent="0" algn="l">
              <a:lnSpc>
                <a:spcPct val="112000"/>
              </a:lnSpc>
              <a:buNone/>
              <a:defRPr sz="1388" b="0">
                <a:solidFill>
                  <a:srgbClr val="000000"/>
                </a:solidFill>
                <a:latin typeface="Helvetica"/>
                <a:ea typeface="Helvetica"/>
                <a:cs typeface="Helvetica"/>
              </a:defRPr>
            </a:pPr>
            <a:r>
              <a:rPr sz="1350" b="0">
                <a:solidFill>
                  <a:srgbClr val="000000"/>
                </a:solidFill>
                <a:latin typeface="Helvetica"/>
                <a:ea typeface="Helvetica"/>
                <a:cs typeface="Helvetica"/>
              </a:rPr>
              <a:t>Fallback: retain SSB-guided refinement when sensing is not used.</a:t>
            </a:r>
          </a:p>
        </p:txBody>
      </p:sp>
      <p:graphicFrame>
        <p:nvGraphicFramePr>
          <p:cNvPr id="100013" name="Chart"/>
          <p:cNvGraphicFramePr/>
          <p:nvPr/>
        </p:nvGraphicFramePr>
        <p:xfrm>
          <a:off x="1079500" y="2000250"/>
          <a:ext cx="7366000" cy="3143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dffba323d1fc4061"/>
          </a:graphicData>
        </a:graphic>
      </p:graphicFrame>
    </p:spTree>
    <p:extLst>
      <p:ext uri="{BB962C8B-B14F-4D97-AF65-F5344CB8AC3E}">
        <p14:creationId xmlns:p14="http://schemas.microsoft.com/office/powerpoint/2010/main" val="2182459901"/>
      </p:ext>
    </p:extLst>
  </p:cSld>
  <p:clrMapOvr>
    <a:masterClrMapping/>
  </p:clrMapOvr>
</p:sld>
</file>

<file path=ppt/theme/theme1.xml><?xml version="1.0" encoding="utf-8"?>
<a:theme xmlns:a="http://schemas.openxmlformats.org/drawingml/2006/main" name="Academic Literature 16x9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自定义 4">
      <a:majorFont>
        <a:latin typeface="Arial"/>
        <a:ea typeface="宋体"/>
        <a:cs typeface=""/>
      </a:majorFont>
      <a:minorFont>
        <a:latin typeface="Helvetica"/>
        <a:ea typeface="宋体"/>
        <a:cs typeface=""/>
      </a:minorFont>
    </a:fontScheme>
    <a:fmtScheme name="Marque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48000">
          <a:solidFill>
            <a:schemeClr val="phClr"/>
          </a:solidFill>
          <a:prstDash val="solid"/>
        </a:ln>
        <a:ln w="48500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Academic Literature 16x9">
  <a:themeElements>
    <a:clrScheme name="Marque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自定义 4">
      <a:majorFont>
        <a:latin typeface="Arial"/>
        <a:ea typeface="宋体"/>
        <a:cs typeface=""/>
      </a:majorFont>
      <a:minorFont>
        <a:latin typeface="Helvetica"/>
        <a:ea typeface="宋体"/>
        <a:cs typeface=""/>
      </a:minorFont>
    </a:fontScheme>
    <a:fmtScheme name="Marquee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300000"/>
              </a:schemeClr>
            </a:gs>
            <a:gs pos="100000">
              <a:schemeClr val="phClr">
                <a:tint val="68000"/>
                <a:satMod val="300000"/>
              </a:schemeClr>
            </a:gs>
          </a:gsLst>
          <a:path path="rect">
            <a:fillToRect l="50000" t="50000" r="50000" b="50000"/>
          </a:path>
        </a:gradFill>
        <a:gradFill rotWithShape="1">
          <a:gsLst>
            <a:gs pos="0">
              <a:schemeClr val="phClr">
                <a:shade val="100000"/>
                <a:satMod val="137000"/>
              </a:schemeClr>
            </a:gs>
            <a:gs pos="71000">
              <a:schemeClr val="phClr">
                <a:shade val="98000"/>
                <a:satMod val="137000"/>
              </a:schemeClr>
            </a:gs>
            <a:gs pos="100000">
              <a:schemeClr val="phClr">
                <a:shade val="75000"/>
                <a:satMod val="137000"/>
              </a:schemeClr>
            </a:gs>
          </a:gsLst>
          <a:path path="rect">
            <a:fillToRect l="50000" t="50000" r="50000" b="50000"/>
          </a:path>
        </a:gradFill>
      </a:fillStyleLst>
      <a:lnStyleLst>
        <a:ln w="6350">
          <a:solidFill>
            <a:schemeClr val="phClr">
              <a:shade val="95000"/>
              <a:satMod val="105000"/>
            </a:schemeClr>
          </a:solidFill>
          <a:prstDash val="solid"/>
        </a:ln>
        <a:ln w="48000">
          <a:solidFill>
            <a:schemeClr val="phClr"/>
          </a:solidFill>
          <a:prstDash val="solid"/>
        </a:ln>
        <a:ln w="48500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20000" t="20000" r="20000" b="2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90000"/>
                <a:satMod val="200000"/>
                <a:alpha val="80000"/>
              </a:schemeClr>
            </a:gs>
          </a:gsLst>
          <a:path path="rect">
            <a:fillToRect l="5000" t="5000" r="5000" b="5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32</TotalTime>
  <Words>1569</Words>
  <Application>Microsoft Office PowerPoint</Application>
  <DocSecurity>0</DocSecurity>
  <PresentationFormat>宽屏</PresentationFormat>
  <Paragraphs>227</Paragraphs>
  <Slides>24</Slides>
  <Notes>24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0" baseType="lpstr">
      <vt:lpstr>Arial</vt:lpstr>
      <vt:lpstr>Courier New</vt:lpstr>
      <vt:lpstr>Helvetica</vt:lpstr>
      <vt:lpstr>Segoe UI Historic</vt:lpstr>
      <vt:lpstr>Wingdings</vt:lpstr>
      <vt:lpstr>Academic Literature 16x9</vt:lpstr>
      <vt:lpstr>Multimodal Sensing-Assisted User Association
and Tracking in Vehicular Networks</vt:lpstr>
      <vt:lpstr>V2I Beam Alignment</vt:lpstr>
      <vt:lpstr>Target-to-User Association</vt:lpstr>
      <vt:lpstr>Research Objectives and Contributions</vt:lpstr>
      <vt:lpstr>System Model</vt:lpstr>
      <vt:lpstr>Network and Sensing Model</vt:lpstr>
      <vt:lpstr>Communication and Rate Model</vt:lpstr>
      <vt:lpstr>Design Requirements</vt:lpstr>
      <vt:lpstr>Proposed Framework</vt:lpstr>
      <vt:lpstr>DMSA-BM Architecture</vt:lpstr>
      <vt:lpstr>Cross-Node Fusion</vt:lpstr>
      <vt:lpstr>Multimodal Fusion</vt:lpstr>
      <vt:lpstr>Joint Detection and Beam Prediction</vt:lpstr>
      <vt:lpstr>IMM-Based Tracking</vt:lpstr>
      <vt:lpstr>Initial Target-to-User Association</vt:lpstr>
      <vt:lpstr>Candidate Beam Selection</vt:lpstr>
      <vt:lpstr>Algorithm Summary</vt:lpstr>
      <vt:lpstr>Experimental Evaluation</vt:lpstr>
      <vt:lpstr>Experimental Setup</vt:lpstr>
      <vt:lpstr>Perception and Beam Prediction</vt:lpstr>
      <vt:lpstr>Cooperative Sensing Nodes</vt:lpstr>
      <vt:lpstr>Ablation and Tracking Results</vt:lpstr>
      <vt:lpstr>Conclusion</vt:lpstr>
      <vt:lpstr>Conclusions and Future Work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Yifeng YUAN</cp:lastModifiedBy>
  <cp:revision>5</cp:revision>
  <dcterms:created xsi:type="dcterms:W3CDTF">2026-07-16T16:49:23Z</dcterms:created>
  <dcterms:modified xsi:type="dcterms:W3CDTF">2026-07-17T05:46:01Z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1.0.136</vt:lpwstr>
  </op:property>
  <op:property fmtid="{D5CDD505-2E9C-101B-9397-08002B2CF9AE}" pid="3" name="OfficeCLI.LastModified">
    <vt:lpwstr xmlns:vt="http://schemas.openxmlformats.org/officeDocument/2006/docPropsVTypes">2026-07-17T07:36:59Z</vt:lpwstr>
  </op:property>
</op:Properties>
</file>