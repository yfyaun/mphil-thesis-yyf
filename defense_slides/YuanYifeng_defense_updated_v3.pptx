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1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2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3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4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2c662e956740b3" /><Relationship Type="http://schemas.openxmlformats.org/officeDocument/2006/relationships/extended-properties" Target="/docProps/app.xml" Id="Rc8cbc312c7c34744" /><Relationship Type="http://schemas.openxmlformats.org/officeDocument/2006/relationships/officeDocument" Target="/ppt/presentation.xml" Id="Rd7e8033249d94bb7" /><Relationship Type="http://schemas.openxmlformats.org/officeDocument/2006/relationships/custom-properties" Target="/docProps/custom.xml" Id="R2cf86f27f3484c0b" /></Relationships>
</file>

<file path=ppt/presentation.xml><?xml version="1.0" encoding="utf-8"?>
<p:presentation xmlns:r="http://schemas.openxmlformats.org/officeDocument/2006/relationships" xmlns:a="http://schemas.openxmlformats.org/drawingml/2006/main" xmlns:p="http://schemas.openxmlformats.org/presentationml/2006/main">
  <p:sldMasterIdLst>
    <p:sldMasterId xmlns:r="http://schemas.openxmlformats.org/officeDocument/2006/relationships" id="2147483648" r:id="R121768fb16fb4e0a"/>
  </p:sldMasterIdLst>
  <p:notesMasterIdLst>
    <p:notesMasterId xmlns:r="http://schemas.openxmlformats.org/officeDocument/2006/relationships" r:id="R4cef61d9d9dd4736"/>
  </p:notesMasterIdLst>
  <p:sldIdLst>
    <p:sldId xmlns:r="http://schemas.openxmlformats.org/officeDocument/2006/relationships" id="256" r:id="R38650aa549f640e1"/>
    <p:sldId xmlns:r="http://schemas.openxmlformats.org/officeDocument/2006/relationships" id="257" r:id="Re7ac18bc88c446fe"/>
    <p:sldId xmlns:r="http://schemas.openxmlformats.org/officeDocument/2006/relationships" id="258" r:id="R611765dc039940fa"/>
    <p:sldId xmlns:r="http://schemas.openxmlformats.org/officeDocument/2006/relationships" id="259" r:id="Rfe9fd25fa4084746"/>
    <p:sldId xmlns:r="http://schemas.openxmlformats.org/officeDocument/2006/relationships" id="260" r:id="R19d5158e5ccd4840"/>
    <p:sldId xmlns:r="http://schemas.openxmlformats.org/officeDocument/2006/relationships" id="261" r:id="R7eb67c11409f4764"/>
    <p:sldId xmlns:r="http://schemas.openxmlformats.org/officeDocument/2006/relationships" id="262" r:id="Rebbb0a58effc4b49"/>
    <p:sldId xmlns:r="http://schemas.openxmlformats.org/officeDocument/2006/relationships" id="263" r:id="Rcff8191b3e8744bc"/>
    <p:sldId xmlns:r="http://schemas.openxmlformats.org/officeDocument/2006/relationships" id="264" r:id="R488e0f522378400b"/>
    <p:sldId xmlns:r="http://schemas.openxmlformats.org/officeDocument/2006/relationships" id="265" r:id="Rfade7fd4bd004032"/>
    <p:sldId xmlns:r="http://schemas.openxmlformats.org/officeDocument/2006/relationships" id="266" r:id="R1e3403f429f64dd9"/>
    <p:sldId xmlns:r="http://schemas.openxmlformats.org/officeDocument/2006/relationships" id="267" r:id="R77c9add0d9984988"/>
    <p:sldId xmlns:r="http://schemas.openxmlformats.org/officeDocument/2006/relationships" id="268" r:id="R3462f29c64274937"/>
    <p:sldId xmlns:r="http://schemas.openxmlformats.org/officeDocument/2006/relationships" id="269" r:id="R81a9927e1f9e40fc"/>
    <p:sldId xmlns:r="http://schemas.openxmlformats.org/officeDocument/2006/relationships" id="270" r:id="R8da4c2a8c94c4966"/>
    <p:sldId xmlns:r="http://schemas.openxmlformats.org/officeDocument/2006/relationships" id="271" r:id="Raa43a4e653724cde"/>
    <p:sldId xmlns:r="http://schemas.openxmlformats.org/officeDocument/2006/relationships" id="272" r:id="R8be0797d793a4cc5"/>
    <p:sldId xmlns:r="http://schemas.openxmlformats.org/officeDocument/2006/relationships" id="273" r:id="R782188d709274730"/>
    <p:sldId xmlns:r="http://schemas.openxmlformats.org/officeDocument/2006/relationships" id="274" r:id="R445be2928c914fbc"/>
    <p:sldId xmlns:r="http://schemas.openxmlformats.org/officeDocument/2006/relationships" id="275" r:id="R200291d6c8fe4ffc"/>
    <p:sldId xmlns:r="http://schemas.openxmlformats.org/officeDocument/2006/relationships" id="276" r:id="R0a0a3bea43ad47d4"/>
    <p:sldId xmlns:r="http://schemas.openxmlformats.org/officeDocument/2006/relationships" id="277" r:id="Rcd8db5bc06884fe4"/>
    <p:sldId xmlns:r="http://schemas.openxmlformats.org/officeDocument/2006/relationships" id="278" r:id="Rc1f77a2826b543fc"/>
    <p:sldId xmlns:r="http://schemas.openxmlformats.org/officeDocument/2006/relationships" id="279" r:id="Re26d69378e744c60"/>
    <p:sldId xmlns:r="http://schemas.openxmlformats.org/officeDocument/2006/relationships" id="280" r:id="R3d7a6d99e48d4fd7"/>
    <p:sldId xmlns:r="http://schemas.openxmlformats.org/officeDocument/2006/relationships" id="281" r:id="R7f43f705595c40ee"/>
    <p:sldId xmlns:r="http://schemas.openxmlformats.org/officeDocument/2006/relationships" id="282" r:id="R67cb5cba32ab4869"/>
    <p:sldId xmlns:r="http://schemas.openxmlformats.org/officeDocument/2006/relationships" id="283" r:id="R4ea41586f005419c"/>
    <p:sldId xmlns:r="http://schemas.openxmlformats.org/officeDocument/2006/relationships" id="284" r:id="R6260aefc0b3d4475"/>
    <p:sldId xmlns:r="http://schemas.openxmlformats.org/officeDocument/2006/relationships" id="285" r:id="R5772a378986048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928f282f6f4034" /><Relationship Type="http://schemas.openxmlformats.org/officeDocument/2006/relationships/slideMaster" Target="/ppt/slideMasters/slideMaster1.xml" Id="R121768fb16fb4e0a" /><Relationship Type="http://schemas.openxmlformats.org/officeDocument/2006/relationships/notesMaster" Target="/ppt/notesMasters/notesMaster1.xml" Id="R4cef61d9d9dd4736" /><Relationship Type="http://schemas.openxmlformats.org/officeDocument/2006/relationships/presProps" Target="/ppt/presProps.xml" Id="R63005b2c79274968" /><Relationship Type="http://schemas.openxmlformats.org/officeDocument/2006/relationships/viewProps" Target="/ppt/viewProps.xml" Id="R34eb4ac4587e4d0f" /><Relationship Type="http://schemas.openxmlformats.org/officeDocument/2006/relationships/tableStyles" Target="/ppt/tableStyles.xml" Id="R79f21de04deb41ba" /><Relationship Type="http://schemas.openxmlformats.org/officeDocument/2006/relationships/slide" Target="/ppt/slides/slide1.xml" Id="R38650aa549f640e1" /><Relationship Type="http://schemas.openxmlformats.org/officeDocument/2006/relationships/slide" Target="/ppt/slides/slide2.xml" Id="Re7ac18bc88c446fe" /><Relationship Type="http://schemas.openxmlformats.org/officeDocument/2006/relationships/slide" Target="/ppt/slides/slide3.xml" Id="R611765dc039940fa" /><Relationship Type="http://schemas.openxmlformats.org/officeDocument/2006/relationships/slide" Target="/ppt/slides/slide4.xml" Id="Rfe9fd25fa4084746" /><Relationship Type="http://schemas.openxmlformats.org/officeDocument/2006/relationships/slide" Target="/ppt/slides/slide5.xml" Id="R19d5158e5ccd4840" /><Relationship Type="http://schemas.openxmlformats.org/officeDocument/2006/relationships/slide" Target="/ppt/slides/slide6.xml" Id="R7eb67c11409f4764" /><Relationship Type="http://schemas.openxmlformats.org/officeDocument/2006/relationships/slide" Target="/ppt/slides/slide7.xml" Id="Rebbb0a58effc4b49" /><Relationship Type="http://schemas.openxmlformats.org/officeDocument/2006/relationships/slide" Target="/ppt/slides/slide8.xml" Id="Rcff8191b3e8744bc" /><Relationship Type="http://schemas.openxmlformats.org/officeDocument/2006/relationships/slide" Target="/ppt/slides/slide9.xml" Id="R488e0f522378400b" /><Relationship Type="http://schemas.openxmlformats.org/officeDocument/2006/relationships/slide" Target="/ppt/slides/slide10.xml" Id="Rfade7fd4bd004032" /><Relationship Type="http://schemas.openxmlformats.org/officeDocument/2006/relationships/slide" Target="/ppt/slides/slide11.xml" Id="R1e3403f429f64dd9" /><Relationship Type="http://schemas.openxmlformats.org/officeDocument/2006/relationships/slide" Target="/ppt/slides/slide12.xml" Id="R77c9add0d9984988" /><Relationship Type="http://schemas.openxmlformats.org/officeDocument/2006/relationships/slide" Target="/ppt/slides/slide13.xml" Id="R3462f29c64274937" /><Relationship Type="http://schemas.openxmlformats.org/officeDocument/2006/relationships/slide" Target="/ppt/slides/slide14.xml" Id="R81a9927e1f9e40fc" /><Relationship Type="http://schemas.openxmlformats.org/officeDocument/2006/relationships/slide" Target="/ppt/slides/slide15.xml" Id="R8da4c2a8c94c4966" /><Relationship Type="http://schemas.openxmlformats.org/officeDocument/2006/relationships/slide" Target="/ppt/slides/slide16.xml" Id="Raa43a4e653724cde" /><Relationship Type="http://schemas.openxmlformats.org/officeDocument/2006/relationships/slide" Target="/ppt/slides/slide17.xml" Id="R8be0797d793a4cc5" /><Relationship Type="http://schemas.openxmlformats.org/officeDocument/2006/relationships/slide" Target="/ppt/slides/slide18.xml" Id="R782188d709274730" /><Relationship Type="http://schemas.openxmlformats.org/officeDocument/2006/relationships/slide" Target="/ppt/slides/slide19.xml" Id="R445be2928c914fbc" /><Relationship Type="http://schemas.openxmlformats.org/officeDocument/2006/relationships/slide" Target="/ppt/slides/slide20.xml" Id="R200291d6c8fe4ffc" /><Relationship Type="http://schemas.openxmlformats.org/officeDocument/2006/relationships/slide" Target="/ppt/slides/slide21.xml" Id="R0a0a3bea43ad47d4" /><Relationship Type="http://schemas.openxmlformats.org/officeDocument/2006/relationships/slide" Target="/ppt/slides/slide22.xml" Id="Rcd8db5bc06884fe4" /><Relationship Type="http://schemas.openxmlformats.org/officeDocument/2006/relationships/slide" Target="/ppt/slides/slide23.xml" Id="Rc1f77a2826b543fc" /><Relationship Type="http://schemas.openxmlformats.org/officeDocument/2006/relationships/slide" Target="/ppt/slides/slide24.xml" Id="Re26d69378e744c60" /><Relationship Type="http://schemas.openxmlformats.org/officeDocument/2006/relationships/slide" Target="/ppt/slides/slide25.xml" Id="R3d7a6d99e48d4fd7" /><Relationship Type="http://schemas.openxmlformats.org/officeDocument/2006/relationships/slide" Target="/ppt/slides/slide26.xml" Id="R7f43f705595c40ee" /><Relationship Type="http://schemas.openxmlformats.org/officeDocument/2006/relationships/slide" Target="/ppt/slides/slide27.xml" Id="R67cb5cba32ab4869" /><Relationship Type="http://schemas.openxmlformats.org/officeDocument/2006/relationships/slide" Target="/ppt/slides/slide28.xml" Id="R4ea41586f005419c" /><Relationship Type="http://schemas.openxmlformats.org/officeDocument/2006/relationships/slide" Target="/ppt/slides/slide29.xml" Id="R6260aefc0b3d4475" /><Relationship Type="http://schemas.openxmlformats.org/officeDocument/2006/relationships/slide" Target="/ppt/slides/slide30.xml" Id="R5772a378986048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80a37e3fa940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Academic Literature 16x9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自定义 4">
      <a:majorFont>
        <a:latin typeface="Arial"/>
        <a:ea typeface="宋体"/>
        <a:cs typeface=""/>
      </a:majorFont>
      <a:minorFont>
        <a:latin typeface="Helvetica"/>
        <a:ea typeface="宋体"/>
        <a:cs typeface="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48000">
          <a:solidFill>
            <a:schemeClr val="phClr"/>
          </a:solidFill>
          <a:prstDash val="solid"/>
        </a:ln>
        <a:ln w="48500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f23b49708043c5" /><Relationship Type="http://schemas.openxmlformats.org/officeDocument/2006/relationships/notesMaster" Target="/ppt/notesMasters/notesMaster1.xml" Id="Rc6a55711704d41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97730f55b848b0" /><Relationship Type="http://schemas.openxmlformats.org/officeDocument/2006/relationships/notesMaster" Target="/ppt/notesMasters/notesMaster1.xml" Id="R57a209174cb741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ba5377dc8d488c" /><Relationship Type="http://schemas.openxmlformats.org/officeDocument/2006/relationships/notesMaster" Target="/ppt/notesMasters/notesMaster1.xml" Id="R87579907befe4e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27956cc64b4322" /><Relationship Type="http://schemas.openxmlformats.org/officeDocument/2006/relationships/notesMaster" Target="/ppt/notesMasters/notesMaster1.xml" Id="R3afb197743bc4a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acfde5eb644c64" /><Relationship Type="http://schemas.openxmlformats.org/officeDocument/2006/relationships/notesMaster" Target="/ppt/notesMasters/notesMaster1.xml" Id="R6614f5a12b3b43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aaab89d02d4f17" /><Relationship Type="http://schemas.openxmlformats.org/officeDocument/2006/relationships/notesMaster" Target="/ppt/notesMasters/notesMaster1.xml" Id="R49402fadfe1048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428f521bbb4ef0" /><Relationship Type="http://schemas.openxmlformats.org/officeDocument/2006/relationships/notesMaster" Target="/ppt/notesMasters/notesMaster1.xml" Id="R380105343a9b48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e84e88f0924066" /><Relationship Type="http://schemas.openxmlformats.org/officeDocument/2006/relationships/notesMaster" Target="/ppt/notesMasters/notesMaster1.xml" Id="Rc78092929fc546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12a08166264bd0" /><Relationship Type="http://schemas.openxmlformats.org/officeDocument/2006/relationships/notesMaster" Target="/ppt/notesMasters/notesMaster1.xml" Id="Rc06420a1829246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b8f159d2ad40b9" /><Relationship Type="http://schemas.openxmlformats.org/officeDocument/2006/relationships/notesMaster" Target="/ppt/notesMasters/notesMaster1.xml" Id="R9c2925a6250d4b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b72852ffcb481e" /><Relationship Type="http://schemas.openxmlformats.org/officeDocument/2006/relationships/notesMaster" Target="/ppt/notesMasters/notesMaster1.xml" Id="Rc6a24ce4874d42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9af2e4ae93410a" /><Relationship Type="http://schemas.openxmlformats.org/officeDocument/2006/relationships/notesMaster" Target="/ppt/notesMasters/notesMaster1.xml" Id="R6f7d6c2a58d74d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0e77f97f524954" /><Relationship Type="http://schemas.openxmlformats.org/officeDocument/2006/relationships/notesMaster" Target="/ppt/notesMasters/notesMaster1.xml" Id="R2751f1f20bf34a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9065845c7940e3" /><Relationship Type="http://schemas.openxmlformats.org/officeDocument/2006/relationships/notesMaster" Target="/ppt/notesMasters/notesMaster1.xml" Id="R9f09c74677304a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6320694f494754" /><Relationship Type="http://schemas.openxmlformats.org/officeDocument/2006/relationships/notesMaster" Target="/ppt/notesMasters/notesMaster1.xml" Id="Rda70bcb3d3ef4be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8d5abddbfa45f3" /><Relationship Type="http://schemas.openxmlformats.org/officeDocument/2006/relationships/notesMaster" Target="/ppt/notesMasters/notesMaster1.xml" Id="R77fda0cddc65461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a74e006dcc4e7c" /><Relationship Type="http://schemas.openxmlformats.org/officeDocument/2006/relationships/notesMaster" Target="/ppt/notesMasters/notesMaster1.xml" Id="R21737a22b32f47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88fac25ccc4d29" /><Relationship Type="http://schemas.openxmlformats.org/officeDocument/2006/relationships/notesMaster" Target="/ppt/notesMasters/notesMaster1.xml" Id="Re03241ac508643b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e3a07131ac24c9f" /><Relationship Type="http://schemas.openxmlformats.org/officeDocument/2006/relationships/notesMaster" Target="/ppt/notesMasters/notesMaster1.xml" Id="R214fbd77b3814fa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bcfc77b1904573" /><Relationship Type="http://schemas.openxmlformats.org/officeDocument/2006/relationships/notesMaster" Target="/ppt/notesMasters/notesMaster1.xml" Id="R3769e44336044df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8f8d34149745f1" /><Relationship Type="http://schemas.openxmlformats.org/officeDocument/2006/relationships/notesMaster" Target="/ppt/notesMasters/notesMaster1.xml" Id="R16430df7fb5d4aa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87a2d6f1f2c47e4" /><Relationship Type="http://schemas.openxmlformats.org/officeDocument/2006/relationships/notesMaster" Target="/ppt/notesMasters/notesMaster1.xml" Id="R83b5c0af0a9c498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72201a2cb2648af" /><Relationship Type="http://schemas.openxmlformats.org/officeDocument/2006/relationships/notesMaster" Target="/ppt/notesMasters/notesMaster1.xml" Id="Rc064972cbc86470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f5d0ca424a84fb7" /><Relationship Type="http://schemas.openxmlformats.org/officeDocument/2006/relationships/notesMaster" Target="/ppt/notesMasters/notesMaster1.xml" Id="R731f3444231e4fb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b134566dd554b0b" /><Relationship Type="http://schemas.openxmlformats.org/officeDocument/2006/relationships/notesMaster" Target="/ppt/notesMasters/notesMaster1.xml" Id="Ra01a3d2584c94d7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967cf11ebfe44b3" /><Relationship Type="http://schemas.openxmlformats.org/officeDocument/2006/relationships/notesMaster" Target="/ppt/notesMasters/notesMaster1.xml" Id="R2e632d26a76e465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ce8af58f8bd4ae1" /><Relationship Type="http://schemas.openxmlformats.org/officeDocument/2006/relationships/notesMaster" Target="/ppt/notesMasters/notesMaster1.xml" Id="R56688dcdeed446f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f153c1a63394c5b" /><Relationship Type="http://schemas.openxmlformats.org/officeDocument/2006/relationships/notesMaster" Target="/ppt/notesMasters/notesMaster1.xml" Id="R4244941bc069459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92a5ecaf0bf4287" /><Relationship Type="http://schemas.openxmlformats.org/officeDocument/2006/relationships/notesMaster" Target="/ppt/notesMasters/notesMaster1.xml" Id="R3f2560e8c9394d6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5264de3936f49b6" /><Relationship Type="http://schemas.openxmlformats.org/officeDocument/2006/relationships/notesMaster" Target="/ppt/notesMasters/notesMaster1.xml" Id="Rf7d258953bec4b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thesis question: when can roadside sensing safely reduce beam measurements for the intended V2I user?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from the application setting. Vehicular networks must support high-throughput, low-latency, reliable roadside connectivity despite fast motion and changing geometry.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narrow beams are valuable but require recurrent SSB and CSI-RS actions. The tension is reliable alignment versus measurement overhead.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common single-candidate formulation: once the physical target is known, multimodal scene observations can produce a short beam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Now remove the single-target assumption. With multiple visible vehicles, the prediction must be conditioned on the intended VUE, often using location or another side-information cue.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the domain mismatch: perception names physical targets, while communication schedules VUE identities. This slide defines the association problem; it does not yet propose the tracker.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three contributions in order: joint BEV perception and beam prediction, measurement-assisted association and tracking, then end-to-end communication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to the system model. The next three slides define what information is available and what a valid beam-management action must respect.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Define the local architecture before introducing sensing equations. The target BS serves the VUE set U_b[n] and makes every communication decision. Neighbouring nodes only add camera viewpoints. The key distinction is that communication identifiers refer to VUEs, whereas sensing observes unlabelled physical targets; all evidence is aligned in the target-BS BEV frame.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Follow the physical sensing chain. Known ISAC symbols are transmitted through a sensing beam. The echo consists of static and vehicle-related dynamic components. After estimating and subtracting the static background, range-angle-Doppler processing and CFAR retain the cells that form the BS-local point cloud P_b,n.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First establish the multi-user downlink and its SINR. CSI-RS beams are transmitted from the finite codebook; for every measured candidate the VUE estimates the beam-domain equivalent channel and reports a quality value. This is real measurement evidence—sensing does not replace it or directly declare a service beam.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The sensing-assisted mechanism outputs a CSI-RS candidate set, not a service beam. The VUE selects k-star from the measured candidates; the selected RF beams and beam-domain feedback then form the hybrid RZF precoder. Candidate width changes both the CSI-RS resource cost and the data fraction, so effective rate captures the quality–overhead trade-off.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requirements as guardrails: target observability, association correctness, and conservative fallback when the evidence is insufficient.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DMSA-BM as the framework that connects perception evidence to a user-specific candidate measurement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through the architecture: distributed sensing, BEV fusion, joint target output, tracking, association, and candidate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neighbouring viewpoints improve observability without creating additional communication cells. All evidence is fused in the target-BS BEV frame.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local camera and ISAC fusion as complementary inputs before cross-node BEV fusion.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Highlight the joint output: vehicle detections and a beam posterior for every detected target, rather than a beam chosen without a physical 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tracker as a physical-target state estimator, not a VUE-identity estimator. Contrast the CV and CT state vectors, then explain that innovation likelihood updates the model posterior. Use the bottom diagram only to orient the IMM cycle. Predicted-only tracks preserve continuity but cannot reduce the CSI-RS scan.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equations in order: beam-measurement compatibility cost, partial one-to-one assignment with an unmatched option, and cost-plus-margin acceptance. Stress that the procedure uses a conventional VUE-indexed measurement and a current track posterior, without user location or ground-truth identities.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candidate reduction requires both an accepted target-to-user association and a current observation. A predicted-only track makes the gate zero and triggers conventional SSB-guided refinement. The posterior ranks measurement candidates only; the service beam remains selected from measured CSI-RS quality.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Summarise the full decision loop and identify the guarded interface between sensing evidence and CSI-RS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from method to evidence. The question is whether the complete chain improves the stated communication operating 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Briefly state the scenario, modalities, channel and protocol assumptions, and the metrics reported on the following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perception and per-target beam-prediction results, distinguishing detection quality from communication-level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contribution of cooperative sensing nodes under the reported viewpoints and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read the communication result directly: DMSA-BM combines the lowest reported CSI-RS overhead with the highest reported effective user rate among the compared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 ablation and tracker comparisons cautiously: the result identifies the reported operating point rather than a universal ordering.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Recap what has been established before the final slide: the association gate is the bridge between target-level sensing and VUE-specific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central conclusion and the stated future-work directions, then pause for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f1d77f5864a71" /><Relationship Type="http://schemas.openxmlformats.org/officeDocument/2006/relationships/image" Target="/ppt/media/image.png" Id="R348fd86adc3d4669" /><Relationship Type="http://schemas.openxmlformats.org/officeDocument/2006/relationships/image" Target="/ppt/media/image.jpeg" Id="R74138e2599be4f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4c6eb88be48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406d047664fa6" /><Relationship Type="http://schemas.openxmlformats.org/officeDocument/2006/relationships/image" Target="/ppt/media/image.png" Id="Rd53de597b22f40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73f8d8819449e6" /><Relationship Type="http://schemas.openxmlformats.org/officeDocument/2006/relationships/image" Target="/ppt/media/image.png" Id="Ra3014906331043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c1cd9b78b45d0" /><Relationship Type="http://schemas.openxmlformats.org/officeDocument/2006/relationships/image" Target="/ppt/media/image.png" Id="R1ae29939ccf74a9b" /></Relationships>
</file>

<file path=ppt/slideLayouts/slideLayout1.xml><?xml version="1.0" encoding="utf-8"?>
<p:sldLayout xmlns:p="http://schemas.openxmlformats.org/presentationml/2006/main" type="title">
  <p:cSld name="标题幻灯片">
    <p:bg>
      <p:bgPr>
        <a:gradFill xmlns:a="http://schemas.openxmlformats.org/drawingml/2006/main">
          <a:gsLst>
            <a:gs pos="0">
              <a:schemeClr val="accent1">
                <a:lumMod val="0"/>
                <a:lumOff val="100000"/>
                <a:alpha val="38000"/>
              </a:schemeClr>
            </a:gs>
            <a:gs pos="46000">
              <a:srgbClr val="00B08C">
                <a:alpha val="18000"/>
              </a:srgbClr>
            </a:gs>
            <a:gs pos="100000">
              <a:schemeClr val="accent1">
                <a:lumMod val="45000"/>
                <a:lumOff val="55000"/>
                <a:alpha val="40000"/>
              </a:schemeClr>
            </a:gs>
            <a:gs pos="75000">
              <a:schemeClr val="accent1">
                <a:lumMod val="30000"/>
                <a:lumOff val="70000"/>
                <a:alpha val="38000"/>
              </a:schemeClr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fd86adc3d4669">
            <a:alphaModFix amt="14000"/>
          </a:blip>
          <a:srcRect xmlns:a="http://schemas.openxmlformats.org/drawingml/2006/main" l="0" t="0" r="90374" b="0"/>
          <a:stretch xmlns:a="http://schemas.openxmlformats.org/drawingml/2006/main"/>
        </p:blipFill>
        <p:spPr>
          <a:xfrm xmlns:a="http://schemas.openxmlformats.org/drawingml/2006/main">
            <a:off x="4701908" y="1689194"/>
            <a:ext cx="3107159" cy="4487091"/>
          </a:xfrm>
          <a:prstGeom xmlns:a="http://schemas.openxmlformats.org/drawingml/2006/main" prst="rect">
            <a:avLst/>
          </a:prstGeom>
        </p:spPr>
      </p:pic>
      <p:pic>
        <p:nvPicPr>
          <p:cNvPr id="1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38e2599be4fc6">
            <a:alphaModFix amt="21000"/>
          </a:blip>
          <a:srcRect xmlns:a="http://schemas.openxmlformats.org/drawingml/2006/main" l="8" t="48319" r="92" b="3328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49715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F718B08-A401-2718-2E19-F1205C5CFE1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CEB920E-E52B-E040-5995-1451BAAAB1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>
                <a:latin typeface="Segoe UI Historic"/>
                <a:ea typeface="Segoe UI Historic"/>
                <a:cs typeface="Segoe UI Historic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pic>
        <p:nvPicPr>
          <p:cNvPr id="18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fd86adc3d4669"/>
          <a:srcRect xmlns:a="http://schemas.openxmlformats.org/drawingml/2006/main" l="0" t="0" r="46366" b="0"/>
          <a:stretch xmlns:a="http://schemas.openxmlformats.org/drawingml/2006/main"/>
        </p:blipFill>
        <p:spPr>
          <a:xfrm xmlns:a="http://schemas.openxmlformats.org/drawingml/2006/main">
            <a:off x="208020" y="261391"/>
            <a:ext cx="2346921" cy="596250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E5389A7-8BF4-0AB3-8836-589FC16E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24" y="949717"/>
            <a:ext cx="11524876" cy="54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8700642-6B17-FC45-B6F6-CEF32BDB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49716"/>
            <a:ext cx="667125" cy="54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fd86adc3d4669"/>
          <a:srcRect xmlns:a="http://schemas.openxmlformats.org/drawingml/2006/main" l="58346" t="0" r="0" b="0"/>
          <a:stretch xmlns:a="http://schemas.openxmlformats.org/drawingml/2006/main"/>
        </p:blipFill>
        <p:spPr>
          <a:xfrm xmlns:a="http://schemas.openxmlformats.org/drawingml/2006/main">
            <a:off x="10282518" y="261391"/>
            <a:ext cx="1822746" cy="59625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58CEFA1-4F38-A339-D944-82817049D2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F6A6F2-D14C-4131-92F5-EBAC01F52C2C}" type="datetime3">
              <a:t>2026年7月17日星期五</a:t>
            </a:fld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DA54AD56-C53F-564B-2B64-BEDF6F1DDB17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F54DE5-C571-48E8-A5BC-B369434E2F4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0C16161-9FFB-3348-BDA5-116A2457EB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79BA0B-69DA-4385-8551-E5A78E7330E4}" type="datetime3">
              <a:t>2026年7月17日星期五</a:t>
            </a:fld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E4A1CF7-76F0-924F-880F-9F03550538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0FF54DE5-C571-48E8-A5BC-B369434E2F44}" type="slidenum">
              <a:t>‹#›</a:t>
            </a:fld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2352F509-7AAE-F945-8668-71B46ABAB69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11188" y="1025525"/>
            <a:ext cx="10966450" cy="5375275"/>
          </a:xfrm>
        </p:spPr>
        <p:txBody>
          <a:bodyPr xmlns:a="http://schemas.openxmlformats.org/drawingml/2006/main"/>
          <a:lstStyle xmlns:a="http://schemas.openxmlformats.org/drawingml/2006/main">
            <a:lvl1pPr marL="228600" indent="-228600">
              <a:buSzPct val="80000"/>
              <a:buFont typeface="Wingdings"/>
              <a:buChar char="u"/>
              <a:defRPr sz="23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rgbClr val="00B0F0"/>
              </a:buClr>
              <a:buSzPct val="80000"/>
              <a:buFont typeface="Wingdings"/>
              <a:buChar char="u"/>
              <a:defRPr sz="20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7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5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FF0000"/>
              </a:buClr>
              <a:buSzPct val="80000"/>
              <a:buFont typeface="Wingdings"/>
              <a:buChar char="u"/>
              <a:defRPr sz="1500"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 Edit Master text styles</a:t>
            </a:r>
          </a:p>
          <a:p xmlns:a="http://schemas.openxmlformats.org/drawingml/2006/main">
            <a:pPr>
              <a:buNone/>
            </a:pPr>
            <a:r>
              <a:t> Second level</a:t>
            </a:r>
          </a:p>
          <a:p xmlns:a="http://schemas.openxmlformats.org/drawingml/2006/main">
            <a:pPr>
              <a:buNone/>
            </a:pPr>
            <a:r>
              <a:t> 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36475C6-6A95-C042-840C-DC90F119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44" y="6470248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B18FBE7-3AE4-7E45-9BD2-DB4F3541B9D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17383" y="310337"/>
            <a:ext cx="10865126" cy="650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b">
            <a:normAutofit/>
          </a:bodyPr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 Click To Edit Master Title Style</a:t>
            </a:r>
          </a:p>
        </p:txBody>
      </p:sp>
      <p:sp>
        <p:nvSpPr>
          <p:cNvPr id="17" name="Freeform 7">
            <a:extLst xmlns:a="http://schemas.openxmlformats.org/drawingml/2006/main">
              <a:ext uri="{FF2B5EF4-FFF2-40B4-BE49-F238E27FC236}">
                <a16:creationId xmlns:a16="http://schemas.microsoft.com/office/drawing/2014/main" id="{5FDDC3AC-43D5-334B-92C3-FBAE67D8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27" y="296125"/>
            <a:ext cx="10965590" cy="706206"/>
          </a:xfrm>
          <a:custGeom xmlns:a="http://schemas.openxmlformats.org/drawingml/2006/main"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ln xmlns:a="http://schemas.openxmlformats.org/drawingml/2006/main">
            <a:solidFill>
              <a:schemeClr val="accent2">
                <a:lumMod val="50000"/>
              </a:schemeClr>
            </a:solidFill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1">
            <a:schemeClr val="dk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矩形 44">
            <a:extLst xmlns:a="http://schemas.openxmlformats.org/drawingml/2006/main">
              <a:ext uri="{FF2B5EF4-FFF2-40B4-BE49-F238E27FC236}">
                <a16:creationId xmlns:a16="http://schemas.microsoft.com/office/drawing/2014/main" id="{69B25CBF-12A0-7B4F-9E26-AF0EF7DF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026" y="6383645"/>
            <a:ext cx="1096725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de597b22f40a4"/>
          <a:srcRect xmlns:a="http://schemas.openxmlformats.org/drawingml/2006/main" l="0" t="0" r="90374" b="0"/>
          <a:stretch xmlns:a="http://schemas.openxmlformats.org/drawingml/2006/main"/>
        </p:blipFill>
        <p:spPr>
          <a:xfrm xmlns:a="http://schemas.openxmlformats.org/drawingml/2006/main">
            <a:off x="11161734" y="338860"/>
            <a:ext cx="412883" cy="59625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0396DA-DA61-4724-B756-D20E563AE9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DF5D18-0C97-4B9B-A5F0-23768CA63075}" type="datetime3">
              <a:t>2026年7月17日星期五</a:t>
            </a:fld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4FEF61A-01C0-458C-8906-C2599798C3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0FF54DE5-C571-48E8-A5BC-B369434E2F44}" type="slidenum">
              <a:t>‹#›</a:t>
            </a:fld>
          </a:p>
        </p:txBody>
      </p:sp>
      <p:sp>
        <p:nvSpPr>
          <p:cNvPr id="9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575D938D-D4E2-4422-A904-A576ED91824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10698" y="1041721"/>
            <a:ext cx="5285887" cy="5359079"/>
          </a:xfrm>
        </p:spPr>
        <p:txBody>
          <a:bodyPr xmlns:a="http://schemas.openxmlformats.org/drawingml/2006/main"/>
          <a:lstStyle xmlns:a="http://schemas.openxmlformats.org/drawingml/2006/main">
            <a:lvl1pPr marL="228600" indent="-228600">
              <a:buClr>
                <a:srgbClr val="C00000"/>
              </a:buClr>
              <a:buSzPct val="80000"/>
              <a:buFont typeface="Wingdings"/>
              <a:buChar char="u"/>
              <a:defRPr sz="21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chemeClr val="accent1"/>
              </a:buClr>
              <a:buSzPct val="80000"/>
              <a:buFont typeface="Wingdings"/>
              <a:buChar char="u"/>
              <a:defRPr sz="18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6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4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/>
              <a:buChar char="u"/>
              <a:defRPr sz="1300"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 Edit Master text styles</a:t>
            </a:r>
          </a:p>
          <a:p xmlns:a="http://schemas.openxmlformats.org/drawingml/2006/main">
            <a:pPr>
              <a:buNone/>
            </a:pPr>
            <a:r>
              <a:t> 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50E53E3D-054C-417B-8572-FC5E06257FE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096000" y="1041721"/>
            <a:ext cx="5482035" cy="5359080"/>
          </a:xfrm>
        </p:spPr>
        <p:txBody>
          <a:bodyPr xmlns:a="http://schemas.openxmlformats.org/drawingml/2006/main"/>
          <a:lstStyle xmlns:a="http://schemas.openxmlformats.org/drawingml/2006/main">
            <a:lvl1pPr marL="228600" indent="-228600">
              <a:buClr>
                <a:srgbClr val="C00000"/>
              </a:buClr>
              <a:buSzPct val="80000"/>
              <a:buFont typeface="Wingdings"/>
              <a:buChar char="u"/>
              <a:defRPr sz="21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chemeClr val="accent1"/>
              </a:buClr>
              <a:buSzPct val="80000"/>
              <a:buFont typeface="Wingdings"/>
              <a:buChar char="u"/>
              <a:defRPr sz="18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6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4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/>
              <a:buChar char="u"/>
              <a:defRPr sz="1300"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 Edit Master text styles</a:t>
            </a:r>
          </a:p>
          <a:p xmlns:a="http://schemas.openxmlformats.org/drawingml/2006/main">
            <a:pPr>
              <a:buNone/>
            </a:pPr>
            <a:r>
              <a:t> 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reeform 7">
            <a:extLst xmlns:a="http://schemas.openxmlformats.org/drawingml/2006/main">
              <a:ext uri="{FF2B5EF4-FFF2-40B4-BE49-F238E27FC236}">
                <a16:creationId xmlns:a16="http://schemas.microsoft.com/office/drawing/2014/main" id="{60159807-4D87-3948-8725-95558A30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83" y="296125"/>
            <a:ext cx="10957234" cy="706206"/>
          </a:xfrm>
          <a:custGeom xmlns:a="http://schemas.openxmlformats.org/drawingml/2006/main"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ln xmlns:a="http://schemas.openxmlformats.org/drawingml/2006/main">
            <a:solidFill>
              <a:schemeClr val="accent2">
                <a:lumMod val="50000"/>
              </a:schemeClr>
            </a:solidFill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1">
            <a:schemeClr val="dk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" name="矩形 44">
            <a:extLst xmlns:a="http://schemas.openxmlformats.org/drawingml/2006/main">
              <a:ext uri="{FF2B5EF4-FFF2-40B4-BE49-F238E27FC236}">
                <a16:creationId xmlns:a16="http://schemas.microsoft.com/office/drawing/2014/main" id="{97F3D2F2-2416-2247-B28A-F2AFD297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026" y="6383645"/>
            <a:ext cx="1096725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1490633104363"/>
          <a:srcRect xmlns:a="http://schemas.openxmlformats.org/drawingml/2006/main" l="0" t="0" r="90374" b="0"/>
          <a:stretch xmlns:a="http://schemas.openxmlformats.org/drawingml/2006/main"/>
        </p:blipFill>
        <p:spPr>
          <a:xfrm xmlns:a="http://schemas.openxmlformats.org/drawingml/2006/main">
            <a:off x="11161734" y="338860"/>
            <a:ext cx="412883" cy="596250"/>
          </a:xfrm>
          <a:prstGeom xmlns:a="http://schemas.openxmlformats.org/drawingml/2006/main" prst="rect">
            <a:avLst/>
          </a:prstGeom>
        </p:spPr>
      </p:pic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DEF98DE-59B8-698D-2E48-3138C8A13A2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17383" y="310337"/>
            <a:ext cx="10865125" cy="650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b">
            <a:normAutofit/>
          </a:bodyPr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 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8B951A-4328-4898-8B79-4DD30E09AD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aseline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1D8A88B6-106F-4EA9-92E3-FB2DE653E9D7}" type="datetime3">
              <a:t>2026年7月17日星期五</a:t>
            </a:fld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F2153D-E3AC-4008-9EFF-F85A73E4E7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15352" y="6527381"/>
            <a:ext cx="962683" cy="2780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0FF54DE5-C571-48E8-A5BC-B369434E2F44}" type="slidenum">
              <a:t>‹#›</a:t>
            </a:fld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29939ccf74a9b"/>
          <a:srcRect xmlns:a="http://schemas.openxmlformats.org/drawingml/2006/main" l="0" t="0" r="90374" b="0"/>
          <a:stretch xmlns:a="http://schemas.openxmlformats.org/drawingml/2006/main"/>
        </p:blipFill>
        <p:spPr>
          <a:xfrm xmlns:a="http://schemas.openxmlformats.org/drawingml/2006/main">
            <a:off x="11161734" y="338860"/>
            <a:ext cx="412883" cy="59625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475334d82a4f61" /><Relationship Type="http://schemas.openxmlformats.org/officeDocument/2006/relationships/slideLayout" Target="/ppt/slideLayouts/slideLayout1.xml" Id="Red25370228c04c85" /><Relationship Type="http://schemas.openxmlformats.org/officeDocument/2006/relationships/slideLayout" Target="/ppt/slideLayouts/slideLayout2.xml" Id="R1b98079e02254239" /><Relationship Type="http://schemas.openxmlformats.org/officeDocument/2006/relationships/slideLayout" Target="/ppt/slideLayouts/slideLayout3.xml" Id="R67cd768ac1c644c6" /><Relationship Type="http://schemas.openxmlformats.org/officeDocument/2006/relationships/slideLayout" Target="/ppt/slideLayouts/slideLayout4.xml" Id="Re823934ed04c4944" /><Relationship Type="http://schemas.openxmlformats.org/officeDocument/2006/relationships/slideLayout" Target="/ppt/slideLayouts/slideLayout5.xml" Id="Rfbe6f05599c44cf7" /></Relationships>
</file>

<file path=ppt/slideMasters/slideMaster1.xml><?xml version="1.0" encoding="utf-8"?>
<p:sldMaster xmlns:a="http://schemas.openxmlformats.org/drawingml/2006/main" xmlns:a16="http://schemas.microsoft.com/office/drawing/2014/main" xmlns:r="http://schemas.openxmlformats.org/officeDocument/2006/relationships" xmlns:p15="http://schemas.microsoft.com/office/powerpoint/2012/main" xmlns:p="http://schemas.openxmlformats.org/presentationml/2006/main">
  <p:cSld>
    <p:bg>
      <p:bgPr>
        <a:pattFill xmlns:a="http://schemas.openxmlformats.org/drawingml/2006/main" prst="pct5">
          <a:fgClr>
            <a:schemeClr val="bg1"/>
          </a:fgClr>
          <a:bgClr>
            <a:schemeClr val="bg1"/>
          </a:bgClr>
        </a:patt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64E5973-7667-4205-9901-F95512235B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2371" y="1013674"/>
            <a:ext cx="10967258" cy="52835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 Edit Master text styles</a:t>
            </a:r>
          </a:p>
          <a:p xmlns:a="http://schemas.openxmlformats.org/drawingml/2006/main">
            <a:pPr>
              <a:buNone/>
            </a:pPr>
            <a:r>
              <a:t> Second level</a:t>
            </a:r>
          </a:p>
          <a:p xmlns:a="http://schemas.openxmlformats.org/drawingml/2006/main">
            <a:pPr>
              <a:buNone/>
            </a:pPr>
            <a:r>
              <a:t> 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BE8031-E642-45CC-BAD1-BA3FF313849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0698" y="6530413"/>
            <a:ext cx="1434233" cy="278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67F6A6F2-D14C-4131-92F5-EBAC01F52C2C}" type="datetime3">
              <a:t>2026年7月17日星期五</a:t>
            </a:fld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052FF3-E597-4BE5-AADF-5AABF1E6F7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615352" y="6530413"/>
            <a:ext cx="962683" cy="278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r"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0FF54DE5-C571-48E8-A5BC-B369434E2F44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25370228c04c85"/>
    <p:sldLayoutId xmlns:r="http://schemas.openxmlformats.org/officeDocument/2006/relationships" id="2147483650" r:id="R1b98079e02254239"/>
    <p:sldLayoutId xmlns:r="http://schemas.openxmlformats.org/officeDocument/2006/relationships" id="2147483651" r:id="R67cd768ac1c644c6"/>
    <p:sldLayoutId xmlns:r="http://schemas.openxmlformats.org/officeDocument/2006/relationships" id="2147483652" r:id="Re823934ed04c4944"/>
    <p:sldLayoutId xmlns:r="http://schemas.openxmlformats.org/officeDocument/2006/relationships" id="2147483653" r:id="Rfbe6f05599c44cf7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3600" kern="1200">
          <a:solidFill>
            <a:srgbClr val="0F00CD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800"/>
        </a:spcBef>
        <a:buClr>
          <a:srgbClr val="A40503"/>
        </a:buClr>
        <a:buFont typeface="Wingdings"/>
        <a:buChar char="q"/>
        <a:defRPr sz="24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600"/>
        </a:spcBef>
        <a:buClr>
          <a:srgbClr val="0432FF"/>
        </a:buClr>
        <a:buFont typeface="Wingdings"/>
        <a:buChar char="q"/>
        <a:defRPr sz="21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600"/>
        </a:spcBef>
        <a:buClr>
          <a:schemeClr val="accent1">
            <a:lumMod val="60000"/>
            <a:lumOff val="40000"/>
          </a:schemeClr>
        </a:buClr>
        <a:buFont typeface="Wingdings"/>
        <a:buChar char="Ø"/>
        <a:defRPr sz="18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600"/>
        </a:spcBef>
        <a:buClr>
          <a:schemeClr val="accent5">
            <a:lumMod val="75000"/>
          </a:schemeClr>
        </a:buClr>
        <a:buFont typeface="Courier New"/>
        <a:buChar char="o"/>
        <a:defRPr sz="15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600"/>
        </a:spcBef>
        <a:buFont typeface="Wingdings"/>
        <a:buChar char="§"/>
        <a:defRPr sz="15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xmlns:a="http://schemas.openxmlformats.org/drawingml/2006/main" val="F26B43"/>
          </p15:clr>
        </p15:guide>
        <p15:guide id="2" pos="6984">
          <p15:clr>
            <a:srgbClr xmlns:a="http://schemas.openxmlformats.org/drawingml/2006/main" val="F26B43"/>
          </p15:clr>
        </p15:guide>
        <p15:guide id="3" orient="horz" pos="1008">
          <p15:clr>
            <a:srgbClr xmlns:a="http://schemas.openxmlformats.org/drawingml/2006/main" val="F26B43"/>
          </p15:clr>
        </p15:guide>
        <p15:guide id="4" orient="horz" pos="38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Academic Literature 16x9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自定义 4">
      <a:majorFont>
        <a:latin typeface="Arial"/>
        <a:ea typeface="宋体"/>
        <a:cs typeface=""/>
      </a:majorFont>
      <a:minorFont>
        <a:latin typeface="Helvetica"/>
        <a:ea typeface="宋体"/>
        <a:cs typeface="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48000">
          <a:solidFill>
            <a:schemeClr val="phClr"/>
          </a:solidFill>
          <a:prstDash val="solid"/>
        </a:ln>
        <a:ln w="48500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2f8e4b7b14d7f" /><Relationship Type="http://schemas.openxmlformats.org/officeDocument/2006/relationships/notesSlide" Target="/ppt/notesSlides/notesSlide1.xml" Id="R2217e448685543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b0df7911384cd7" /><Relationship Type="http://schemas.openxmlformats.org/officeDocument/2006/relationships/image" Target="/ppt/media/image2.png" Id="R5ca8739ea1904333" /><Relationship Type="http://schemas.openxmlformats.org/officeDocument/2006/relationships/notesSlide" Target="/ppt/notesSlides/notesSlide2.xml" Id="R0e5cbe050f8d40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e4051c64d7246d2" /><Relationship Type="http://schemas.openxmlformats.org/officeDocument/2006/relationships/notesSlide" Target="/ppt/notesSlides/notesSlide3.xml" Id="Rc9404af6f0f049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7bf0f0e09044cca" /><Relationship Type="http://schemas.openxmlformats.org/officeDocument/2006/relationships/notesSlide" Target="/ppt/notesSlides/notesSlide4.xml" Id="R3370c6e7737543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114a40e6b64328" /><Relationship Type="http://schemas.openxmlformats.org/officeDocument/2006/relationships/notesSlide" Target="/ppt/notesSlides/notesSlide5.xml" Id="R1ab552a8e8d34e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d2352299508415e" /><Relationship Type="http://schemas.openxmlformats.org/officeDocument/2006/relationships/notesSlide" Target="/ppt/notesSlides/notesSlide6.xml" Id="R04b710be34d04d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596bfcb78e4db4" /><Relationship Type="http://schemas.openxmlformats.org/officeDocument/2006/relationships/notesSlide" Target="/ppt/notesSlides/notesSlide7.xml" Id="Rfbf6ec93eb9f4d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bc2333b53a4c6b" /><Relationship Type="http://schemas.openxmlformats.org/officeDocument/2006/relationships/notesSlide" Target="/ppt/notesSlides/notesSlide8.xml" Id="R7294a05a218f46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f89dcfc68f04ead" /><Relationship Type="http://schemas.openxmlformats.org/officeDocument/2006/relationships/image" Target="/ppt/media/image2.png" Id="R79c83982c8e14940" /><Relationship Type="http://schemas.openxmlformats.org/officeDocument/2006/relationships/notesSlide" Target="/ppt/notesSlides/notesSlide9.xml" Id="R9507d304b7bd4e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e4654b615e4c0d" /><Relationship Type="http://schemas.openxmlformats.org/officeDocument/2006/relationships/notesSlide" Target="/ppt/notesSlides/notesSlide10.xml" Id="R33c17401cdab4e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35ba29643f04c09" /><Relationship Type="http://schemas.openxmlformats.org/officeDocument/2006/relationships/notesSlide" Target="/ppt/notesSlides/notesSlide11.xml" Id="Rb860621be7f646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5a182825f7b4ba7" /><Relationship Type="http://schemas.openxmlformats.org/officeDocument/2006/relationships/notesSlide" Target="/ppt/notesSlides/notesSlide12.xml" Id="Ra5ff91540f1940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c5d843afeb04866" /><Relationship Type="http://schemas.openxmlformats.org/officeDocument/2006/relationships/notesSlide" Target="/ppt/notesSlides/notesSlide13.xml" Id="Re21122cfd00b49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2b9fd2a5c444ed6" /><Relationship Type="http://schemas.openxmlformats.org/officeDocument/2006/relationships/notesSlide" Target="/ppt/notesSlides/notesSlide14.xml" Id="Rb5cdb68dd1da4a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93fbc5133e848ff" /><Relationship Type="http://schemas.openxmlformats.org/officeDocument/2006/relationships/notesSlide" Target="/ppt/notesSlides/notesSlide15.xml" Id="R3a3360fdef6d44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4582fe09ae4262" /><Relationship Type="http://schemas.openxmlformats.org/officeDocument/2006/relationships/notesSlide" Target="/ppt/notesSlides/notesSlide16.xml" Id="Rbde3d660a3394a2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e64f6e1ab454e0f" /><Relationship Type="http://schemas.openxmlformats.org/officeDocument/2006/relationships/notesSlide" Target="/ppt/notesSlides/notesSlide17.xml" Id="R2f6327c627af42b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b9ee656ab54ea0" /><Relationship Type="http://schemas.openxmlformats.org/officeDocument/2006/relationships/image" Target="/ppt/media/image3.png" Id="Rdac5eaaed73d4dd9" /><Relationship Type="http://schemas.openxmlformats.org/officeDocument/2006/relationships/notesSlide" Target="/ppt/notesSlides/notesSlide18.xml" Id="Rb6ea88cba3a2425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dde2a1df4514998" /><Relationship Type="http://schemas.openxmlformats.org/officeDocument/2006/relationships/image" Target="/ppt/media/image4.png" Id="Rc9690a33fa8544e8" /><Relationship Type="http://schemas.openxmlformats.org/officeDocument/2006/relationships/image" Target="/ppt/media/image5.png" Id="R4a9eff6e486641b2" /><Relationship Type="http://schemas.openxmlformats.org/officeDocument/2006/relationships/notesSlide" Target="/ppt/notesSlides/notesSlide19.xml" Id="R649a2766e184483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1a1a366f614ec1" /><Relationship Type="http://schemas.openxmlformats.org/officeDocument/2006/relationships/notesSlide" Target="/ppt/notesSlides/notesSlide20.xml" Id="R1cb4e2571317477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2ac7b37032d48d0" /><Relationship Type="http://schemas.openxmlformats.org/officeDocument/2006/relationships/notesSlide" Target="/ppt/notesSlides/notesSlide21.xml" Id="R56c430dc7cc74be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938928072fb413e" /><Relationship Type="http://schemas.openxmlformats.org/officeDocument/2006/relationships/notesSlide" Target="/ppt/notesSlides/notesSlide22.xml" Id="R263d57d0c6fd465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b8caf23a42942ee" /><Relationship Type="http://schemas.openxmlformats.org/officeDocument/2006/relationships/notesSlide" Target="/ppt/notesSlides/notesSlide23.xml" Id="R86f7dd6e183a4b5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10818dcd6f47ac" /><Relationship Type="http://schemas.openxmlformats.org/officeDocument/2006/relationships/notesSlide" Target="/ppt/notesSlides/notesSlide24.xml" Id="R59338921480e4b9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a74e3e7c750426a" /><Relationship Type="http://schemas.openxmlformats.org/officeDocument/2006/relationships/chart" Target="/ppt/slides/charts/chart1.xml" Id="Rcf4fdf9ac1be4c82" /><Relationship Type="http://schemas.openxmlformats.org/officeDocument/2006/relationships/notesSlide" Target="/ppt/notesSlides/notesSlide25.xml" Id="R96e2a54f5379439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7eb3ddeb11444d" /><Relationship Type="http://schemas.openxmlformats.org/officeDocument/2006/relationships/chart" Target="/ppt/slides/charts/chart2.xml" Id="R3ab6719567ce46e6" /><Relationship Type="http://schemas.openxmlformats.org/officeDocument/2006/relationships/notesSlide" Target="/ppt/notesSlides/notesSlide26.xml" Id="Rd06303ac40a4453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e9aac795e304681" /><Relationship Type="http://schemas.openxmlformats.org/officeDocument/2006/relationships/chart" Target="/ppt/slides/charts/chart3.xml" Id="R55b24e87b356453e" /><Relationship Type="http://schemas.openxmlformats.org/officeDocument/2006/relationships/notesSlide" Target="/ppt/notesSlides/notesSlide27.xml" Id="Rf8b2da4f800c4a4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08fd9ce71d42e5" /><Relationship Type="http://schemas.openxmlformats.org/officeDocument/2006/relationships/chart" Target="/ppt/slides/charts/chart4.xml" Id="Rc6a95af4831b47d9" /><Relationship Type="http://schemas.openxmlformats.org/officeDocument/2006/relationships/notesSlide" Target="/ppt/notesSlides/notesSlide28.xml" Id="R6e50076e6f654d2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36cbb8829c4c06" /><Relationship Type="http://schemas.openxmlformats.org/officeDocument/2006/relationships/notesSlide" Target="/ppt/notesSlides/notesSlide29.xml" Id="R03fa2901ec4546e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c8c76ff01424db0" /><Relationship Type="http://schemas.openxmlformats.org/officeDocument/2006/relationships/notesSlide" Target="/ppt/notesSlides/notesSlide30.xml" Id="Rc4a2795167bf4a1f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Local camera–ISAC fusion</c:v>
          </c:tx>
          <c:spPr>
            <a:solidFill xmlns:a="http://schemas.openxmlformats.org/drawingml/2006/main">
              <a:srgbClr val="838383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AP@2m</c:v>
              </c:pt>
              <c:pt idx="1">
                <c:v>Recall@2m</c:v>
              </c:pt>
              <c:pt idx="2">
                <c:v>Beam Top-1</c:v>
              </c:pt>
              <c:pt idx="3">
                <c:v>Beam Top-4</c:v>
              </c:pt>
            </c:strLit>
          </c:cat>
          <c:val>
            <c:numLit>
              <c:formatCode>0"%"</c:formatCode>
              <c:ptCount val="4"/>
              <c:pt idx="0">
                <c:v>74.35</c:v>
              </c:pt>
              <c:pt idx="1">
                <c:v>79.53</c:v>
              </c:pt>
              <c:pt idx="2">
                <c:v>71.54</c:v>
              </c:pt>
              <c:pt idx="3">
                <c:v>94.66</c:v>
              </c:pt>
            </c:numLit>
          </c:val>
        </c:ser>
        <c:ser>
          <c:idx val="1"/>
          <c:order val="1"/>
          <c:tx>
            <c:v>Distributed multimodal attention</c:v>
          </c:tx>
          <c:spPr>
            <a:solidFill xmlns:a="http://schemas.openxmlformats.org/drawingml/2006/main">
              <a:srgbClr val="0F00CD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AP@2m</c:v>
              </c:pt>
              <c:pt idx="1">
                <c:v>Recall@2m</c:v>
              </c:pt>
              <c:pt idx="2">
                <c:v>Beam Top-1</c:v>
              </c:pt>
              <c:pt idx="3">
                <c:v>Beam Top-4</c:v>
              </c:pt>
            </c:strLit>
          </c:cat>
          <c:val>
            <c:numLit>
              <c:formatCode>0"%"</c:formatCode>
              <c:ptCount val="4"/>
              <c:pt idx="0">
                <c:v>78.73</c:v>
              </c:pt>
              <c:pt idx="1">
                <c:v>81.51</c:v>
              </c:pt>
              <c:pt idx="2">
                <c:v>71.13</c:v>
              </c:pt>
              <c:pt idx="3">
                <c:v>94.13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83838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50112"/>
        <c:crosses val="autoZero"/>
        <c:crossBetween val="between"/>
        <c:majorUnit val="20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AP@2m</c:v>
          </c:tx>
          <c:spPr>
            <a:ln xmlns:a="http://schemas.openxmlformats.org/drawingml/2006/main" w="28575">
              <a:solidFill>
                <a:srgbClr val="0F00CD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38.59</c:v>
              </c:pt>
              <c:pt idx="1">
                <c:v>50.3</c:v>
              </c:pt>
              <c:pt idx="2">
                <c:v>56.42</c:v>
              </c:pt>
              <c:pt idx="3">
                <c:v>58.39</c:v>
              </c:pt>
              <c:pt idx="4">
                <c:v>71.4</c:v>
              </c:pt>
              <c:pt idx="5">
                <c:v>80.41</c:v>
              </c:pt>
            </c:numLit>
          </c:val>
        </c:ser>
        <c:ser>
          <c:idx val="1"/>
          <c:order val="1"/>
          <c:tx>
            <c:v>Recall@2m</c:v>
          </c:tx>
          <c:spPr>
            <a:ln xmlns:a="http://schemas.openxmlformats.org/drawingml/2006/main" w="28575">
              <a:solidFill>
                <a:srgbClr val="F69200"/>
              </a:solidFill>
              <a:prstDash val="solid"/>
            </a:ln>
          </c:spPr>
          <c:marker>
            <c:symbol val="squar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52.34</c:v>
              </c:pt>
              <c:pt idx="1">
                <c:v>57.39</c:v>
              </c:pt>
              <c:pt idx="2">
                <c:v>60.78</c:v>
              </c:pt>
              <c:pt idx="3">
                <c:v>62.45</c:v>
              </c:pt>
              <c:pt idx="4">
                <c:v>74.25</c:v>
              </c:pt>
              <c:pt idx="5">
                <c:v>83.15</c:v>
              </c:pt>
            </c:numLit>
          </c:val>
        </c:ser>
        <c:ser>
          <c:idx val="2"/>
          <c:order val="2"/>
          <c:tx>
            <c:v>Beam Top-4@2m</c:v>
          </c:tx>
          <c:spPr>
            <a:ln xmlns:a="http://schemas.openxmlformats.org/drawingml/2006/main" w="28575">
              <a:solidFill>
                <a:srgbClr val="596400"/>
              </a:solidFill>
              <a:prstDash val="solid"/>
            </a:ln>
          </c:spPr>
          <c:marker>
            <c:symbol val="triangl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91.58</c:v>
              </c:pt>
              <c:pt idx="1">
                <c:v>92.03</c:v>
              </c:pt>
              <c:pt idx="2">
                <c:v>94.09</c:v>
              </c:pt>
              <c:pt idx="3">
                <c:v>94.63</c:v>
              </c:pt>
              <c:pt idx="4">
                <c:v>95.3</c:v>
              </c:pt>
              <c:pt idx="5">
                <c:v>95.4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000000"/>
                    </a:solidFill>
                  </a:rPr>
                  <a:t>Available nearby sensing nodes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000000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50112"/>
        <c:crosses val="autoZero"/>
        <c:crossBetween val="between"/>
        <c:majorUnit val="20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Effective user rate</c:v>
          </c:tx>
          <c:spPr>
            <a:solidFill xmlns:a="http://schemas.openxmlformats.org/drawingml/2006/main">
              <a:srgbClr val="0F00CD"/>
            </a:solidFill>
          </c:spPr>
          <c:dPt>
            <c:idx val="0"/>
            <c:spPr>
              <a:solidFill xmlns:a="http://schemas.openxmlformats.org/drawingml/2006/main">
                <a:srgbClr val="838383"/>
              </a:solidFill>
            </c:spPr>
          </c:dPt>
          <c:dPt>
            <c:idx val="1"/>
            <c:spPr>
              <a:solidFill xmlns:a="http://schemas.openxmlformats.org/drawingml/2006/main">
                <a:srgbClr val="596400"/>
              </a:solidFill>
            </c:spPr>
          </c:dPt>
          <c:dPt>
            <c:idx val="2"/>
            <c:spPr>
              <a:solidFill xmlns:a="http://schemas.openxmlformats.org/drawingml/2006/main">
                <a:srgbClr val="418AB3"/>
              </a:solidFill>
            </c:spPr>
          </c:dPt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SSB K=4</c:v>
              </c:pt>
              <c:pt idx="1">
                <c:v>SSB K=12</c:v>
              </c:pt>
              <c:pt idx="2">
                <c:v>DMSA</c:v>
              </c:pt>
            </c:strLit>
          </c:cat>
          <c:val>
            <c:numLit>
              <c:formatCode>General</c:formatCode>
              <c:ptCount val="3"/>
              <c:pt idx="0">
                <c:v>142.248</c:v>
              </c:pt>
              <c:pt idx="1">
                <c:v>115.89</c:v>
              </c:pt>
              <c:pt idx="2">
                <c:v>146.332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>
                  <a:solidFill>
                    <a:srgbClr val="000000"/>
                  </a:solidFill>
                  <a:latin typeface="Helvetica"/>
                  <a:ea typeface="Helvetica"/>
                  <a:cs typeface="Helvetic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0E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6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Effective user rate</c:v>
          </c:tx>
          <c:spPr>
            <a:solidFill xmlns:a="http://schemas.openxmlformats.org/drawingml/2006/main">
              <a:srgbClr val="0F00CD"/>
            </a:solidFill>
          </c:spPr>
          <c:dPt>
            <c:idx val="0"/>
            <c:spPr>
              <a:solidFill xmlns:a="http://schemas.openxmlformats.org/drawingml/2006/main">
                <a:srgbClr val="838383"/>
              </a:solidFill>
            </c:spPr>
          </c:dPt>
          <c:dPt>
            <c:idx val="1"/>
            <c:spPr>
              <a:solidFill xmlns:a="http://schemas.openxmlformats.org/drawingml/2006/main">
                <a:srgbClr val="596400"/>
              </a:solidFill>
            </c:spPr>
          </c:dPt>
          <c:dPt>
            <c:idx val="2"/>
            <c:spPr>
              <a:solidFill xmlns:a="http://schemas.openxmlformats.org/drawingml/2006/main">
                <a:srgbClr val="418AB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 b="1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Camera-only</c:v>
              </c:pt>
              <c:pt idx="1">
                <c:v>ISAC-only</c:v>
              </c:pt>
              <c:pt idx="2">
                <c:v>Local camera–ISAC</c:v>
              </c:pt>
              <c:pt idx="3">
                <c:v>DMSA-BM</c:v>
              </c:pt>
            </c:strLit>
          </c:cat>
          <c:val>
            <c:numLit>
              <c:formatCode>General</c:formatCode>
              <c:ptCount val="4"/>
              <c:pt idx="0">
                <c:v>138.868</c:v>
              </c:pt>
              <c:pt idx="1">
                <c:v>142.522</c:v>
              </c:pt>
              <c:pt idx="2">
                <c:v>143.701</c:v>
              </c:pt>
              <c:pt idx="3">
                <c:v>146.332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0E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000000"/>
                    </a:solidFill>
                  </a:rPr>
                  <a:t>Mean effective user rate (Mbps)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000000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AB70E9-5AE2-6050-3793-D4B9B32B9AC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57250" y="2333625"/>
            <a:ext cx="10477500" cy="1485900"/>
          </a:xfr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  <a:defRPr sz="36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Multimodal Sensing-Assisted User Association
and Tracking in Vehicular Networks</a:t>
            </a:r>
          </a:p>
        </p:txBody>
      </p:sp>
      <p:sp>
        <p:nvSpPr>
          <p:cNvPr id="7" name="副标题 6">
            <a:extLst xmlns:a="http://schemas.openxmlformats.org/drawingml/2006/main">
              <a:ext uri="{FF2B5EF4-FFF2-40B4-BE49-F238E27FC236}">
                <a16:creationId xmlns:a16="http://schemas.microsoft.com/office/drawing/2014/main" id="{EBDC222C-0C82-FE71-CA39-73C387CF78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Yifeng YUAN · MPhil in Internet of Things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Supervisors: Shijian GAO and Jia YAN · June 2026</a:t>
            </a:r>
          </a:p>
        </p:txBody>
      </p:sp>
    </p:spTree>
    <p:extLst>
      <p:ext uri="{BB962C8B-B14F-4D97-AF65-F5344CB8AC3E}">
        <p14:creationId xmlns:p14="http://schemas.microsoft.com/office/powerpoint/2010/main" val="1493281749"/>
      </p:ext>
    </p:extLst>
  </p:cSld>
</p:sld>
</file>

<file path=ppt/slides/slide2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00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Background</a:t>
            </a:r>
          </a:p>
        </p:txBody>
      </p:sp>
      <p:sp>
        <p:nvSpPr>
          <p:cNvPr id="100001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Connected mobility and intelligent transportation rely on reliable V2I connectivity.</a:t>
            </a:r>
          </a:p>
        </p:txBody>
      </p:sp>
      <p:sp>
        <p:nvSpPr>
          <p:cNvPr id="100002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2857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Vehicular networks connect moving vehicles, roadside infrastructure, and network services.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Roadside operating conditions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High mobility · rapidly changing geometry · intermittent blockage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Communication requirements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High data rate · low latency · reliable connectivity</a:t>
            </a:r>
          </a:p>
        </p:txBody>
      </p:sp>
      <p:pic>
        <p:nvPicPr>
          <p:cNvPr id="100007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8739ea1904333"/>
          <a:stretch xmlns:a="http://schemas.openxmlformats.org/drawingml/2006/main"/>
        </p:blipFill>
        <p:spPr>
          <a:xfrm xmlns:a="http://schemas.openxmlformats.org/drawingml/2006/main">
            <a:off x="1187133" y="1762125"/>
            <a:ext cx="6769734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3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V2I Beam Management Problem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668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High-frequency V2I links use narrow beams to obtain array gain. Mobility, blockage, and path evolution rapidly age beam information.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7000"/>
            <a:ext cx="10668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More frequent or wider CSI-RS measurements improve alignment reliability, but consume time-frequency resources.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Measurement reliability  ↔  Measurement overhead</a:t>
            </a:r>
          </a:p>
        </p:txBody>
      </p:sp>
      <p:sp>
        <p:nvSpPr>
          <p:cNvPr id="100014" name="BM_SSB">
            <a:extLst xmlns:a="http://schemas.openxmlformats.org/drawingml/2006/main">
              <a:ext uri="{FF2B5EF4-FFF2-40B4-BE49-F238E27FC236}">
                <a16:creationId xmlns:a16="http://schemas.microsoft.com/office/drawing/2014/main" id="{02FD4DD9-7C50-411A-BD28-17C946F4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30500"/>
            <a:ext cx="1968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5875">
            <a:solidFill>
              <a:srgbClr val="418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access</a:t>
            </a:r>
          </a:p>
        </p:txBody>
      </p:sp>
      <p:sp>
        <p:nvSpPr>
          <p:cNvPr id="100015" name="BM_A1">
            <a:extLst xmlns:a="http://schemas.openxmlformats.org/drawingml/2006/main">
              <a:ext uri="{FF2B5EF4-FFF2-40B4-BE49-F238E27FC236}">
                <a16:creationId xmlns:a16="http://schemas.microsoft.com/office/drawing/2014/main" id="{D732D3A6-BFAE-46BC-A3AE-91BB5EA7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95600"/>
            <a:ext cx="5334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6" name="BM_CSI">
            <a:extLst xmlns:a="http://schemas.openxmlformats.org/drawingml/2006/main">
              <a:ext uri="{FF2B5EF4-FFF2-40B4-BE49-F238E27FC236}">
                <a16:creationId xmlns:a16="http://schemas.microsoft.com/office/drawing/2014/main" id="{5B72FF3C-4CA0-4230-8C3F-198D222B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900" y="2730500"/>
            <a:ext cx="2222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5875">
            <a:solidFill>
              <a:srgbClr val="5964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candidates</a:t>
            </a:r>
          </a:p>
        </p:txBody>
      </p:sp>
      <p:sp>
        <p:nvSpPr>
          <p:cNvPr id="100017" name="BM_A2">
            <a:extLst xmlns:a="http://schemas.openxmlformats.org/drawingml/2006/main">
              <a:ext uri="{FF2B5EF4-FFF2-40B4-BE49-F238E27FC236}">
                <a16:creationId xmlns:a16="http://schemas.microsoft.com/office/drawing/2014/main" id="{01DBF6DC-3904-49A5-BB9C-5337C76F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5334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8" name="BM_FB">
            <a:extLst xmlns:a="http://schemas.openxmlformats.org/drawingml/2006/main">
              <a:ext uri="{FF2B5EF4-FFF2-40B4-BE49-F238E27FC236}">
                <a16:creationId xmlns:a16="http://schemas.microsoft.com/office/drawing/2014/main" id="{2129D259-7739-4C2B-B74C-ABBE8ABE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730500"/>
            <a:ext cx="2222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5875">
            <a:solidFill>
              <a:srgbClr val="418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 feedback</a:t>
            </a:r>
          </a:p>
        </p:txBody>
      </p:sp>
      <p:sp>
        <p:nvSpPr>
          <p:cNvPr id="100019" name="BM_A3">
            <a:extLst xmlns:a="http://schemas.openxmlformats.org/drawingml/2006/main">
              <a:ext uri="{FF2B5EF4-FFF2-40B4-BE49-F238E27FC236}">
                <a16:creationId xmlns:a16="http://schemas.microsoft.com/office/drawing/2014/main" id="{C874D928-6C29-4791-B9AE-6D185169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95600"/>
            <a:ext cx="5334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0" name="BM_Data">
            <a:extLst xmlns:a="http://schemas.openxmlformats.org/drawingml/2006/main">
              <a:ext uri="{FF2B5EF4-FFF2-40B4-BE49-F238E27FC236}">
                <a16:creationId xmlns:a16="http://schemas.microsoft.com/office/drawing/2014/main" id="{1CEDBD10-655F-45D8-ADA5-41599DB8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2730500"/>
            <a:ext cx="1841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5875">
            <a:solidFill>
              <a:srgbClr val="5964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Data transmission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4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04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/>
              <a:t>Sensing-Assisted Beam Prediction: Single-Candidate Scenario</a:t>
            </a:r>
          </a:p>
        </p:txBody>
      </p:sp>
      <p:sp>
        <p:nvSpPr>
          <p:cNvPr id="100005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668000" cy="1079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sensing can predict or rank beams for a known physical target.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Camera · position · radar · LiDAR  →  physical-scene observations</a:t>
            </a:r>
          </a:p>
        </p:txBody>
      </p:sp>
      <p:sp>
        <p:nvSpPr>
          <p:cNvPr id="10000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35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Single-candidate assumption: a specified or visually isolated target is treated as the intended communication user.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Beam prediction:  fθ(O[n])  →  Top-K candidates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Prediction narrows the CSI-RS search; measured CSI quality selects the service beam.</a:t>
            </a:r>
          </a:p>
        </p:txBody>
      </p:sp>
      <p:sp>
        <p:nvSpPr>
          <p:cNvPr id="100021" name="SC_Target">
            <a:extLst xmlns:a="http://schemas.openxmlformats.org/drawingml/2006/main">
              <a:ext uri="{FF2B5EF4-FFF2-40B4-BE49-F238E27FC236}">
                <a16:creationId xmlns:a16="http://schemas.microsoft.com/office/drawing/2014/main" id="{168851A0-83B9-4AF2-88B3-5112DFAD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603500"/>
            <a:ext cx="24130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5875">
            <a:solidFill>
              <a:srgbClr val="418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Known physical target</a:t>
            </a:r>
          </a:p>
        </p:txBody>
      </p:sp>
      <p:sp>
        <p:nvSpPr>
          <p:cNvPr id="100022" name="SC_A1">
            <a:extLst xmlns:a="http://schemas.openxmlformats.org/drawingml/2006/main">
              <a:ext uri="{FF2B5EF4-FFF2-40B4-BE49-F238E27FC236}">
                <a16:creationId xmlns:a16="http://schemas.microsoft.com/office/drawing/2014/main" id="{2CF890DA-5E1F-42E4-A63B-6DA6A734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2857500"/>
            <a:ext cx="5080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3" name="SC_Obs">
            <a:extLst xmlns:a="http://schemas.openxmlformats.org/drawingml/2006/main">
              <a:ext uri="{FF2B5EF4-FFF2-40B4-BE49-F238E27FC236}">
                <a16:creationId xmlns:a16="http://schemas.microsoft.com/office/drawing/2014/main" id="{A117C6F2-2413-4379-AB31-F4ACF279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03500"/>
            <a:ext cx="32385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5875">
            <a:solidFill>
              <a:srgbClr val="5964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scene observation</a:t>
            </a:r>
          </a:p>
        </p:txBody>
      </p:sp>
      <p:sp>
        <p:nvSpPr>
          <p:cNvPr id="100024" name="SC_A2">
            <a:extLst xmlns:a="http://schemas.openxmlformats.org/drawingml/2006/main">
              <a:ext uri="{FF2B5EF4-FFF2-40B4-BE49-F238E27FC236}">
                <a16:creationId xmlns:a16="http://schemas.microsoft.com/office/drawing/2014/main" id="{ABA020D3-9F13-40BD-80E3-00696B80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5080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5" name="SC_Beams">
            <a:extLst xmlns:a="http://schemas.openxmlformats.org/drawingml/2006/main">
              <a:ext uri="{FF2B5EF4-FFF2-40B4-BE49-F238E27FC236}">
                <a16:creationId xmlns:a16="http://schemas.microsoft.com/office/drawing/2014/main" id="{376258DC-934C-48AF-B3C9-995E199F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03500"/>
            <a:ext cx="31750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5875">
            <a:solidFill>
              <a:srgbClr val="418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Top-K beam candidates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5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07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/>
              <a:t>Sensing-Assisted Beam Prediction: Multi-Candidate Scenario</a:t>
            </a:r>
          </a:p>
        </p:txBody>
      </p:sp>
      <p:sp>
        <p:nvSpPr>
          <p:cNvPr id="100008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668000" cy="1079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When several vehicles are visible, prediction must first identify the intended transmitter.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User-conditioned prediction:  fθ(O[n], g[u,n])  →  VUE-specific Top-K beams</a:t>
            </a:r>
          </a:p>
        </p:txBody>
      </p:sp>
      <p:sp>
        <p:nvSpPr>
          <p:cNvPr id="100009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35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O[n]: scene-level sensing observations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g[u,n]: location or other user-specific side information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Location can be unavailable, inaccurate, stale, or misaligned.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Candidate scoring is conditioned on every active VUE.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Whose candidate list is it?</a:t>
            </a:r>
          </a:p>
        </p:txBody>
      </p:sp>
      <p:sp>
        <p:nvSpPr>
          <p:cNvPr id="100026" name="MC_Visible">
            <a:extLst xmlns:a="http://schemas.openxmlformats.org/drawingml/2006/main">
              <a:ext uri="{FF2B5EF4-FFF2-40B4-BE49-F238E27FC236}">
                <a16:creationId xmlns:a16="http://schemas.microsoft.com/office/drawing/2014/main" id="{9E1DE6C0-8077-4840-85DD-9FA2A8EF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603500"/>
            <a:ext cx="24130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5875">
            <a:solidFill>
              <a:srgbClr val="418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Multiple visible vehicles</a:t>
            </a:r>
          </a:p>
        </p:txBody>
      </p:sp>
      <p:sp>
        <p:nvSpPr>
          <p:cNvPr id="100027" name="MC_A1">
            <a:extLst xmlns:a="http://schemas.openxmlformats.org/drawingml/2006/main">
              <a:ext uri="{FF2B5EF4-FFF2-40B4-BE49-F238E27FC236}">
                <a16:creationId xmlns:a16="http://schemas.microsoft.com/office/drawing/2014/main" id="{91128B62-72A0-47E6-9580-5AA70C66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2857500"/>
            <a:ext cx="5080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8" name="MC_SideInfo">
            <a:extLst xmlns:a="http://schemas.openxmlformats.org/drawingml/2006/main">
              <a:ext uri="{FF2B5EF4-FFF2-40B4-BE49-F238E27FC236}">
                <a16:creationId xmlns:a16="http://schemas.microsoft.com/office/drawing/2014/main" id="{D82D2740-F766-4529-9897-042FB4FF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03500"/>
            <a:ext cx="32385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5875">
            <a:solidFill>
              <a:srgbClr val="5964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+ user side information</a:t>
            </a:r>
          </a:p>
        </p:txBody>
      </p:sp>
      <p:sp>
        <p:nvSpPr>
          <p:cNvPr id="100029" name="MC_A2">
            <a:extLst xmlns:a="http://schemas.openxmlformats.org/drawingml/2006/main">
              <a:ext uri="{FF2B5EF4-FFF2-40B4-BE49-F238E27FC236}">
                <a16:creationId xmlns:a16="http://schemas.microsoft.com/office/drawing/2014/main" id="{FA37D473-F8D3-4131-89DD-84E41835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5080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0" name="MC_Beams">
            <a:extLst xmlns:a="http://schemas.openxmlformats.org/drawingml/2006/main">
              <a:ext uri="{FF2B5EF4-FFF2-40B4-BE49-F238E27FC236}">
                <a16:creationId xmlns:a16="http://schemas.microsoft.com/office/drawing/2014/main" id="{8AAACCE4-CFD9-4574-BD98-C8702884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03500"/>
            <a:ext cx="31750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5875">
            <a:solidFill>
              <a:srgbClr val="418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VUE-specific Top-K beams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6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/>
              <a:t>Sensing-Target-to-User Association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observes physical vehicles, while beam management serves VUE identities.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visible vehicle may not be active; the intended VUE may be unobserved; several targets may be plausible.</a:t>
            </a:r>
          </a:p>
        </p:txBody>
      </p:sp>
      <p:sp>
        <p:nvSpPr>
          <p:cNvPr id="26" name="replacement-domain-arrow">
            <a:extLst xmlns:a="http://schemas.openxmlformats.org/drawingml/2006/main">
              <a:ext uri="{FF2B5EF4-FFF2-40B4-BE49-F238E27FC236}">
                <a16:creationId xmlns:a16="http://schemas.microsoft.com/office/drawing/2014/main" id="{DC0A9684-1797-47C0-86B9-12230277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43250"/>
            <a:ext cx="16192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placement-sensing-domain">
            <a:extLst xmlns:a="http://schemas.openxmlformats.org/drawingml/2006/main">
              <a:ext uri="{FF2B5EF4-FFF2-40B4-BE49-F238E27FC236}">
                <a16:creationId xmlns:a16="http://schemas.microsoft.com/office/drawing/2014/main" id="{20AB9B1A-2C59-48F3-B5DF-DB8DD8EB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3714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DOMAIN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Physical vehicles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Perception tracks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Target-level beam posteriors</a:t>
            </a:r>
          </a:p>
        </p:txBody>
      </p:sp>
      <p:sp>
        <p:nvSpPr>
          <p:cNvPr id="28" name="replacement-communication-domain">
            <a:extLst xmlns:a="http://schemas.openxmlformats.org/drawingml/2006/main">
              <a:ext uri="{FF2B5EF4-FFF2-40B4-BE49-F238E27FC236}">
                <a16:creationId xmlns:a16="http://schemas.microsoft.com/office/drawing/2014/main" id="{BF983AD3-7C1C-4770-90EF-8C93B0A0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3714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COMMUNICATION DOMAIN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 identities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/ CSI-RS measurements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User-specific downlink</a:t>
            </a:r>
          </a:p>
        </p:txBody>
      </p:sp>
      <p:sp>
        <p:nvSpPr>
          <p:cNvPr id="29" name="replacement-interface-question">
            <a:extLst xmlns:a="http://schemas.openxmlformats.org/drawingml/2006/main">
              <a:ext uri="{FF2B5EF4-FFF2-40B4-BE49-F238E27FC236}">
                <a16:creationId xmlns:a16="http://schemas.microsoft.com/office/drawing/2014/main" id="{595FA82D-420C-4D3F-9ADC-B90D352B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000500"/>
            <a:ext cx="317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F00CD"/>
                </a:solidFill>
                <a:latin typeface="Helvetica"/>
                <a:ea typeface="Helvetica"/>
                <a:cs typeface="Helvetica"/>
              </a:defRPr>
            </a:pPr>
            <a:r>
              <a:rPr sz="1550" b="1">
                <a:solidFill>
                  <a:srgbClr val="0F00CD"/>
                </a:solidFill>
                <a:latin typeface="Helvetica"/>
                <a:ea typeface="Helvetica"/>
                <a:cs typeface="Helvetica"/>
              </a:rPr>
              <a:t>Which sensing target provides candidate beams for VUE u?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7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Research Objectives and Contributions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Objective  Reduce CSI-RS measurement overhead while preserving user-specific beam-management decisions.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86375"/>
            <a:ext cx="790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Perception  →  Association  →  User-specific beam management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287000" cy="300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Distributed multimodal BEV perception for joint vehicle detection and beam prediction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Multi-view cameras + BS-local ISAC yield vehicle detections and per-target beam posteriors.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  Measurement-assisted target-to-user association and tracking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VUE-indexed beam measurements establish credible UE-track pairs.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  NR-oriented end-to-end evaluation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Sensing use, fallback, CSI-RS overhead, and effective user rate are evaluated together.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8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System Model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information is available to the BS, and how does a beam candidate affect user rate?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9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Network Architecture and Information Domains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</a:rPr>
              <a:t>Target BS b makes local decisions; neighbours only extend sensing coverage.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63500" tIns="63500" rIns="63500" bIns="63500" anchor="ctr">
            <a:noAutofit/>
          </a:bodyPr>
          <a:lstStyle xmlns:a="http://schemas.openxmlformats.org/drawingml/2006/main"/>
          <a:p>
            <a:pPr marL="0" indent="0" algn="ctr">
              <a:lnSpc>
                <a:spcPct val="95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Helvetica"/>
                <a:ea typeface="Helvetica"/>
              </a:rPr>
              <a:t>Communication: identified VUEs  u ∈ U_b[n]     |     Sensing: unlabelled physical targets</a:t>
            </a:r>
          </a:p>
          <a:p>
            <a:pPr marL="0" indent="0" algn="ctr">
              <a:lnSpc>
                <a:spcPct val="95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Helvetica"/>
                <a:ea typeface="Helvetica"/>
              </a:rPr>
              <a:t>U_b[n]: VUEs served by b     •     N_b: sensing-only neighbours     •     BEV: target-BS-centred</a:t>
            </a:r>
          </a:p>
        </p:txBody>
      </p:sp>
      <p:pic>
        <p:nvPicPr>
          <p:cNvPr id="30" name="图片 29" descr="Target BS with local VUEs and sensing-only neighbouring camera nod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83982c8e14940"/>
          <a:stretch xmlns:a="http://schemas.openxmlformats.org/drawingml/2006/main"/>
        </p:blipFill>
        <p:spPr>
          <a:xfrm xmlns:a="http://schemas.openxmlformats.org/drawingml/2006/main">
            <a:off x="2032000" y="1714500"/>
            <a:ext cx="8128000" cy="3619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0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ISAC Sensing Model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</a:rPr>
              <a:t>Known ISAC symbols enable BS-local extraction of dynamic vehicle evidence from static clutter.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318000"/>
            <a:ext cx="104140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>
            <a:pPr marL="0" indent="0" algn="ctr">
              <a:lnSpc>
                <a:spcPct val="100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Cambria Math"/>
                <a:ea typeface="Cambria Math"/>
              </a:rPr>
              <a:t>H̃_{b,n} = Ĥᵉᶜʰᵒ_{b,n} − Ĥˢᵗᵃ_b   →   Z_{b,n}(ρ, θ, ν) = Tᴿᴬᴰ(H̃_{b,n}),   |Z_{b,n}|² &gt; ηᶜᶠᴬᴿ_{b,n}</a:t>
            </a:r>
          </a:p>
          <a:p>
            <a:pPr marL="0" indent="0" algn="ctr">
              <a:lnSpc>
                <a:spcPct val="100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Cambria Math"/>
                <a:ea typeface="Cambria Math"/>
              </a:rPr>
              <a:t/>
            </a:r>
          </a:p>
          <a:p>
            <a:pPr marL="0" indent="0" algn="ctr">
              <a:lnSpc>
                <a:spcPct val="100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Cambria Math"/>
                <a:ea typeface="Cambria Math"/>
              </a:rPr>
              <a:t>Output:  P_{b,n} = {(q_{b,m,n}, a_{b,m,n})}ᵐ⁼¹ᴺ ᵖᶜ_{b,n}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816100"/>
            <a:ext cx="10414000" cy="281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0">
                <a:solidFill>
                  <a:srgbClr val="000000"/>
                </a:solidFill>
                <a:latin typeface="Cambria Math"/>
                <a:ea typeface="Cambria Math"/>
              </a:rPr>
              <a:t>Known transmission</a:t>
            </a:r>
          </a:p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0">
                <a:solidFill>
                  <a:srgbClr val="000000"/>
                </a:solidFill>
                <a:latin typeface="Cambria Math"/>
                <a:ea typeface="Cambria Math"/>
              </a:rPr>
              <a:t>xᶳᵉⁿ_{b,n}[p,l] = √Pᶳᵉⁿ_{b,n} fᶳᵉⁿ_{b,n}[p,l] sᶳᵉⁿ_{b,n}[p,l]</a:t>
            </a:r>
          </a:p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0">
                <a:solidFill>
                  <a:srgbClr val="000000"/>
                </a:solidFill>
                <a:latin typeface="Cambria Math"/>
                <a:ea typeface="Cambria Math"/>
              </a:rPr>
              <a:t/>
            </a:r>
          </a:p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0">
                <a:solidFill>
                  <a:srgbClr val="000000"/>
                </a:solidFill>
                <a:latin typeface="Cambria Math"/>
                <a:ea typeface="Cambria Math"/>
              </a:rPr>
              <a:t>Echo model</a:t>
            </a:r>
          </a:p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0">
                <a:solidFill>
                  <a:srgbClr val="000000"/>
                </a:solidFill>
                <a:latin typeface="Cambria Math"/>
                <a:ea typeface="Cambria Math"/>
              </a:rPr>
              <a:t>yᵉᶜʰᵒ_{b,n}[p,l] = (Hˢᵗᵃ_b[p] + Hᵈʸⁿ_{b,n}[p,l]) xᶳᵉⁿ_{b,n}[p,l] + zᶳᵉⁿ_{b,n}[p,l]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1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Downlink and CSI-RS Measurement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</a:rPr>
              <a:t>CSI-RS turns a proposed beam into communication-side channel and quality evidence.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10668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>
            <a:pPr marL="0" indent="0" algn="ctr">
              <a:lnSpc>
                <a:spcPct val="95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20" b="0">
                <a:solidFill>
                  <a:srgbClr val="000000"/>
                </a:solidFill>
                <a:latin typeface="Cambria Math"/>
                <a:ea typeface="Cambria Math"/>
              </a:rPr>
              <a:t>𝓕ᶜˢᴵ_b = {fᶜˢᴵ_{b,k} | k = 1, …, Mᶜˢᴵ}</a:t>
            </a:r>
          </a:p>
          <a:p>
            <a:pPr marL="0" indent="0" algn="ctr">
              <a:lnSpc>
                <a:spcPct val="95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20" b="0">
                <a:solidFill>
                  <a:srgbClr val="000000"/>
                </a:solidFill>
                <a:latin typeface="Cambria Math"/>
                <a:ea typeface="Cambria Math"/>
              </a:rPr>
              <a:t>yᶜˢᴵ_{b,u,k,n}[l] = √Pᶜˢᴵ_{b,k,n}(hᴴ_{b,u,n}fᶜˢᴵ_{b,k})c_{b,k,n}[l] + zᶜˢᴵ_{b,u,k,n}[l]</a:t>
            </a:r>
          </a:p>
          <a:p>
            <a:pPr marL="0" indent="0" algn="ctr">
              <a:lnSpc>
                <a:spcPct val="95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20" b="0">
                <a:solidFill>
                  <a:srgbClr val="000000"/>
                </a:solidFill>
                <a:latin typeface="Cambria Math"/>
                <a:ea typeface="Cambria Math"/>
              </a:rPr>
              <a:t>γ̂ᶜˢᴵ_{b,u,k,n} = Pᶜˢᴵ_{b,k,n}|ĥᵉq_{b,u,k,n}|² /(Î_{b,u,k,n} + σ²_{b,u,n})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6100"/>
            <a:ext cx="10668000" cy="281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>
            <a:pPr marL="0" indent="0" algn="l">
              <a:lnSpc>
                <a:spcPct val="105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Cambria Math"/>
                <a:ea typeface="Cambria Math"/>
              </a:rPr>
              <a:t>Multi-user downlink</a:t>
            </a:r>
          </a:p>
          <a:p>
            <a:pPr marL="0" indent="0" algn="l">
              <a:lnSpc>
                <a:spcPct val="105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Cambria Math"/>
                <a:ea typeface="Cambria Math"/>
              </a:rPr>
              <a:t>x_{b,n} = Σ_{u∈𝒰_b[n]} √P_{b,u,n} w_{b,u,n} s_{b,u,n}</a:t>
            </a:r>
          </a:p>
          <a:p>
            <a:pPr marL="0" indent="0" algn="l">
              <a:lnSpc>
                <a:spcPct val="105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Cambria Math"/>
                <a:ea typeface="Cambria Math"/>
              </a:rPr>
              <a:t/>
            </a:r>
          </a:p>
          <a:p>
            <a:pPr marL="0" indent="0" algn="l">
              <a:lnSpc>
                <a:spcPct val="105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Cambria Math"/>
                <a:ea typeface="Cambria Math"/>
              </a:rPr>
              <a:t>γ_{b,u,n} = P_{b,u,n}|hᴴ_{b,u,n}w_{b,u,n}|² /</a:t>
            </a:r>
          </a:p>
          <a:p>
            <a:pPr marL="0" indent="0" algn="l">
              <a:lnSpc>
                <a:spcPct val="105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Cambria Math"/>
                <a:ea typeface="Cambria Math"/>
              </a:rPr>
              <a:t xml:space="preserve">  [Σ_{v∈𝒰_b[n], v≠u} P_{b,v,n}|hᴴ_{b,u,n}w_{b,v,n}|² + σ²_{b,u,n}]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2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From Candidates to Effective Rate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</a:rPr>
              <a:t>Candidate width affects both post-RZF beam quality and the resources left for data.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318000"/>
            <a:ext cx="10160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1">
                <a:solidFill>
                  <a:srgbClr val="000000"/>
                </a:solidFill>
                <a:latin typeface="Helvetica"/>
                <a:ea typeface="Helvetica"/>
              </a:rPr>
              <a:t>A smaller candidate set helps only if it retains a high-quality measured beam.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8000"/>
            <a:ext cx="10668000" cy="314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>
            <a:pPr marL="0" indent="0"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Cambria Math"/>
                <a:ea typeface="Cambria Math"/>
              </a:rPr>
              <a:t>Measured selection</a:t>
            </a:r>
          </a:p>
          <a:p>
            <a:pPr marL="0" indent="0"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Cambria Math"/>
                <a:ea typeface="Cambria Math"/>
              </a:rPr>
              <a:t>k*_{b,u,n} = arg max_{k∈𝒞_{b,u,n}} γ̂ᶜˢᴵ_{b,u,k,n}</a:t>
            </a:r>
          </a:p>
          <a:p>
            <a:pPr marL="0" indent="0"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Cambria Math"/>
                <a:ea typeface="Cambria Math"/>
              </a:rPr>
              <a:t/>
            </a:r>
          </a:p>
          <a:p>
            <a:pPr marL="0" indent="0"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Cambria Math"/>
                <a:ea typeface="Cambria Math"/>
              </a:rPr>
              <a:t>Hybrid precoding</a:t>
            </a:r>
          </a:p>
          <a:p>
            <a:pPr marL="0" indent="0"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Cambria Math"/>
                <a:ea typeface="Cambria Math"/>
              </a:rPr>
              <a:t>Fᴿᶠ_b[n] = [fᶜˢᴵ_{b,k*_{b,u₁,n}}, …, fᶜˢᴵ_{b,k*_{b,u|𝒰_b[n]|,n}}]    ,    Wᴿᶻᶠ_b[n] = Fᴿᶠ_b[n] Vᴿᶻᶠ_b[n]</a:t>
            </a:r>
          </a:p>
          <a:p>
            <a:pPr marL="0" indent="0"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Cambria Math"/>
                <a:ea typeface="Cambria Math"/>
              </a:rPr>
              <a:t/>
            </a:r>
          </a:p>
          <a:p>
            <a:pPr marL="0" indent="0"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Cambria Math"/>
                <a:ea typeface="Cambria Math"/>
              </a:rPr>
              <a:t>τᶜˢᴵ⁻ᴿˢ_{b,n} = Σ_{e∈𝓔_b[n]} ⌈K_e/M⌉ δᵖʳᵒᵇᵉ    ,    ηᵈᵃᵗᵃ_{b,n} = τᵈᵃᵗᵃ_{b,n}/τᵗᵒᵗ_{b,n}</a:t>
            </a:r>
          </a:p>
          <a:p>
            <a:pPr marL="0" indent="0"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Cambria Math"/>
                <a:ea typeface="Cambria Math"/>
              </a:rPr>
              <a:t>Rᵉᶠᶠ_{b,u,n} = ηᵈᵃᵗᵃ_{b,n} B_b ηᴰᴸ_b log₂(1 + γᴿᶻᶠ_{b,u,n})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3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Design Requirements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sensing-assisted beam-management policy must respect three information boundaries.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191125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6920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 oracle VUE identity  ·  No direct service-beam declaration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810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TARGET-LEVEL PREDICTION
    Predict beams for an observed physical target, not a known VUE.
2  MEASUREMENT-GROUNDED ASSOCIATION
    Establish which perception track belongs to each VUE.
3  MEASURED SERVICE-BEAM SELECTION
    Use sensing to narrow CSI-RS candidates; use measured quality to select service.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4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Proposed Framework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How does unbound sensing evidence become a VUE-specific CSI-RS decision?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15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DMSA-BM Architecture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86375"/>
            <a:ext cx="1057275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observations  →  detections and beam posteriors  →  physical-target tracks  →  VUE-track associations  →  CSI-RS candidates</a:t>
            </a:r>
          </a:p>
        </p:txBody>
      </p:sp>
      <p:sp>
        <p:nvSpPr>
          <p:cNvPr id="27" name="replacement-framework-arrow-1">
            <a:extLst xmlns:a="http://schemas.openxmlformats.org/drawingml/2006/main">
              <a:ext uri="{FF2B5EF4-FFF2-40B4-BE49-F238E27FC236}">
                <a16:creationId xmlns:a16="http://schemas.microsoft.com/office/drawing/2014/main" id="{C4467F96-4529-4C0B-A20F-E02705CF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61912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418AB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placement-framework-arrow-2">
            <a:extLst xmlns:a="http://schemas.openxmlformats.org/drawingml/2006/main">
              <a:ext uri="{FF2B5EF4-FFF2-40B4-BE49-F238E27FC236}">
                <a16:creationId xmlns:a16="http://schemas.microsoft.com/office/drawing/2014/main" id="{02F6D697-1800-4254-8800-653E028B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61912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4288">
            <a:solidFill>
              <a:srgbClr val="5964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placement-framework-arrow-3">
            <a:extLst xmlns:a="http://schemas.openxmlformats.org/drawingml/2006/main">
              <a:ext uri="{FF2B5EF4-FFF2-40B4-BE49-F238E27FC236}">
                <a16:creationId xmlns:a16="http://schemas.microsoft.com/office/drawing/2014/main" id="{FB3B3309-0AAB-4105-9A3A-C552D907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61912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418AB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replacement-framework-stage-1">
            <a:extLst xmlns:a="http://schemas.openxmlformats.org/drawingml/2006/main">
              <a:ext uri="{FF2B5EF4-FFF2-40B4-BE49-F238E27FC236}">
                <a16:creationId xmlns:a16="http://schemas.microsoft.com/office/drawing/2014/main" id="{4B05A932-F0D0-40AA-BE81-FA190B47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2333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DISTRIBUTED MULTIMODAL PERCEPTION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Cameras + BS-local ISAC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Vehicle detections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Per-target beam posteriors</a:t>
            </a:r>
          </a:p>
        </p:txBody>
      </p:sp>
      <p:sp>
        <p:nvSpPr>
          <p:cNvPr id="31" name="replacement-framework-stage-2">
            <a:extLst xmlns:a="http://schemas.openxmlformats.org/drawingml/2006/main">
              <a:ext uri="{FF2B5EF4-FFF2-40B4-BE49-F238E27FC236}">
                <a16:creationId xmlns:a16="http://schemas.microsoft.com/office/drawing/2014/main" id="{3D1371F3-CDBD-4FBC-B915-6F0B1BFA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19250"/>
            <a:ext cx="21431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  IMM-BASED TRACKING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CV and CT motion models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Detection-to-track assignment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Physical-target continuity</a:t>
            </a:r>
          </a:p>
        </p:txBody>
      </p:sp>
      <p:sp>
        <p:nvSpPr>
          <p:cNvPr id="32" name="replacement-framework-stage-3">
            <a:extLst xmlns:a="http://schemas.openxmlformats.org/drawingml/2006/main">
              <a:ext uri="{FF2B5EF4-FFF2-40B4-BE49-F238E27FC236}">
                <a16:creationId xmlns:a16="http://schemas.microsoft.com/office/drawing/2014/main" id="{9F1FF29B-701D-40B8-A747-D8588979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21431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  TARGET-TO-USER ASSOCIATION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VUE-indexed beam measurements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One-to-one matching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Accepted or unmatched</a:t>
            </a:r>
          </a:p>
        </p:txBody>
      </p:sp>
      <p:sp>
        <p:nvSpPr>
          <p:cNvPr id="33" name="replacement-framework-stage-4">
            <a:extLst xmlns:a="http://schemas.openxmlformats.org/drawingml/2006/main">
              <a:ext uri="{FF2B5EF4-FFF2-40B4-BE49-F238E27FC236}">
                <a16:creationId xmlns:a16="http://schemas.microsoft.com/office/drawing/2014/main" id="{605E7599-75E1-41FF-8821-8E4CAF1A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19250"/>
            <a:ext cx="2333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  CANDIDATE MEASUREMENT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Accepted + observed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Top-K predicted beams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Otherwise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 refinement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16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Cross-Node Fusion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Cross-node attention selects complementary viewpoints at each BEV location while preserving the target-BS perspective.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10125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Target-BS-conditioned queries preserve the serving-link view; geometry-aware keys distinguish node locations; masks exclude invalid projections.</a:t>
            </a:r>
          </a:p>
        </p:txBody>
      </p:sp>
      <p:sp>
        <p:nvSpPr>
          <p:cNvPr id="26" name="replacement-node-arrow-1">
            <a:extLst xmlns:a="http://schemas.openxmlformats.org/drawingml/2006/main">
              <a:ext uri="{FF2B5EF4-FFF2-40B4-BE49-F238E27FC236}">
                <a16:creationId xmlns:a16="http://schemas.microsoft.com/office/drawing/2014/main" id="{80E9B17C-E432-4EBE-9B1F-4FFD96F1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52750"/>
            <a:ext cx="1143000" cy="523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418AB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placement-node-arrow-2">
            <a:extLst xmlns:a="http://schemas.openxmlformats.org/drawingml/2006/main">
              <a:ext uri="{FF2B5EF4-FFF2-40B4-BE49-F238E27FC236}">
                <a16:creationId xmlns:a16="http://schemas.microsoft.com/office/drawing/2014/main" id="{9F311998-5668-4CA2-8B48-6441C9DA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1143000" cy="523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4288">
            <a:solidFill>
              <a:srgbClr val="5964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placement-node-inputs">
            <a:extLst xmlns:a="http://schemas.openxmlformats.org/drawingml/2006/main">
              <a:ext uri="{FF2B5EF4-FFF2-40B4-BE49-F238E27FC236}">
                <a16:creationId xmlns:a16="http://schemas.microsoft.com/office/drawing/2014/main" id="{069698C8-D894-4E13-A98A-572C3E6F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 BEV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Node 1 BEV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Node 2 BEV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···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Validity masks</a:t>
            </a:r>
          </a:p>
        </p:txBody>
      </p:sp>
      <p:sp>
        <p:nvSpPr>
          <p:cNvPr id="29" name="replacement-node-attention">
            <a:extLst xmlns:a="http://schemas.openxmlformats.org/drawingml/2006/main">
              <a:ext uri="{FF2B5EF4-FFF2-40B4-BE49-F238E27FC236}">
                <a16:creationId xmlns:a16="http://schemas.microsoft.com/office/drawing/2014/main" id="{32FAD952-B9DE-44BB-95D2-DCCF7874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43125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GEOMETRY-AWARE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MASKED ATTENTION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αⱼ(x) = softmaxⱼ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[q(x)ᵀkⱼ(x)/√d + b(gⱼ→b)]</a:t>
            </a:r>
          </a:p>
        </p:txBody>
      </p:sp>
      <p:sp>
        <p:nvSpPr>
          <p:cNvPr id="30" name="replacement-node-output">
            <a:extLst xmlns:a="http://schemas.openxmlformats.org/drawingml/2006/main">
              <a:ext uri="{FF2B5EF4-FFF2-40B4-BE49-F238E27FC236}">
                <a16:creationId xmlns:a16="http://schemas.microsoft.com/office/drawing/2014/main" id="{08B156C6-E082-4135-9C52-F90CB0B8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43125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Target-BS-centred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distributed camera BEV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Neighbouring evidence dominates only where valid.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7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Multimodal Fusion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Gated local and global attention adapt camera–ISAC fusion to spatial and scene-wide observation conditions.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fusion weights are learned from sensing features; availability masks only exclude missing inputs.</a:t>
            </a:r>
          </a:p>
        </p:txBody>
      </p:sp>
      <p:sp>
        <p:nvSpPr>
          <p:cNvPr id="26" name="replacement-modal-arrow-1">
            <a:extLst xmlns:a="http://schemas.openxmlformats.org/drawingml/2006/main">
              <a:ext uri="{FF2B5EF4-FFF2-40B4-BE49-F238E27FC236}">
                <a16:creationId xmlns:a16="http://schemas.microsoft.com/office/drawing/2014/main" id="{F2D30A1C-1C4B-433E-B79D-F86279C6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05125"/>
            <a:ext cx="1238250" cy="523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418AB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placement-modal-arrow-2">
            <a:extLst xmlns:a="http://schemas.openxmlformats.org/drawingml/2006/main">
              <a:ext uri="{FF2B5EF4-FFF2-40B4-BE49-F238E27FC236}">
                <a16:creationId xmlns:a16="http://schemas.microsoft.com/office/drawing/2014/main" id="{8E6D60DF-20E3-4978-97CD-931A58FF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238250" cy="523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4288">
            <a:solidFill>
              <a:srgbClr val="5964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placement-modal-inputs">
            <a:extLst xmlns:a="http://schemas.openxmlformats.org/drawingml/2006/main">
              <a:ext uri="{FF2B5EF4-FFF2-40B4-BE49-F238E27FC236}">
                <a16:creationId xmlns:a16="http://schemas.microsoft.com/office/drawing/2014/main" id="{EA3A3AE2-E4E2-4E26-89FB-C1543245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952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CAMERA BEV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Semantics and visibility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ISAC BEV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Complementary geometry</a:t>
            </a:r>
          </a:p>
        </p:txBody>
      </p:sp>
      <p:sp>
        <p:nvSpPr>
          <p:cNvPr id="29" name="replacement-modal-gate">
            <a:extLst xmlns:a="http://schemas.openxmlformats.org/drawingml/2006/main">
              <a:ext uri="{FF2B5EF4-FFF2-40B4-BE49-F238E27FC236}">
                <a16:creationId xmlns:a16="http://schemas.microsoft.com/office/drawing/2014/main" id="{7F518C3A-E3FB-48E9-984F-3D878792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43125"/>
            <a:ext cx="2762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GATED ATTENTION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βq(x) ∝ exp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[ℓlocal,q(x) + ℓglobal,q]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Availability mask</a:t>
            </a:r>
          </a:p>
        </p:txBody>
      </p:sp>
      <p:sp>
        <p:nvSpPr>
          <p:cNvPr id="30" name="replacement-modal-output">
            <a:extLst xmlns:a="http://schemas.openxmlformats.org/drawingml/2006/main">
              <a:ext uri="{FF2B5EF4-FFF2-40B4-BE49-F238E27FC236}">
                <a16:creationId xmlns:a16="http://schemas.microsoft.com/office/drawing/2014/main" id="{AD8C6D02-1D2F-4108-A484-B6207721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43125"/>
            <a:ext cx="2857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FUSED BEV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 weights respond to occlusion and sparsity.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Global weights respond to illumination and visibility.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8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Joint Detection and Beam Prediction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shared BEV representation produces vehicle detections and a per-target posterior over 192 CSI beams.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57375"/>
            <a:ext cx="2857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 output
 r̂ᵢ, attributes, confidence
Beam output
 pᵢ = softmax(logits at r̂ᵢ)
Training
Top-1 cross-entropy
Use
Full posterior retained for ranking</a:t>
            </a:r>
          </a:p>
        </p:txBody>
      </p:sp>
      <p:pic>
        <p:nvPicPr>
          <p:cNvPr id="3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5eaaed73d4dd9"/>
          <a:stretch xmlns:a="http://schemas.openxmlformats.org/drawingml/2006/main"/>
        </p:blipFill>
        <p:spPr>
          <a:xfrm xmlns:a="http://schemas.openxmlformats.org/drawingml/2006/main">
            <a:off x="1224130" y="1762125"/>
            <a:ext cx="6600491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9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IMM-Based Physical-Target Tracking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pic>
        <p:nvPicPr>
          <p:cNvPr id="100048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90a33fa8544e8">
            <a:alphaModFix amt="0"/>
          </a:blip>
          <a:stretch xmlns:a="http://schemas.openxmlformats.org/drawingml/2006/main"/>
        </p:blipFill>
        <p:spPr>
          <a:xfrm xmlns:a="http://schemas.openxmlformats.org/drawingml/2006/main">
            <a:off x="1097197" y="1714500"/>
            <a:ext cx="6854356" cy="3857625"/>
          </a:xfrm>
          <a:prstGeom xmlns:a="http://schemas.openxmlformats.org/drawingml/2006/main" prst="rect">
            <a:avLst/>
          </a:prstGeom>
        </p:spPr>
      </p:pic>
      <p:sp>
        <p:nvSpPr>
          <p:cNvPr id="100031" name="s17-role">
            <a:extLst xmlns:a="http://schemas.openxmlformats.org/drawingml/2006/main">
              <a:ext uri="{FF2B5EF4-FFF2-40B4-BE49-F238E27FC236}">
                <a16:creationId xmlns:a16="http://schemas.microsoft.com/office/drawing/2014/main" id="{22C1957E-5810-482D-90A5-8D8DEBF2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1400"/>
            <a:ext cx="10795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IMM estimation maintains physical-target continuity across straight and turning motion.</a:t>
            </a:r>
          </a:p>
        </p:txBody>
      </p:sp>
      <p:sp>
        <p:nvSpPr>
          <p:cNvPr id="100032" name="s17-cv-label">
            <a:extLst xmlns:a="http://schemas.openxmlformats.org/drawingml/2006/main">
              <a:ext uri="{FF2B5EF4-FFF2-40B4-BE49-F238E27FC236}">
                <a16:creationId xmlns:a16="http://schemas.microsoft.com/office/drawing/2014/main" id="{E0137296-2DA4-4462-BC10-17ED287D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25600"/>
            <a:ext cx="241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418AB3"/>
                </a:solidFill>
                <a:latin typeface="Helvetica"/>
                <a:ea typeface="Helvetica"/>
                <a:cs typeface="Helvetica"/>
              </a:rPr>
              <a:t>CV model</a:t>
            </a:r>
          </a:p>
        </p:txBody>
      </p:sp>
      <p:sp>
        <p:nvSpPr>
          <p:cNvPr id="100033" name="s17-cv-state">
            <a:extLst xmlns:a="http://schemas.openxmlformats.org/drawingml/2006/main">
              <a:ext uri="{FF2B5EF4-FFF2-40B4-BE49-F238E27FC236}">
                <a16:creationId xmlns:a16="http://schemas.microsoft.com/office/drawing/2014/main" id="{960EA5E9-C089-4EBD-8F99-0CF2C6EC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2300"/>
            <a:ext cx="406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x^(CV) = [x, y, v_x, v_y]^T</a:t>
            </a:r>
          </a:p>
        </p:txBody>
      </p:sp>
      <p:sp>
        <p:nvSpPr>
          <p:cNvPr id="100034" name="s17-ct-label">
            <a:extLst xmlns:a="http://schemas.openxmlformats.org/drawingml/2006/main">
              <a:ext uri="{FF2B5EF4-FFF2-40B4-BE49-F238E27FC236}">
                <a16:creationId xmlns:a16="http://schemas.microsoft.com/office/drawing/2014/main" id="{D93AFD7A-3303-428E-90BB-F1741877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1625600"/>
            <a:ext cx="241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96400"/>
                </a:solidFill>
                <a:latin typeface="Helvetica"/>
                <a:ea typeface="Helvetica"/>
                <a:cs typeface="Helvetica"/>
              </a:rPr>
              <a:t>CT model</a:t>
            </a:r>
          </a:p>
        </p:txBody>
      </p:sp>
      <p:sp>
        <p:nvSpPr>
          <p:cNvPr id="100035" name="s17-ct-state">
            <a:extLst xmlns:a="http://schemas.openxmlformats.org/drawingml/2006/main">
              <a:ext uri="{FF2B5EF4-FFF2-40B4-BE49-F238E27FC236}">
                <a16:creationId xmlns:a16="http://schemas.microsoft.com/office/drawing/2014/main" id="{46C59EBC-FDF8-45A1-AB96-C5F6921E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1892300"/>
            <a:ext cx="406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x^(CT) = [x, y, v, ψ, ω]^T</a:t>
            </a:r>
          </a:p>
        </p:txBody>
      </p:sp>
      <p:sp>
        <p:nvSpPr>
          <p:cNvPr id="100036" name="s17-rule">
            <a:extLst xmlns:a="http://schemas.openxmlformats.org/drawingml/2006/main">
              <a:ext uri="{FF2B5EF4-FFF2-40B4-BE49-F238E27FC236}">
                <a16:creationId xmlns:a16="http://schemas.microsoft.com/office/drawing/2014/main" id="{0A7E6580-AC04-437C-B889-21397926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03632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7" name="s17-update-label">
            <a:extLst xmlns:a="http://schemas.openxmlformats.org/drawingml/2006/main">
              <a:ext uri="{FF2B5EF4-FFF2-40B4-BE49-F238E27FC236}">
                <a16:creationId xmlns:a16="http://schemas.microsoft.com/office/drawing/2014/main" id="{139A6EB6-A976-492C-A3FD-CDBC4408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418AB3"/>
                </a:solidFill>
                <a:latin typeface="Helvetica"/>
                <a:ea typeface="Helvetica"/>
                <a:cs typeface="Helvetica"/>
              </a:rPr>
              <a:t>Model-posterior update</a:t>
            </a:r>
          </a:p>
        </p:txBody>
      </p:sp>
      <p:sp>
        <p:nvSpPr>
          <p:cNvPr id="100038" name="s17-update">
            <a:extLst xmlns:a="http://schemas.openxmlformats.org/drawingml/2006/main">
              <a:ext uri="{FF2B5EF4-FFF2-40B4-BE49-F238E27FC236}">
                <a16:creationId xmlns:a16="http://schemas.microsoft.com/office/drawing/2014/main" id="{00A383C5-5B07-4CEF-9489-FB3F5527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28575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μ^(ℓ)_(r,n) = [Λ^(ℓ)_(r,i,n) μ̄^(ℓ)_(r,n)] / [Σ_(j∈{CV, CT}) Λ^(j)_(r,i,n) μ̄^(j)_(r,n)]</a:t>
            </a:r>
          </a:p>
        </p:txBody>
      </p:sp>
      <p:sp>
        <p:nvSpPr>
          <p:cNvPr id="100039" name="s17-terms">
            <a:extLst xmlns:a="http://schemas.openxmlformats.org/drawingml/2006/main">
              <a:ext uri="{FF2B5EF4-FFF2-40B4-BE49-F238E27FC236}">
                <a16:creationId xmlns:a16="http://schemas.microsoft.com/office/drawing/2014/main" id="{E59A1FDE-80CB-4989-9277-5C22EA29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429000"/>
            <a:ext cx="444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μ̄: model probability after mixing</a:t>
            </a:r>
          </a:p>
        </p:txBody>
      </p:sp>
      <p:sp>
        <p:nvSpPr>
          <p:cNvPr id="100040" name="s17-proportional">
            <a:extLst xmlns:a="http://schemas.openxmlformats.org/drawingml/2006/main">
              <a:ext uri="{FF2B5EF4-FFF2-40B4-BE49-F238E27FC236}">
                <a16:creationId xmlns:a16="http://schemas.microsoft.com/office/drawing/2014/main" id="{3A4667E9-8027-44C0-A3DE-AE095454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36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596400"/>
                </a:solidFill>
                <a:latin typeface="Cambria Math"/>
                <a:ea typeface="Cambria Math"/>
                <a:cs typeface="Cambria Math"/>
              </a:rPr>
              <a:t>μ^(ℓ)_(r,n) ∝ Λ^(ℓ)_(r,i,n) μ̄^(ℓ)_(r,n)</a:t>
            </a:r>
          </a:p>
        </p:txBody>
      </p:sp>
      <p:pic>
        <p:nvPicPr>
          <p:cNvPr id="100059" name="s17-imm-diagra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eff6e486641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6400" y="3733800"/>
            <a:ext cx="6299200" cy="2286000"/>
          </a:xfrm>
          <a:prstGeom xmlns:a="http://schemas.openxmlformats.org/drawingml/2006/main" prst="rect">
            <a:avLst/>
          </a:prstGeom>
        </p:spPr>
      </p:pic>
      <p:sp>
        <p:nvSpPr>
          <p:cNvPr id="100042" name="s17-caption">
            <a:extLst xmlns:a="http://schemas.openxmlformats.org/drawingml/2006/main">
              <a:ext uri="{FF2B5EF4-FFF2-40B4-BE49-F238E27FC236}">
                <a16:creationId xmlns:a16="http://schemas.microsoft.com/office/drawing/2014/main" id="{B06B9DF6-9300-4650-A56E-D22E7CC9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70600"/>
            <a:ext cx="914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i="1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Mix → model-conditioned filtering → likelihood reweighting → fused physical-target state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0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Measurement-Grounded Target–User Association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00250"/>
            <a:ext cx="2333625" cy="310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6" name="replacement-association-arrow-1">
            <a:extLst xmlns:a="http://schemas.openxmlformats.org/drawingml/2006/main">
              <a:ext uri="{FF2B5EF4-FFF2-40B4-BE49-F238E27FC236}">
                <a16:creationId xmlns:a16="http://schemas.microsoft.com/office/drawing/2014/main" id="{735330BB-7502-4383-B147-3786EEFE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71437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placement-association-arrow-2">
            <a:extLst xmlns:a="http://schemas.openxmlformats.org/drawingml/2006/main">
              <a:ext uri="{FF2B5EF4-FFF2-40B4-BE49-F238E27FC236}">
                <a16:creationId xmlns:a16="http://schemas.microsoft.com/office/drawing/2014/main" id="{A343ABEE-2260-4B18-820F-39F8C8CE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95625"/>
            <a:ext cx="71437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placement-association-measurements">
            <a:extLst xmlns:a="http://schemas.openxmlformats.org/drawingml/2006/main">
              <a:ext uri="{FF2B5EF4-FFF2-40B4-BE49-F238E27FC236}">
                <a16:creationId xmlns:a16="http://schemas.microsoft.com/office/drawing/2014/main" id="{1CDFA73A-824D-4217-A047-B1A75EEF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22383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9" name="replacement-association-cost">
            <a:extLst xmlns:a="http://schemas.openxmlformats.org/drawingml/2006/main">
              <a:ext uri="{FF2B5EF4-FFF2-40B4-BE49-F238E27FC236}">
                <a16:creationId xmlns:a16="http://schemas.microsoft.com/office/drawing/2014/main" id="{B5CB0B6A-A2E0-4DA8-B7FF-066FD7FD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00250"/>
            <a:ext cx="2333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30" name="replacement-association-result">
            <a:extLst xmlns:a="http://schemas.openxmlformats.org/drawingml/2006/main">
              <a:ext uri="{FF2B5EF4-FFF2-40B4-BE49-F238E27FC236}">
                <a16:creationId xmlns:a16="http://schemas.microsoft.com/office/drawing/2014/main" id="{060A7524-9C61-48C3-9417-D2F39DD2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00250"/>
            <a:ext cx="2333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100043" name="s18-role">
            <a:extLst xmlns:a="http://schemas.openxmlformats.org/drawingml/2006/main">
              <a:ext uri="{FF2B5EF4-FFF2-40B4-BE49-F238E27FC236}">
                <a16:creationId xmlns:a16="http://schemas.microsoft.com/office/drawing/2014/main" id="{3309A527-1C7C-481B-BD4C-5BEACD81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1400"/>
            <a:ext cx="10795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Beam-measurement agreement links a VUE to a currently observed physical track.</a:t>
            </a:r>
          </a:p>
        </p:txBody>
      </p:sp>
      <p:sp>
        <p:nvSpPr>
          <p:cNvPr id="100044" name="s18-step1">
            <a:extLst xmlns:a="http://schemas.openxmlformats.org/drawingml/2006/main">
              <a:ext uri="{FF2B5EF4-FFF2-40B4-BE49-F238E27FC236}">
                <a16:creationId xmlns:a16="http://schemas.microsoft.com/office/drawing/2014/main" id="{9F54253B-27A1-407A-B316-DE44EF88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2900"/>
            <a:ext cx="825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418AB3"/>
                </a:solidFill>
                <a:latin typeface="Helvetica"/>
                <a:ea typeface="Helvetica"/>
                <a:cs typeface="Helvetica"/>
              </a:rPr>
              <a:t>1  Compatibility from a VUE-indexed beam measurement</a:t>
            </a:r>
          </a:p>
        </p:txBody>
      </p:sp>
      <p:sp>
        <p:nvSpPr>
          <p:cNvPr id="100045" name="s18-cost">
            <a:extLst xmlns:a="http://schemas.openxmlformats.org/drawingml/2006/main">
              <a:ext uri="{FF2B5EF4-FFF2-40B4-BE49-F238E27FC236}">
                <a16:creationId xmlns:a16="http://schemas.microsoft.com/office/drawing/2014/main" id="{DF7059B9-CD4D-4CDA-AE15-52A38B16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9177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c^assoc_(u,r,n) = − log[p^obs_(r,n)(κ_(b,u,n))+ε] / log M_CSI</a:t>
            </a:r>
          </a:p>
        </p:txBody>
      </p:sp>
      <p:sp>
        <p:nvSpPr>
          <p:cNvPr id="100046" name="s18-cost-meaning">
            <a:extLst xmlns:a="http://schemas.openxmlformats.org/drawingml/2006/main">
              <a:ext uri="{FF2B5EF4-FFF2-40B4-BE49-F238E27FC236}">
                <a16:creationId xmlns:a16="http://schemas.microsoft.com/office/drawing/2014/main" id="{B315B9B2-739E-4136-9E8C-510D6B68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2374900"/>
            <a:ext cx="965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Lower cost ⇔ stronger agreement between the VUE measurement and the current track posterior.</a:t>
            </a:r>
          </a:p>
        </p:txBody>
      </p:sp>
      <p:sp>
        <p:nvSpPr>
          <p:cNvPr id="100047" name="s18-rule1">
            <a:extLst xmlns:a="http://schemas.openxmlformats.org/drawingml/2006/main">
              <a:ext uri="{FF2B5EF4-FFF2-40B4-BE49-F238E27FC236}">
                <a16:creationId xmlns:a16="http://schemas.microsoft.com/office/drawing/2014/main" id="{5F5BD696-6D5F-445D-99AA-E1CF8BD4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03632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8" name="s18-step2">
            <a:extLst xmlns:a="http://schemas.openxmlformats.org/drawingml/2006/main">
              <a:ext uri="{FF2B5EF4-FFF2-40B4-BE49-F238E27FC236}">
                <a16:creationId xmlns:a16="http://schemas.microsoft.com/office/drawing/2014/main" id="{0DDEA34E-E976-42F5-915C-3806AE46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0200"/>
            <a:ext cx="889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96400"/>
                </a:solidFill>
                <a:latin typeface="Helvetica"/>
                <a:ea typeface="Helvetica"/>
                <a:cs typeface="Helvetica"/>
              </a:rPr>
              <a:t>2  Partial one-to-one assignment with an unmatched option</a:t>
            </a:r>
          </a:p>
        </p:txBody>
      </p:sp>
      <p:sp>
        <p:nvSpPr>
          <p:cNvPr id="100049" name="s18-assignment">
            <a:extLst xmlns:a="http://schemas.openxmlformats.org/drawingml/2006/main">
              <a:ext uri="{FF2B5EF4-FFF2-40B4-BE49-F238E27FC236}">
                <a16:creationId xmlns:a16="http://schemas.microsoft.com/office/drawing/2014/main" id="{B2286DAB-4FDF-48FD-AD0C-A9FBEF67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175000"/>
            <a:ext cx="1022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σ̂ = arg min_σ  Σ_(u∈U^evt_b[n]) c^assoc_(u,σ(u),n),   σ(u)∈R^obs_(b,n) ∪ {∅}</a:t>
            </a:r>
          </a:p>
        </p:txBody>
      </p:sp>
      <p:sp>
        <p:nvSpPr>
          <p:cNvPr id="100050" name="s18-feasibility">
            <a:extLst xmlns:a="http://schemas.openxmlformats.org/drawingml/2006/main">
              <a:ext uri="{FF2B5EF4-FFF2-40B4-BE49-F238E27FC236}">
                <a16:creationId xmlns:a16="http://schemas.microsoft.com/office/drawing/2014/main" id="{DF0A290F-2C39-479F-BA9A-224BF432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3632200"/>
            <a:ext cx="965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Feasible edges: current observation + SSB-parent consistency; real tracks are one-to-one.</a:t>
            </a:r>
          </a:p>
        </p:txBody>
      </p:sp>
      <p:sp>
        <p:nvSpPr>
          <p:cNvPr id="100051" name="s18-rule2">
            <a:extLst xmlns:a="http://schemas.openxmlformats.org/drawingml/2006/main">
              <a:ext uri="{FF2B5EF4-FFF2-40B4-BE49-F238E27FC236}">
                <a16:creationId xmlns:a16="http://schemas.microsoft.com/office/drawing/2014/main" id="{4A4B219A-5B04-466A-B275-0C58E415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3200"/>
            <a:ext cx="103632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2" name="s18-step3">
            <a:extLst xmlns:a="http://schemas.openxmlformats.org/drawingml/2006/main">
              <a:ext uri="{FF2B5EF4-FFF2-40B4-BE49-F238E27FC236}">
                <a16:creationId xmlns:a16="http://schemas.microsoft.com/office/drawing/2014/main" id="{2FE27550-B5C4-4EF4-834C-DB59F8FC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83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418AB3"/>
                </a:solidFill>
                <a:latin typeface="Helvetica"/>
                <a:ea typeface="Helvetica"/>
                <a:cs typeface="Helvetica"/>
              </a:rPr>
              <a:t>3  Accept only when the match is confident</a:t>
            </a:r>
          </a:p>
        </p:txBody>
      </p:sp>
      <p:sp>
        <p:nvSpPr>
          <p:cNvPr id="100053" name="s18-acceptance">
            <a:extLst xmlns:a="http://schemas.openxmlformats.org/drawingml/2006/main">
              <a:ext uri="{FF2B5EF4-FFF2-40B4-BE49-F238E27FC236}">
                <a16:creationId xmlns:a16="http://schemas.microsoft.com/office/drawing/2014/main" id="{BEE0A4B0-6261-4DA6-9CF2-457F7E30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83100"/>
            <a:ext cx="901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A_(u,r,n) = 1{ c^assoc_(u,r,n) ≤ τ_assoc,   Δ_(u,r,n) ≥ τ_margin }</a:t>
            </a:r>
          </a:p>
        </p:txBody>
      </p:sp>
      <p:sp>
        <p:nvSpPr>
          <p:cNvPr id="100054" name="s18-conclusion">
            <a:extLst xmlns:a="http://schemas.openxmlformats.org/drawingml/2006/main">
              <a:ext uri="{FF2B5EF4-FFF2-40B4-BE49-F238E27FC236}">
                <a16:creationId xmlns:a16="http://schemas.microsoft.com/office/drawing/2014/main" id="{9BA4FA03-C55C-4ED4-8F7D-24F7C192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8000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96400"/>
                </a:solidFill>
                <a:latin typeface="Helvetica"/>
                <a:ea typeface="Helvetica"/>
                <a:cs typeface="Helvetica"/>
              </a:rPr>
              <a:t>∅ and Δ prevent forced ambiguous matching.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1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Association-Gated Beam Candidate Selection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86375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6" name="replacement-candidate-arrow-1">
            <a:extLst xmlns:a="http://schemas.openxmlformats.org/drawingml/2006/main">
              <a:ext uri="{FF2B5EF4-FFF2-40B4-BE49-F238E27FC236}">
                <a16:creationId xmlns:a16="http://schemas.microsoft.com/office/drawing/2014/main" id="{CBB522AA-7A51-4FA0-B1EC-52C2BF66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37204"/>
            <a:ext cx="666750" cy="523876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placement-candidate-arrow-2">
            <a:extLst xmlns:a="http://schemas.openxmlformats.org/drawingml/2006/main">
              <a:ext uri="{FF2B5EF4-FFF2-40B4-BE49-F238E27FC236}">
                <a16:creationId xmlns:a16="http://schemas.microsoft.com/office/drawing/2014/main" id="{E42FCA9E-92D4-45C8-8A6F-48C2A9AE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2952750" cy="523875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placement-candidate-gate">
            <a:extLst xmlns:a="http://schemas.openxmlformats.org/drawingml/2006/main">
              <a:ext uri="{FF2B5EF4-FFF2-40B4-BE49-F238E27FC236}">
                <a16:creationId xmlns:a16="http://schemas.microsoft.com/office/drawing/2014/main" id="{57B5C4DD-AACD-4962-ADF0-B021CAAA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352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9" name="replacement-candidate-yes">
            <a:extLst xmlns:a="http://schemas.openxmlformats.org/drawingml/2006/main">
              <a:ext uri="{FF2B5EF4-FFF2-40B4-BE49-F238E27FC236}">
                <a16:creationId xmlns:a16="http://schemas.microsoft.com/office/drawing/2014/main" id="{B024C894-001E-4FB1-B7A4-B3B6B3ED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3619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30" name="replacement-candidate-no">
            <a:extLst xmlns:a="http://schemas.openxmlformats.org/drawingml/2006/main">
              <a:ext uri="{FF2B5EF4-FFF2-40B4-BE49-F238E27FC236}">
                <a16:creationId xmlns:a16="http://schemas.microsoft.com/office/drawing/2014/main" id="{35DC6E83-58B0-49EF-9625-96930983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3619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100055" name="s19-role">
            <a:extLst xmlns:a="http://schemas.openxmlformats.org/drawingml/2006/main">
              <a:ext uri="{FF2B5EF4-FFF2-40B4-BE49-F238E27FC236}">
                <a16:creationId xmlns:a16="http://schemas.microsoft.com/office/drawing/2014/main" id="{0F59127A-2A27-4EB7-8F12-4BBEA0FF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1400"/>
            <a:ext cx="10795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sensing posterior reduces CSI-RS scanning only when the VUE–track mapping is accepted and current.</a:t>
            </a:r>
          </a:p>
        </p:txBody>
      </p:sp>
      <p:sp>
        <p:nvSpPr>
          <p:cNvPr id="100056" name="s19-step1">
            <a:extLst xmlns:a="http://schemas.openxmlformats.org/drawingml/2006/main">
              <a:ext uri="{FF2B5EF4-FFF2-40B4-BE49-F238E27FC236}">
                <a16:creationId xmlns:a16="http://schemas.microsoft.com/office/drawing/2014/main" id="{D9FB3A58-1E51-49F8-99AF-0B67984C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25600"/>
            <a:ext cx="355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418AB3"/>
                </a:solidFill>
                <a:latin typeface="Helvetica"/>
                <a:ea typeface="Helvetica"/>
                <a:cs typeface="Helvetica"/>
              </a:rPr>
              <a:t>1  Candidate-use gate</a:t>
            </a:r>
          </a:p>
        </p:txBody>
      </p:sp>
      <p:sp>
        <p:nvSpPr>
          <p:cNvPr id="100057" name="s19-gate1">
            <a:extLst xmlns:a="http://schemas.openxmlformats.org/drawingml/2006/main">
              <a:ext uri="{FF2B5EF4-FFF2-40B4-BE49-F238E27FC236}">
                <a16:creationId xmlns:a16="http://schemas.microsoft.com/office/drawing/2014/main" id="{CDB6C7E5-06F1-434C-9434-B308D93C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500" y="1955800"/>
            <a:ext cx="825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G_(u,n) = A_(u,r,n),   if π_(b,n)(u) = r ∈ R^obs_(b,n)</a:t>
            </a:r>
          </a:p>
        </p:txBody>
      </p:sp>
      <p:sp>
        <p:nvSpPr>
          <p:cNvPr id="100058" name="s19-gate2">
            <a:extLst xmlns:a="http://schemas.openxmlformats.org/drawingml/2006/main">
              <a:ext uri="{FF2B5EF4-FFF2-40B4-BE49-F238E27FC236}">
                <a16:creationId xmlns:a16="http://schemas.microsoft.com/office/drawing/2014/main" id="{60A2C393-CC91-4480-8CEF-34392C32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0600"/>
            <a:ext cx="4953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G_(u,n) = 0,              otherwise</a:t>
            </a:r>
          </a:p>
        </p:txBody>
      </p:sp>
      <p:sp>
        <p:nvSpPr>
          <p:cNvPr id="100059" name="s19-gate-meaning">
            <a:extLst xmlns:a="http://schemas.openxmlformats.org/drawingml/2006/main">
              <a:ext uri="{FF2B5EF4-FFF2-40B4-BE49-F238E27FC236}">
                <a16:creationId xmlns:a16="http://schemas.microsoft.com/office/drawing/2014/main" id="{C42A0340-D291-4D47-A888-7458F72B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628900"/>
            <a:ext cx="850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A predicted-only track gives G=0 and cannot reduce the measurement set.</a:t>
            </a:r>
          </a:p>
        </p:txBody>
      </p:sp>
      <p:sp>
        <p:nvSpPr>
          <p:cNvPr id="100060" name="s19-rule1">
            <a:extLst xmlns:a="http://schemas.openxmlformats.org/drawingml/2006/main">
              <a:ext uri="{FF2B5EF4-FFF2-40B4-BE49-F238E27FC236}">
                <a16:creationId xmlns:a16="http://schemas.microsoft.com/office/drawing/2014/main" id="{3B1AA94A-E915-42D2-AF9A-CF755D21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9100"/>
            <a:ext cx="103632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1" name="s19-step2">
            <a:extLst xmlns:a="http://schemas.openxmlformats.org/drawingml/2006/main">
              <a:ext uri="{FF2B5EF4-FFF2-40B4-BE49-F238E27FC236}">
                <a16:creationId xmlns:a16="http://schemas.microsoft.com/office/drawing/2014/main" id="{D09AED3D-3687-439B-915D-3AECD886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431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96400"/>
                </a:solidFill>
                <a:latin typeface="Helvetica"/>
                <a:ea typeface="Helvetica"/>
                <a:cs typeface="Helvetica"/>
              </a:rPr>
              <a:t>2  Measurement-set policy</a:t>
            </a:r>
          </a:p>
        </p:txBody>
      </p:sp>
      <p:sp>
        <p:nvSpPr>
          <p:cNvPr id="100062" name="s19-policy1">
            <a:extLst xmlns:a="http://schemas.openxmlformats.org/drawingml/2006/main">
              <a:ext uri="{FF2B5EF4-FFF2-40B4-BE49-F238E27FC236}">
                <a16:creationId xmlns:a16="http://schemas.microsoft.com/office/drawing/2014/main" id="{D2A9248D-7380-4593-8E6B-A28A9056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54400"/>
            <a:ext cx="96520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C_(b,u,n) = TopK_Kscan(p^obs_(π_(b,n)(u),n)),   G_(u,n)=1</a:t>
            </a:r>
          </a:p>
        </p:txBody>
      </p:sp>
      <p:sp>
        <p:nvSpPr>
          <p:cNvPr id="100063" name="s19-policy2">
            <a:extLst xmlns:a="http://schemas.openxmlformats.org/drawingml/2006/main">
              <a:ext uri="{FF2B5EF4-FFF2-40B4-BE49-F238E27FC236}">
                <a16:creationId xmlns:a16="http://schemas.microsoft.com/office/drawing/2014/main" id="{86A79346-E677-43A5-B9A7-C323616E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59200"/>
            <a:ext cx="96520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C_(b,u,n) = C^ref_(b,u,n)(K_ref),                 G_(u,n)=0</a:t>
            </a:r>
          </a:p>
        </p:txBody>
      </p:sp>
      <p:sp>
        <p:nvSpPr>
          <p:cNvPr id="100064" name="s19-adaptive">
            <a:extLst xmlns:a="http://schemas.openxmlformats.org/drawingml/2006/main">
              <a:ext uri="{FF2B5EF4-FFF2-40B4-BE49-F238E27FC236}">
                <a16:creationId xmlns:a16="http://schemas.microsoft.com/office/drawing/2014/main" id="{3237D8AC-1F32-4F82-BB4E-5F0C2AAA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000" y="4229100"/>
            <a:ext cx="889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Adaptive width: choose the smallest Kscan whose leading posterior mass reaches ζ.</a:t>
            </a:r>
          </a:p>
        </p:txBody>
      </p:sp>
      <p:sp>
        <p:nvSpPr>
          <p:cNvPr id="100065" name="s19-rule2">
            <a:extLst xmlns:a="http://schemas.openxmlformats.org/drawingml/2006/main">
              <a:ext uri="{FF2B5EF4-FFF2-40B4-BE49-F238E27FC236}">
                <a16:creationId xmlns:a16="http://schemas.microsoft.com/office/drawing/2014/main" id="{0CB90A6D-20A0-4356-95D8-5D78ADEA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5200"/>
            <a:ext cx="103632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7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6" name="s19-safeguard-label">
            <a:extLst xmlns:a="http://schemas.openxmlformats.org/drawingml/2006/main">
              <a:ext uri="{FF2B5EF4-FFF2-40B4-BE49-F238E27FC236}">
                <a16:creationId xmlns:a16="http://schemas.microsoft.com/office/drawing/2014/main" id="{0F8A0012-0C8F-4E53-9572-682FCF8A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038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96400"/>
                </a:solidFill>
                <a:latin typeface="Helvetica"/>
                <a:ea typeface="Helvetica"/>
                <a:cs typeface="Helvetica"/>
              </a:rPr>
              <a:t>Measurement safeguard</a:t>
            </a:r>
          </a:p>
        </p:txBody>
      </p:sp>
      <p:sp>
        <p:nvSpPr>
          <p:cNvPr id="100067" name="s19-safeguard">
            <a:extLst xmlns:a="http://schemas.openxmlformats.org/drawingml/2006/main">
              <a:ext uri="{FF2B5EF4-FFF2-40B4-BE49-F238E27FC236}">
                <a16:creationId xmlns:a16="http://schemas.microsoft.com/office/drawing/2014/main" id="{C658DC59-E8E7-4630-AA2E-A4791C86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posterior ranks CSI-RS candidates; the service beam is selected from measured CSI-RS quality.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2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Algorithm Summary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framework separates sensing computation from air-interface measurement cost.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Scaling drivers  Views and BEV resolution · targets and tracks · assignment size · M_CSI · K_scan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52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Construct distributed multimodal BEV features.
2  Decode detections and beam-class posteriors.
3  Predict, assign, and update physical-target tracks.
4  Reassociate only when an association event occurs.
5  Select sensing-derived or SSB-guided CSI-RS candidates.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3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Experimental Evaluation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Does the complete decision chain improve communication performance after measurement cost is included?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24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Experimental Setup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common multimodal and communication protocol links perception results to effective user rate.</a:t>
            </a:r>
          </a:p>
        </p:txBody>
      </p:sp>
      <p:sp>
        <p:nvSpPr>
          <p:cNvPr id="26" name="replacement-setup-arrow-1">
            <a:extLst xmlns:a="http://schemas.openxmlformats.org/drawingml/2006/main">
              <a:ext uri="{FF2B5EF4-FFF2-40B4-BE49-F238E27FC236}">
                <a16:creationId xmlns:a16="http://schemas.microsoft.com/office/drawing/2014/main" id="{46008BF8-8E9B-402C-BE75-3964C1A3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71437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418AB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placement-setup-arrow-2">
            <a:extLst xmlns:a="http://schemas.openxmlformats.org/drawingml/2006/main">
              <a:ext uri="{FF2B5EF4-FFF2-40B4-BE49-F238E27FC236}">
                <a16:creationId xmlns:a16="http://schemas.microsoft.com/office/drawing/2014/main" id="{D24FCD7F-9292-40C1-ADD0-C1FD5664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71437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4288">
            <a:solidFill>
              <a:srgbClr val="5964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placement-setup-scenes">
            <a:extLst xmlns:a="http://schemas.openxmlformats.org/drawingml/2006/main">
              <a:ext uri="{FF2B5EF4-FFF2-40B4-BE49-F238E27FC236}">
                <a16:creationId xmlns:a16="http://schemas.microsoft.com/office/drawing/2014/main" id="{421A6659-BFA9-4559-A8C5-453981DC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2333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SCENARIOS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Four roadside BSs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Clear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Rain/Fog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Night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Disjoint train, validation, and test sequences</a:t>
            </a:r>
          </a:p>
        </p:txBody>
      </p:sp>
      <p:sp>
        <p:nvSpPr>
          <p:cNvPr id="29" name="replacement-setup-data">
            <a:extLst xmlns:a="http://schemas.openxmlformats.org/drawingml/2006/main">
              <a:ext uri="{FF2B5EF4-FFF2-40B4-BE49-F238E27FC236}">
                <a16:creationId xmlns:a16="http://schemas.microsoft.com/office/drawing/2014/main" id="{F4F3FF8F-5EBF-4DDF-991C-3122D392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00250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DATA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 cameras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Neighbouring-node cameras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BS-local ISAC point clouds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Vehicle trajectories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Ray-traced channels</a:t>
            </a:r>
          </a:p>
        </p:txBody>
      </p:sp>
      <p:sp>
        <p:nvSpPr>
          <p:cNvPr id="30" name="replacement-setup-radio">
            <a:extLst xmlns:a="http://schemas.openxmlformats.org/drawingml/2006/main">
              <a:ext uri="{FF2B5EF4-FFF2-40B4-BE49-F238E27FC236}">
                <a16:creationId xmlns:a16="http://schemas.microsoft.com/office/drawing/2014/main" id="{F3022430-89A8-4727-976A-369B6C69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00250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RADIO PROFILE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48 SSB beams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192 CSI-RS beams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period 100 ms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period 20 ms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Common power, noise, Doppler, RZF, and overhead accounting</a:t>
            </a:r>
          </a:p>
        </p:txBody>
      </p:sp>
      <p:sp>
        <p:nvSpPr>
          <p:cNvPr id="31" name="replacement-evaluation-chain">
            <a:extLst xmlns:a="http://schemas.openxmlformats.org/drawingml/2006/main">
              <a:ext uri="{FF2B5EF4-FFF2-40B4-BE49-F238E27FC236}">
                <a16:creationId xmlns:a16="http://schemas.microsoft.com/office/drawing/2014/main" id="{E112032D-33F9-46CB-A8E4-08259FB6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809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EVALUATION CHAIN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Beam ranking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Association-conditioned use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CSI-RS overhead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Effective user rate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Rain/Fog margin is a fixed test-tuned operating point.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5.xml><?xml version="1.0" encoding="utf-8"?>
<p:sld xmlns:a="http://schemas.openxmlformats.org/drawingml/2006/main" xmlns:a16="http://schemas.microsoft.com/office/drawing/2014/main" xmlns:r="http://schemas.openxmlformats.org/officeDocument/2006/relationships" xmlns:c="http://schemas.openxmlformats.org/drawingml/2006/chart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Perception and Beam Prediction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Distributed multimodal attention improves target availability without uniformly dominating every beam-ranking metric.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7715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4fdf9ac1be4c82"/>
          </a:graphicData>
        </a:graphic>
      </p:graphicFrame>
      <p:sp>
        <p:nvSpPr>
          <p:cNvPr id="27" name="replacement-perception-summary">
            <a:extLst xmlns:a="http://schemas.openxmlformats.org/drawingml/2006/main">
              <a:ext uri="{FF2B5EF4-FFF2-40B4-BE49-F238E27FC236}">
                <a16:creationId xmlns:a16="http://schemas.microsoft.com/office/drawing/2014/main" id="{C0728BE8-0C87-43C3-ACC4-F367DF7D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857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Blue  Distributed multimodal attention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Gray  Local camera–ISAC fusion</a:t>
            </a:r>
          </a:p>
          <a:p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Proposed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AP 78.73%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Recall 81.51%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Top-4 power ratio 97.01%</a:t>
            </a:r>
          </a:p>
          <a:p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 fusion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Top-1 71.54%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Top-4 94.66%</a:t>
            </a:r>
          </a:p>
          <a:p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 observability and beam ranking are distinct objectives.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6.xml><?xml version="1.0" encoding="utf-8"?>
<p:sld xmlns:a="http://schemas.openxmlformats.org/drawingml/2006/main" xmlns:a16="http://schemas.microsoft.com/office/drawing/2014/main" xmlns:r="http://schemas.openxmlformats.org/officeDocument/2006/relationships" xmlns:c="http://schemas.openxmlformats.org/drawingml/2006/chart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Cooperative Sensing Nodes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Additional roadside viewpoints primarily improve detection and </a:t>
            </a: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localisation</a:t>
            </a: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857500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33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3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Blue  AP@2m
Orange  Recall@2m
Olive  Beam Top-4@2m
Fixed trained model
Available nodes varied only at test time
0 → 5 nodes
AP 38.59% → 80.41%
Recall 52.34% → 83.15%
Beam Top-4 approaches saturation.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7810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b6719567ce46e6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7.xml><?xml version="1.0" encoding="utf-8"?>
<p:sld xmlns:a="http://schemas.openxmlformats.org/drawingml/2006/main" xmlns:a16="http://schemas.microsoft.com/office/drawing/2014/main" xmlns:r="http://schemas.openxmlformats.org/officeDocument/2006/relationships" xmlns:c="http://schemas.openxmlformats.org/drawingml/2006/chart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10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Communication Performance</a:t>
            </a:r>
          </a:p>
        </p:txBody>
      </p:sp>
      <p:sp>
        <p:nvSpPr>
          <p:cNvPr id="100011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DMSA-BM achieves the highest reported effective user rate with the lowest CSI-RS overhead among the compared schemes.</a:t>
            </a:r>
          </a:p>
        </p:txBody>
      </p:sp>
      <p:sp>
        <p:nvSpPr>
          <p:cNvPr id="100012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857500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overhead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SSB-guided, Kref = 4      1.90%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SSB-guided, Kref = 12     5.71%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DMSA-BM                   1.56%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use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Clear 76.35% · Rain/Fog 56.65% · Night 30.07%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Fallback: retain SSB-guided refinement when sensing is not used.</a:t>
            </a:r>
          </a:p>
        </p:txBody>
      </p:sp>
      <p:graphicFrame>
        <p:nvGraphicFramePr>
          <p:cNvPr id="100017" name="Chart"/>
          <p:cNvGraphicFramePr/>
          <p:nvPr/>
        </p:nvGraphicFramePr>
        <p:xfrm>
          <a:off xmlns:a="http://schemas.openxmlformats.org/drawingml/2006/main" x="1079500" y="2000250"/>
          <a:ext xmlns:a="http://schemas.openxmlformats.org/drawingml/2006/main" cx="7366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b24e87b356453e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8.xml><?xml version="1.0" encoding="utf-8"?>
<p:sld xmlns:a="http://schemas.openxmlformats.org/drawingml/2006/main" xmlns:a16="http://schemas.microsoft.com/office/drawing/2014/main" xmlns:r="http://schemas.openxmlformats.org/officeDocument/2006/relationships" xmlns:c="http://schemas.openxmlformats.org/drawingml/2006/chart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Ablation and Tracking Results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 multimodal complementarity provides most of the gain; distributed sensing improves the final operating point.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857500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overhead
Camera 1.86%
ISAC 1.81%
Local fusion 1.80%
DMSA-BM 1.56%
Tracker check
IMM 146.332
KF-CV 146.373
KF-CT 145.880 Mbps
Similar rates do not establish universal IMM superiority.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19125" y="2000250"/>
          <a:ext xmlns:a="http://schemas.openxmlformats.org/drawingml/2006/main" cx="7810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a95af4831b47d9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9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Conclusion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has been established, and what remains before deployment?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30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Conclusions and Future Work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Distributed sensing becomes useful for beam management through a user-specific measurement interface.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00250"/>
            <a:ext cx="2714625" cy="338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00C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NEXT STEPS
Real-world validation
Protocol-level NR evaluation
Online and domain adaptation
Cooperative multi-BS association
QUESTIONS AND DISCUSSION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7810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□ Distributed multimodal BEV perception jointly detects vehicles and ranks per-target CSI beams.
□ IMM tracking preserves physical-target continuity without treating a track as a VUE identity.
□ Beam measurements establish target-to-user associations; only accepted, currently observed pairs reduce CSI-RS scanning.
□ Under the stated operating point, DMSA-BM achieves 146.332 Mbps with 1.56% CSI-RS overhead.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theme/theme1.xml><?xml version="1.0" encoding="utf-8"?>
<a:theme xmlns:a="http://schemas.openxmlformats.org/drawingml/2006/main" name="Academic Literature 16x9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自定义 4">
      <a:majorFont>
        <a:latin typeface="Arial"/>
        <a:ea typeface="宋体"/>
        <a:cs typeface=""/>
      </a:majorFont>
      <a:minorFont>
        <a:latin typeface="Helvetica"/>
        <a:ea typeface="宋体"/>
        <a:cs typeface="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48000">
          <a:solidFill>
            <a:schemeClr val="phClr"/>
          </a:solidFill>
          <a:prstDash val="solid"/>
        </a:ln>
        <a:ln w="48500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2026-07-17T14:30:36.4890000Z</dcterms:created>
  <dcterms:modified xsi:type="dcterms:W3CDTF">2026-07-17T14:30:36.4890000Z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1.0.136</vt:lpwstr>
  </op:property>
  <op:property fmtid="{D5CDD505-2E9C-101B-9397-08002B2CF9AE}" pid="3" name="OfficeCLI.LastModified">
    <vt:lpwstr xmlns:vt="http://schemas.openxmlformats.org/officeDocument/2006/docPropsVTypes">2026-07-17T14:41:54Z</vt:lpwstr>
  </op:property>
</op:Properties>
</file>