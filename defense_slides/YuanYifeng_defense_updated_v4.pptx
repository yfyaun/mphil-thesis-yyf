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rts/chart1.xml" ContentType="application/vnd.openxmlformats-officedocument.drawingml.chart+xml"/>
  <Override PartName="/ppt/notesSlides/notesSlide26.xml" ContentType="application/vnd.openxmlformats-officedocument.presentationml.notesSlide+xml"/>
  <Override PartName="/ppt/charts/chart2.xml" ContentType="application/vnd.openxmlformats-officedocument.drawingml.chart+xml"/>
  <Override PartName="/ppt/notesSlides/notesSlide27.xml" ContentType="application/vnd.openxmlformats-officedocument.presentationml.notesSlide+xml"/>
  <Override PartName="/ppt/charts/chart3.xml" ContentType="application/vnd.openxmlformats-officedocument.drawingml.chart+xml"/>
  <Override PartName="/ppt/notesSlides/notesSlide28.xml" ContentType="application/vnd.openxmlformats-officedocument.presentationml.notesSlide+xml"/>
  <Override PartName="/ppt/charts/chart4.xml" ContentType="application/vnd.openxmlformats-officedocument.drawingml.chart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中度样式 4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3" d="100"/>
          <a:sy n="153" d="100"/>
        </p:scale>
        <p:origin x="5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Local camera–ISAC fusion</c:v>
          </c:tx>
          <c:spPr>
            <a:solidFill>
              <a:srgbClr val="838383"/>
            </a:solidFill>
          </c:spPr>
          <c:invertIfNegative val="1"/>
          <c:dLbls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1125">
                    <a:solidFill>
                      <a:srgbClr val="000000"/>
                    </a:solidFill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AP@2m</c:v>
              </c:pt>
              <c:pt idx="1">
                <c:v>Recall@2m</c:v>
              </c:pt>
              <c:pt idx="2">
                <c:v>Beam Top-1</c:v>
              </c:pt>
              <c:pt idx="3">
                <c:v>Beam Top-4</c:v>
              </c:pt>
            </c:strLit>
          </c:cat>
          <c:val>
            <c:numLit>
              <c:formatCode>0"%"</c:formatCode>
              <c:ptCount val="4"/>
              <c:pt idx="0">
                <c:v>74.349999999999994</c:v>
              </c:pt>
              <c:pt idx="1">
                <c:v>79.53</c:v>
              </c:pt>
              <c:pt idx="2">
                <c:v>71.540000000000006</c:v>
              </c:pt>
              <c:pt idx="3">
                <c:v>94.66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D3C1-402F-B252-DA8EDFA7DB1C}"/>
            </c:ext>
          </c:extLst>
        </c:ser>
        <c:ser>
          <c:idx val="1"/>
          <c:order val="1"/>
          <c:tx>
            <c:v>Distributed multimodal attention</c:v>
          </c:tx>
          <c:spPr>
            <a:solidFill>
              <a:srgbClr val="0F00CD"/>
            </a:solidFill>
          </c:spPr>
          <c:invertIfNegative val="1"/>
          <c:dLbls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1125">
                    <a:solidFill>
                      <a:srgbClr val="000000"/>
                    </a:solidFill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AP@2m</c:v>
              </c:pt>
              <c:pt idx="1">
                <c:v>Recall@2m</c:v>
              </c:pt>
              <c:pt idx="2">
                <c:v>Beam Top-1</c:v>
              </c:pt>
              <c:pt idx="3">
                <c:v>Beam Top-4</c:v>
              </c:pt>
            </c:strLit>
          </c:cat>
          <c:val>
            <c:numLit>
              <c:formatCode>0"%"</c:formatCode>
              <c:ptCount val="4"/>
              <c:pt idx="0">
                <c:v>78.73</c:v>
              </c:pt>
              <c:pt idx="1">
                <c:v>81.510000000000005</c:v>
              </c:pt>
              <c:pt idx="2">
                <c:v>71.13</c:v>
              </c:pt>
              <c:pt idx="3">
                <c:v>94.13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D3C1-402F-B252-DA8EDFA7DB1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838383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000000"/>
                </a:solidFill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w="9525">
              <a:solidFill>
                <a:srgbClr val="D9D9D9"/>
              </a:solidFill>
              <a:prstDash val="solid"/>
            </a:ln>
          </c:spPr>
        </c:majorGridlines>
        <c:numFmt formatCode="0&quot;%&quot;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00">
                <a:solidFill>
                  <a:srgbClr val="000000"/>
                </a:solidFill>
              </a:defRPr>
            </a:pPr>
            <a:endParaRPr lang="zh-CN"/>
          </a:p>
        </c:txPr>
        <c:crossAx val="48650112"/>
        <c:crosses val="autoZero"/>
        <c:crossBetween val="between"/>
        <c:majorUnit val="20"/>
      </c:valAx>
    </c:plotArea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lineChart>
        <c:grouping val="standard"/>
        <c:varyColors val="1"/>
        <c:ser>
          <c:idx val="0"/>
          <c:order val="0"/>
          <c:tx>
            <c:v>AP@2m</c:v>
          </c:tx>
          <c:spPr>
            <a:ln w="28575">
              <a:solidFill>
                <a:srgbClr val="0F00CD"/>
              </a:solidFill>
              <a:prstDash val="solid"/>
            </a:ln>
          </c:spPr>
          <c:marker>
            <c:symbol val="circle"/>
            <c:size val="8"/>
          </c:marker>
          <c:cat>
            <c:numLit>
              <c:formatCode>General</c:formatCode>
              <c:ptCount val="6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</c:numLit>
          </c:cat>
          <c:val>
            <c:numLit>
              <c:formatCode>0"%"</c:formatCode>
              <c:ptCount val="6"/>
              <c:pt idx="0">
                <c:v>38.590000000000003</c:v>
              </c:pt>
              <c:pt idx="1">
                <c:v>50.3</c:v>
              </c:pt>
              <c:pt idx="2">
                <c:v>56.42</c:v>
              </c:pt>
              <c:pt idx="3">
                <c:v>58.39</c:v>
              </c:pt>
              <c:pt idx="4">
                <c:v>71.400000000000006</c:v>
              </c:pt>
              <c:pt idx="5">
                <c:v>80.41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0-D5EC-46B6-95F5-3309F608BCD6}"/>
            </c:ext>
          </c:extLst>
        </c:ser>
        <c:ser>
          <c:idx val="1"/>
          <c:order val="1"/>
          <c:tx>
            <c:v>Recall@2m</c:v>
          </c:tx>
          <c:spPr>
            <a:ln w="28575">
              <a:solidFill>
                <a:srgbClr val="F69200"/>
              </a:solidFill>
              <a:prstDash val="solid"/>
            </a:ln>
          </c:spPr>
          <c:marker>
            <c:symbol val="square"/>
            <c:size val="8"/>
          </c:marker>
          <c:cat>
            <c:numLit>
              <c:formatCode>General</c:formatCode>
              <c:ptCount val="6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</c:numLit>
          </c:cat>
          <c:val>
            <c:numLit>
              <c:formatCode>0"%"</c:formatCode>
              <c:ptCount val="6"/>
              <c:pt idx="0">
                <c:v>52.34</c:v>
              </c:pt>
              <c:pt idx="1">
                <c:v>57.39</c:v>
              </c:pt>
              <c:pt idx="2">
                <c:v>60.78</c:v>
              </c:pt>
              <c:pt idx="3">
                <c:v>62.45</c:v>
              </c:pt>
              <c:pt idx="4">
                <c:v>74.25</c:v>
              </c:pt>
              <c:pt idx="5">
                <c:v>83.15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1-D5EC-46B6-95F5-3309F608BCD6}"/>
            </c:ext>
          </c:extLst>
        </c:ser>
        <c:ser>
          <c:idx val="2"/>
          <c:order val="2"/>
          <c:tx>
            <c:v>Beam Top-4@2m</c:v>
          </c:tx>
          <c:spPr>
            <a:ln w="28575">
              <a:solidFill>
                <a:srgbClr val="596400"/>
              </a:solidFill>
              <a:prstDash val="solid"/>
            </a:ln>
          </c:spPr>
          <c:marker>
            <c:symbol val="triangle"/>
            <c:size val="8"/>
          </c:marker>
          <c:cat>
            <c:numLit>
              <c:formatCode>General</c:formatCode>
              <c:ptCount val="6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</c:numLit>
          </c:cat>
          <c:val>
            <c:numLit>
              <c:formatCode>0"%"</c:formatCode>
              <c:ptCount val="6"/>
              <c:pt idx="0">
                <c:v>91.58</c:v>
              </c:pt>
              <c:pt idx="1">
                <c:v>92.03</c:v>
              </c:pt>
              <c:pt idx="2">
                <c:v>94.09</c:v>
              </c:pt>
              <c:pt idx="3">
                <c:v>94.63</c:v>
              </c:pt>
              <c:pt idx="4">
                <c:v>95.3</c:v>
              </c:pt>
              <c:pt idx="5">
                <c:v>95.4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2-D5EC-46B6-95F5-3309F608BC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275">
                    <a:solidFill>
                      <a:srgbClr val="000000"/>
                    </a:solidFill>
                  </a:rPr>
                  <a:t>Available nearby sensing nodes</a:t>
                </a:r>
              </a:p>
            </c:rich>
          </c:tx>
          <c:overlay val="1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00">
                <a:solidFill>
                  <a:srgbClr val="000000"/>
                </a:solidFill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w="9525">
              <a:solidFill>
                <a:srgbClr val="D9D9D9"/>
              </a:solidFill>
              <a:prstDash val="solid"/>
            </a:ln>
          </c:spPr>
        </c:majorGridlines>
        <c:numFmt formatCode="0&quot;%&quot;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00">
                <a:solidFill>
                  <a:srgbClr val="000000"/>
                </a:solidFill>
              </a:defRPr>
            </a:pPr>
            <a:endParaRPr lang="zh-CN"/>
          </a:p>
        </c:txPr>
        <c:crossAx val="48650112"/>
        <c:crosses val="autoZero"/>
        <c:crossBetween val="between"/>
        <c:majorUnit val="20"/>
      </c:valAx>
    </c:plotArea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Effective user rate</c:v>
          </c:tx>
          <c:spPr>
            <a:solidFill>
              <a:srgbClr val="0F00CD"/>
            </a:solidFill>
          </c:spPr>
          <c:invertIfNegative val="1"/>
          <c:dPt>
            <c:idx val="0"/>
            <c:invertIfNegative val="1"/>
            <c:bubble3D val="0"/>
            <c:spPr>
              <a:solidFill>
                <a:srgbClr val="838383"/>
              </a:solidFill>
            </c:spPr>
            <c:extLst>
              <c:ext xmlns:c16="http://schemas.microsoft.com/office/drawing/2014/chart" uri="{C3380CC4-5D6E-409C-BE32-E72D297353CC}">
                <c16:uniqueId val="{00000001-1A75-4EF0-94CC-632FA7464644}"/>
              </c:ext>
            </c:extLst>
          </c:dPt>
          <c:dPt>
            <c:idx val="1"/>
            <c:invertIfNegative val="1"/>
            <c:bubble3D val="0"/>
            <c:spPr>
              <a:solidFill>
                <a:srgbClr val="596400"/>
              </a:solidFill>
            </c:spPr>
            <c:extLst>
              <c:ext xmlns:c16="http://schemas.microsoft.com/office/drawing/2014/chart" uri="{C3380CC4-5D6E-409C-BE32-E72D297353CC}">
                <c16:uniqueId val="{00000003-1A75-4EF0-94CC-632FA7464644}"/>
              </c:ext>
            </c:extLst>
          </c:dPt>
          <c:dPt>
            <c:idx val="2"/>
            <c:invertIfNegative val="1"/>
            <c:bubble3D val="0"/>
            <c:spPr>
              <a:solidFill>
                <a:srgbClr val="418AB3"/>
              </a:solidFill>
            </c:spPr>
            <c:extLst>
              <c:ext xmlns:c16="http://schemas.microsoft.com/office/drawing/2014/chart" uri="{C3380CC4-5D6E-409C-BE32-E72D297353CC}">
                <c16:uniqueId val="{00000005-1A75-4EF0-94CC-632FA746464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00">
                    <a:solidFill>
                      <a:srgbClr val="000000"/>
                    </a:solidFill>
                    <a:latin typeface="Helvetica"/>
                    <a:ea typeface="Helvetica"/>
                    <a:cs typeface="Helvetica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SSB K=4</c:v>
              </c:pt>
              <c:pt idx="1">
                <c:v>SSB K=12</c:v>
              </c:pt>
              <c:pt idx="2">
                <c:v>DMSA</c:v>
              </c:pt>
            </c:strLit>
          </c:cat>
          <c:val>
            <c:numLit>
              <c:formatCode>General</c:formatCode>
              <c:ptCount val="3"/>
              <c:pt idx="0">
                <c:v>142.24799999999999</c:v>
              </c:pt>
              <c:pt idx="1">
                <c:v>115.89</c:v>
              </c:pt>
              <c:pt idx="2">
                <c:v>146.33199999999999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6-1A75-4EF0-94CC-632FA746464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9525">
              <a:solidFill>
                <a:srgbClr val="E0E0E0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125">
                <a:solidFill>
                  <a:srgbClr val="000000"/>
                </a:solidFill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16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00">
                <a:solidFill>
                  <a:srgbClr val="000000"/>
                </a:solidFill>
              </a:defRPr>
            </a:pPr>
            <a:endParaRPr lang="zh-CN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Effective user rate</c:v>
          </c:tx>
          <c:spPr>
            <a:solidFill>
              <a:srgbClr val="0F00CD"/>
            </a:solidFill>
          </c:spPr>
          <c:invertIfNegative val="1"/>
          <c:dPt>
            <c:idx val="0"/>
            <c:invertIfNegative val="1"/>
            <c:bubble3D val="0"/>
            <c:spPr>
              <a:solidFill>
                <a:srgbClr val="838383"/>
              </a:solidFill>
            </c:spPr>
            <c:extLst>
              <c:ext xmlns:c16="http://schemas.microsoft.com/office/drawing/2014/chart" uri="{C3380CC4-5D6E-409C-BE32-E72D297353CC}">
                <c16:uniqueId val="{00000001-7D10-4340-BCCA-2FE30EC89A88}"/>
              </c:ext>
            </c:extLst>
          </c:dPt>
          <c:dPt>
            <c:idx val="1"/>
            <c:invertIfNegative val="1"/>
            <c:bubble3D val="0"/>
            <c:spPr>
              <a:solidFill>
                <a:srgbClr val="596400"/>
              </a:solidFill>
            </c:spPr>
            <c:extLst>
              <c:ext xmlns:c16="http://schemas.microsoft.com/office/drawing/2014/chart" uri="{C3380CC4-5D6E-409C-BE32-E72D297353CC}">
                <c16:uniqueId val="{00000003-7D10-4340-BCCA-2FE30EC89A88}"/>
              </c:ext>
            </c:extLst>
          </c:dPt>
          <c:dPt>
            <c:idx val="2"/>
            <c:invertIfNegative val="1"/>
            <c:bubble3D val="0"/>
            <c:spPr>
              <a:solidFill>
                <a:srgbClr val="418AB3"/>
              </a:solidFill>
            </c:spPr>
            <c:extLst>
              <c:ext xmlns:c16="http://schemas.microsoft.com/office/drawing/2014/chart" uri="{C3380CC4-5D6E-409C-BE32-E72D297353CC}">
                <c16:uniqueId val="{00000005-7D10-4340-BCCA-2FE30EC89A88}"/>
              </c:ext>
            </c:extLst>
          </c:dPt>
          <c:dLbls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1125" b="1">
                    <a:solidFill>
                      <a:srgbClr val="000000"/>
                    </a:solidFill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Camera-only</c:v>
              </c:pt>
              <c:pt idx="1">
                <c:v>ISAC-only</c:v>
              </c:pt>
              <c:pt idx="2">
                <c:v>Local camera–ISAC</c:v>
              </c:pt>
              <c:pt idx="3">
                <c:v>DMSA-BM</c:v>
              </c:pt>
            </c:strLit>
          </c:cat>
          <c:val>
            <c:numLit>
              <c:formatCode>General</c:formatCode>
              <c:ptCount val="4"/>
              <c:pt idx="0">
                <c:v>138.86799999999999</c:v>
              </c:pt>
              <c:pt idx="1">
                <c:v>142.52199999999999</c:v>
              </c:pt>
              <c:pt idx="2">
                <c:v>143.70099999999999</c:v>
              </c:pt>
              <c:pt idx="3">
                <c:v>146.33199999999999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6-7D10-4340-BCCA-2FE30EC89A8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9525">
              <a:solidFill>
                <a:srgbClr val="E0E0E0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sz="1275">
                    <a:solidFill>
                      <a:srgbClr val="000000"/>
                    </a:solidFill>
                  </a:rPr>
                  <a:t>Mean effective user rate (Mbps)</a:t>
                </a:r>
              </a:p>
            </c:rich>
          </c:tx>
          <c:overlay val="1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125">
                <a:solidFill>
                  <a:srgbClr val="000000"/>
                </a:solidFill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00">
                <a:solidFill>
                  <a:srgbClr val="000000"/>
                </a:solidFill>
              </a:defRPr>
            </a:pPr>
            <a:endParaRPr lang="zh-CN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Introduce the thesis question: when can roadside sensing safely reduce beam measurements for the intended V2I user?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Start from the application setting. Vehicular networks must support high-throughput, low-latency, reliable roadside connectivity despite fast motion and changing geometry.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that narrow beams are valuable but require recurrent SSB and CSI-RS actions. The tension is reliable alignment versus measurement overhead.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the common single-candidate formulation: once the physical target is known, multimodal scene observations can produce a short beam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Now remove the single-target assumption. With multiple visible vehicles, the prediction must be conditioned on the intended VUE, often using location or another side-information cue.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Emphasise the domain mismatch: perception names physical targets, while communication schedules VUE identities. This slide defines the association problem; it does not yet propose the tracker.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State the three contributions in order: joint BEV perception and beam prediction, measurement-assisted association and tracking, then end-to-end communication evaluation.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Transition to the system model. The next three slides define what information is available and what a valid beam-management action must respect.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Define the local architecture before introducing sensing equations. The target BS serves the VUE set U_b[n] and makes every communication decision. Neighbouring nodes only add camera viewpoints. The key distinction is that communication identifiers refer to VUEs, whereas sensing observes unlabelled physical targets; all evidence is aligned in the target-BS BEV frame.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Follow the physical sensing chain. Known ISAC symbols are transmitted through a sensing beam. The echo consists of static and vehicle-related dynamic components. After estimating and subtracting the static background, range-angle-Doppler processing and CFAR retain the cells that form the BS-local point cloud P_b,n.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First, the target BS transmits independent data streams to all VUEs. For every VUE, CSI-RS beams are then scanned only within the candidate set C, whose width is K. The VUE selects the measured beam with the largest reported CSI-RS quality and estimates its equivalent channel by correlating the reference observation with the known CSI-RS symbol. These feedback-based equivalent-channel estimates build the RF beam matrix and the digital RZF precoder; thus sensing can narrow C but never replaces CSI-RS feedback.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hybrid RZF precoder from the previous slide now determines the received signal: desired data, residual multi-user interference, and noise. This produces the post-RZF SINR and the gross downlink rate. Separately, measuring K_e CSI-RS beams consumes resource in acquisition event e; after SSB, CSI-RS, control, and data allocations, eta-data is the remaining data fraction. Effective rate multiplies gross rate by this remaining fraction, exposing the beam-quality versus measurement-overhead trade-off.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these requirements as guardrails: target observability, association correctness, and conservative fallback when the evidence is insufficient.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Introduce DMSA-BM as the framework that connects perception evidence to a user-specific candidate measurement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Walk left to right through the architecture: distributed sensing, BEV fusion, joint target output, tracking, association, and candidate selection.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why neighbouring viewpoints improve observability without creating additional communication cells. All evidence is fused in the target-BS BEV frame.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Describe local camera and ISAC fusion as complementary inputs before cross-node BEV fusion.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Highlight the joint output: vehicle detections and a beam posterior for every detected target, rather than a beam chosen without a physical target.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Introduce the tracker as a physical-target state estimator, not a VUE-identity estimator. Contrast the CV and CT state vectors, then explain that innovation likelihood updates the model posterior. Use the bottom diagram only to orient the IMM cycle. Predicted-only tracks preserve continuity but cannot reduce the CSI-RS scan.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the three equations in order: beam-measurement compatibility cost, partial one-to-one assignment with an unmatched option, and cost-plus-margin acceptance. Stress that the procedure uses a conventional VUE-indexed measurement and a current track posterior, without user location or ground-truth identities.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that candidate reduction requires both an accepted target-to-user association and a current observation. A predicted-only track makes the gate zero and triggers conventional SSB-guided refinement. The posterior ranks measurement candidates only; the service beam remains selected from measured CSI-RS quality.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Summarise the full decision loop and identify the guarded interface between sensing evidence and CSI-RS measurement.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Transition from method to evidence. The question is whether the complete chain improves the stated communication operating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Briefly state the scenario, modalities, channel and protocol assumptions, and the metrics reported on the following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the perception and per-target beam-prediction results, distinguishing detection quality from communication-level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the contribution of cooperative sensing nodes under the reported viewpoints and conditions.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this slide to read the communication result directly: DMSA-BM combines the lowest reported CSI-RS overhead with the highest reported effective user rate among the compared schemes.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Interpret ablation and tracker comparisons cautiously: the result identifies the reported operating point rather than a universal ordering.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Recap what has been established before the final slide: the association gate is the bridge between target-level sensing and VUE-specific measurement.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Close with the central conclusion and the stated future-work directions, then pause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bg>
      <p:bgPr>
        <a:gradFill>
          <a:gsLst>
            <a:gs pos="0">
              <a:schemeClr val="accent1">
                <a:lumMod val="0"/>
                <a:lumOff val="100000"/>
                <a:alpha val="38000"/>
              </a:schemeClr>
            </a:gs>
            <a:gs pos="46000">
              <a:srgbClr val="00B08C">
                <a:alpha val="18000"/>
              </a:srgbClr>
            </a:gs>
            <a:gs pos="100000">
              <a:schemeClr val="accent1">
                <a:lumMod val="45000"/>
                <a:lumOff val="55000"/>
                <a:alpha val="40000"/>
              </a:schemeClr>
            </a:gs>
            <a:gs pos="75000">
              <a:schemeClr val="accent1">
                <a:lumMod val="30000"/>
                <a:lumOff val="70000"/>
                <a:alpha val="3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1"/>
          <p:cNvPicPr>
            <a:picLocks noChangeAspect="1"/>
          </p:cNvPicPr>
          <p:nvPr/>
        </p:nvPicPr>
        <p:blipFill>
          <a:blip r:embed="rId2">
            <a:alphaModFix amt="14000"/>
          </a:blip>
          <a:srcRect r="90374"/>
          <a:stretch/>
        </p:blipFill>
        <p:spPr>
          <a:xfrm>
            <a:off x="4701908" y="1689194"/>
            <a:ext cx="3107159" cy="4487091"/>
          </a:xfrm>
          <a:prstGeom prst="rect">
            <a:avLst/>
          </a:prstGeom>
        </p:spPr>
      </p:pic>
      <p:pic>
        <p:nvPicPr>
          <p:cNvPr id="15" name="图片 5"/>
          <p:cNvPicPr>
            <a:picLocks noChangeAspect="1"/>
          </p:cNvPicPr>
          <p:nvPr/>
        </p:nvPicPr>
        <p:blipFill>
          <a:blip r:embed="rId3">
            <a:alphaModFix amt="21000"/>
          </a:blip>
          <a:srcRect l="8" t="48319" r="92" b="33286"/>
          <a:stretch/>
        </p:blipFill>
        <p:spPr>
          <a:xfrm>
            <a:off x="0" y="0"/>
            <a:ext cx="12192000" cy="949715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DF718B08-A401-2718-2E19-F1205C5CFE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>
                <a:latin typeface="+mj-lt"/>
                <a:ea typeface="+mj-lt"/>
                <a:cs typeface="+mj-lt"/>
              </a:defRPr>
            </a:lvl1pPr>
          </a:lstStyle>
          <a:p>
            <a:endParaRPr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CEB920E-E52B-E040-5995-1451BAAAB1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Segoe UI Historic"/>
                <a:ea typeface="Segoe UI Historic"/>
                <a:cs typeface="Segoe UI Historic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  <p:pic>
        <p:nvPicPr>
          <p:cNvPr id="18" name="图片 6"/>
          <p:cNvPicPr>
            <a:picLocks noChangeAspect="1"/>
          </p:cNvPicPr>
          <p:nvPr/>
        </p:nvPicPr>
        <p:blipFill>
          <a:blip r:embed="rId2"/>
          <a:srcRect r="46366"/>
          <a:stretch/>
        </p:blipFill>
        <p:spPr>
          <a:xfrm>
            <a:off x="208020" y="261391"/>
            <a:ext cx="2346921" cy="59625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2E5389A7-8BF4-0AB3-8836-589FC16E5D9B}"/>
              </a:ext>
            </a:extLst>
          </p:cNvPr>
          <p:cNvSpPr>
            <a:spLocks noGrp="1"/>
          </p:cNvSpPr>
          <p:nvPr/>
        </p:nvSpPr>
        <p:spPr>
          <a:xfrm>
            <a:off x="667124" y="949717"/>
            <a:ext cx="11524876" cy="54733"/>
          </a:xfrm>
          <a:prstGeom prst="rect">
            <a:avLst/>
          </a:prstGeom>
          <a:solidFill>
            <a:srgbClr val="00B0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A8700642-6B17-FC45-B6F6-CEF32BDB3813}"/>
              </a:ext>
            </a:extLst>
          </p:cNvPr>
          <p:cNvSpPr>
            <a:spLocks noGrp="1"/>
          </p:cNvSpPr>
          <p:nvPr/>
        </p:nvSpPr>
        <p:spPr>
          <a:xfrm>
            <a:off x="0" y="949716"/>
            <a:ext cx="667125" cy="54733"/>
          </a:xfrm>
          <a:prstGeom prst="rect">
            <a:avLst/>
          </a:prstGeom>
          <a:solidFill>
            <a:srgbClr val="003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21" name="图片 3"/>
          <p:cNvPicPr>
            <a:picLocks noChangeAspect="1"/>
          </p:cNvPicPr>
          <p:nvPr/>
        </p:nvPicPr>
        <p:blipFill>
          <a:blip r:embed="rId2"/>
          <a:srcRect l="58346"/>
          <a:stretch/>
        </p:blipFill>
        <p:spPr>
          <a:xfrm>
            <a:off x="10282518" y="261391"/>
            <a:ext cx="1822746" cy="59625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58CEFA1-4F38-A339-D944-82817049D2A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7F6A6F2-D14C-4131-92F5-EBAC01F52C2C}" type="datetime3">
              <a:t>2026年7月17日星期五</a:t>
            </a:fld>
            <a:endParaRPr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A54AD56-C53F-564B-2B64-BEDF6F1DDB17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0FF54DE5-C571-48E8-A5BC-B369434E2F4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C16161-9FFB-3348-BDA5-116A2457EBD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979BA0B-69DA-4385-8551-E5A78E7330E4}" type="datetime3">
              <a:t>2026年7月17日星期五</a:t>
            </a:fld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4A1CF7-76F0-924F-880F-9F035505386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 sz="1600">
                <a:latin typeface="Arial"/>
                <a:ea typeface="Arial"/>
                <a:cs typeface="Arial"/>
              </a:defRPr>
            </a:lvl1pPr>
          </a:lstStyle>
          <a:p>
            <a:fld id="{0FF54DE5-C571-48E8-A5BC-B369434E2F44}" type="slidenum">
              <a:t>‹#›</a:t>
            </a:fld>
            <a:endParaRPr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352F509-7AAE-F945-8668-71B46ABAB69B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11188" y="1025525"/>
            <a:ext cx="10966450" cy="5375275"/>
          </a:xfrm>
        </p:spPr>
        <p:txBody>
          <a:bodyPr/>
          <a:lstStyle>
            <a:lvl1pPr marL="228600" indent="-228600">
              <a:buSzPct val="80000"/>
              <a:buFont typeface="Wingdings"/>
              <a:buChar char="u"/>
              <a:defRPr sz="2300">
                <a:latin typeface="Helvetica"/>
                <a:ea typeface="Helvetica"/>
                <a:cs typeface="Helvetica"/>
              </a:defRPr>
            </a:lvl1pPr>
            <a:lvl2pPr marL="685800" indent="-228600">
              <a:buClr>
                <a:srgbClr val="00B0F0"/>
              </a:buClr>
              <a:buSzPct val="80000"/>
              <a:buFont typeface="Wingdings"/>
              <a:buChar char="u"/>
              <a:defRPr sz="2000">
                <a:latin typeface="Helvetica"/>
                <a:ea typeface="Helvetica"/>
                <a:cs typeface="Helvetica"/>
              </a:defRPr>
            </a:lvl2pPr>
            <a:lvl3pPr marL="1143000" indent="-228600">
              <a:buClr>
                <a:srgbClr val="00B050"/>
              </a:buClr>
              <a:buSzPct val="80000"/>
              <a:buFont typeface="Wingdings"/>
              <a:buChar char="u"/>
              <a:defRPr sz="1700">
                <a:latin typeface="Helvetica"/>
                <a:ea typeface="Helvetica"/>
                <a:cs typeface="Helvetica"/>
              </a:defRPr>
            </a:lvl3pPr>
            <a:lvl4pPr marL="1600200" indent="-228600">
              <a:buClr>
                <a:srgbClr val="7030A0"/>
              </a:buClr>
              <a:buSzPct val="80000"/>
              <a:buFont typeface="Wingdings"/>
              <a:buChar char="u"/>
              <a:defRPr sz="1500">
                <a:latin typeface="Helvetica"/>
                <a:ea typeface="Helvetica"/>
                <a:cs typeface="Helvetica"/>
              </a:defRPr>
            </a:lvl4pPr>
            <a:lvl5pPr marL="2057400" indent="-228600">
              <a:buClr>
                <a:srgbClr val="FF0000"/>
              </a:buClr>
              <a:buSzPct val="80000"/>
              <a:buFont typeface="Wingdings"/>
              <a:buChar char="u"/>
              <a:defRPr sz="1500">
                <a:latin typeface="Helvetica"/>
                <a:ea typeface="Helvetica"/>
                <a:cs typeface="Helvetica"/>
              </a:defRPr>
            </a:lvl5pPr>
          </a:lstStyle>
          <a:p>
            <a:pPr>
              <a:buNone/>
            </a:pPr>
            <a:r>
              <a:t> Edit Master text styles</a:t>
            </a:r>
          </a:p>
          <a:p>
            <a:pPr>
              <a:buNone/>
            </a:pPr>
            <a:r>
              <a:t> Second level</a:t>
            </a:r>
          </a:p>
          <a:p>
            <a:pPr>
              <a:buNone/>
            </a:pPr>
            <a:r>
              <a:t> 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6475C6-6A95-C042-840C-DC90F119E4BD}"/>
              </a:ext>
            </a:extLst>
          </p:cNvPr>
          <p:cNvSpPr>
            <a:spLocks noGrp="1"/>
          </p:cNvSpPr>
          <p:nvPr/>
        </p:nvSpPr>
        <p:spPr>
          <a:xfrm>
            <a:off x="208344" y="6470248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6" name="Title Placeholder 1">
            <a:extLst>
              <a:ext uri="{FF2B5EF4-FFF2-40B4-BE49-F238E27FC236}">
                <a16:creationId xmlns:a16="http://schemas.microsoft.com/office/drawing/2014/main" id="{0B18FBE7-3AE4-7E45-9BD2-DB4F3541B9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7383" y="310337"/>
            <a:ext cx="10865126" cy="650381"/>
          </a:xfrm>
          <a:prstGeom prst="rect">
            <a:avLst/>
          </a:prstGeom>
        </p:spPr>
        <p:txBody>
          <a:bodyPr vert="horz" lIns="0" tIns="45720" rIns="0" bIns="45720" anchor="b">
            <a:normAutofit/>
          </a:bodyPr>
          <a:lstStyle>
            <a:lvl1pPr>
              <a:buNone/>
              <a:defRPr sz="3200"/>
            </a:lvl1pPr>
          </a:lstStyle>
          <a:p>
            <a:r>
              <a:t> Click To Edit Master Title Style</a:t>
            </a:r>
          </a:p>
        </p:txBody>
      </p:sp>
      <p:sp>
        <p:nvSpPr>
          <p:cNvPr id="17" name="Freeform 7">
            <a:extLst>
              <a:ext uri="{FF2B5EF4-FFF2-40B4-BE49-F238E27FC236}">
                <a16:creationId xmlns:a16="http://schemas.microsoft.com/office/drawing/2014/main" id="{5FDDC3AC-43D5-334B-92C3-FBAE67D8CFF3}"/>
              </a:ext>
            </a:extLst>
          </p:cNvPr>
          <p:cNvSpPr>
            <a:spLocks noGrp="1"/>
          </p:cNvSpPr>
          <p:nvPr/>
        </p:nvSpPr>
        <p:spPr>
          <a:xfrm>
            <a:off x="609027" y="296125"/>
            <a:ext cx="10965590" cy="706206"/>
          </a:xfrm>
          <a:custGeom>
            <a:avLst/>
            <a:gdLst>
              <a:gd name="T0" fmla="*/ 0 w 1000"/>
              <a:gd name="T1" fmla="*/ 2147483647 h 1000"/>
              <a:gd name="T2" fmla="*/ 0 w 1000"/>
              <a:gd name="T3" fmla="*/ 0 h 1000"/>
              <a:gd name="T4" fmla="*/ 2147483647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/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18" name="矩形 44">
            <a:extLst>
              <a:ext uri="{FF2B5EF4-FFF2-40B4-BE49-F238E27FC236}">
                <a16:creationId xmlns:a16="http://schemas.microsoft.com/office/drawing/2014/main" id="{69B25CBF-12A0-7B4F-9E26-AF0EF7DF3CAF}"/>
              </a:ext>
            </a:extLst>
          </p:cNvPr>
          <p:cNvSpPr>
            <a:spLocks noGrp="1"/>
          </p:cNvSpPr>
          <p:nvPr/>
        </p:nvSpPr>
        <p:spPr>
          <a:xfrm flipV="1">
            <a:off x="609026" y="6383645"/>
            <a:ext cx="10967259" cy="45719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27" name="图片 1"/>
          <p:cNvPicPr>
            <a:picLocks noChangeAspect="1"/>
          </p:cNvPicPr>
          <p:nvPr/>
        </p:nvPicPr>
        <p:blipFill>
          <a:blip r:embed="rId2"/>
          <a:srcRect r="90374"/>
          <a:stretch/>
        </p:blipFill>
        <p:spPr>
          <a:xfrm>
            <a:off x="11161734" y="338860"/>
            <a:ext cx="412883" cy="59625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0396DA-DA61-4724-B756-D20E563AE92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9DF5D18-0C97-4B9B-A5F0-23768CA63075}" type="datetime3">
              <a:t>2026年7月17日星期五</a:t>
            </a:fld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FEF61A-01C0-458C-8906-C2599798C3F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>
                <a:latin typeface="Arial"/>
                <a:ea typeface="Arial"/>
                <a:cs typeface="Arial"/>
              </a:defRPr>
            </a:lvl1pPr>
          </a:lstStyle>
          <a:p>
            <a:fld id="{0FF54DE5-C571-48E8-A5BC-B369434E2F44}" type="slidenum">
              <a:t>‹#›</a:t>
            </a:fld>
            <a:endParaRPr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575D938D-D4E2-4422-A904-A576ED91824E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10698" y="1041721"/>
            <a:ext cx="5285887" cy="5359079"/>
          </a:xfrm>
        </p:spPr>
        <p:txBody>
          <a:bodyPr/>
          <a:lstStyle>
            <a:lvl1pPr marL="228600" indent="-228600">
              <a:buClr>
                <a:srgbClr val="C00000"/>
              </a:buClr>
              <a:buSzPct val="80000"/>
              <a:buFont typeface="Wingdings"/>
              <a:buChar char="u"/>
              <a:defRPr sz="2100">
                <a:latin typeface="Helvetica"/>
                <a:ea typeface="Helvetica"/>
                <a:cs typeface="Helvetica"/>
              </a:defRPr>
            </a:lvl1pPr>
            <a:lvl2pPr marL="685800" indent="-228600">
              <a:buClr>
                <a:schemeClr val="accent1"/>
              </a:buClr>
              <a:buSzPct val="80000"/>
              <a:buFont typeface="Wingdings"/>
              <a:buChar char="u"/>
              <a:defRPr sz="1800">
                <a:latin typeface="Helvetica"/>
                <a:ea typeface="Helvetica"/>
                <a:cs typeface="Helvetica"/>
              </a:defRPr>
            </a:lvl2pPr>
            <a:lvl3pPr marL="1143000" indent="-228600">
              <a:buClr>
                <a:srgbClr val="00B050"/>
              </a:buClr>
              <a:buSzPct val="80000"/>
              <a:buFont typeface="Wingdings"/>
              <a:buChar char="u"/>
              <a:defRPr sz="1600">
                <a:latin typeface="Helvetica"/>
                <a:ea typeface="Helvetica"/>
                <a:cs typeface="Helvetica"/>
              </a:defRPr>
            </a:lvl3pPr>
            <a:lvl4pPr marL="1600200" indent="-228600">
              <a:buClr>
                <a:srgbClr val="7030A0"/>
              </a:buClr>
              <a:buSzPct val="80000"/>
              <a:buFont typeface="Wingdings"/>
              <a:buChar char="u"/>
              <a:defRPr sz="1400">
                <a:latin typeface="Helvetica"/>
                <a:ea typeface="Helvetica"/>
                <a:cs typeface="Helvetica"/>
              </a:defRPr>
            </a:lvl4pPr>
            <a:lvl5pPr marL="2057400" indent="-228600">
              <a:buClr>
                <a:srgbClr val="C00000"/>
              </a:buClr>
              <a:buSzPct val="80000"/>
              <a:buFont typeface="Wingdings"/>
              <a:buChar char="u"/>
              <a:defRPr sz="1300">
                <a:latin typeface="Helvetica"/>
                <a:ea typeface="Helvetica"/>
                <a:cs typeface="Helvetica"/>
              </a:defRPr>
            </a:lvl5pPr>
          </a:lstStyle>
          <a:p>
            <a:pPr>
              <a:buNone/>
            </a:pPr>
            <a:r>
              <a:t> Edit Master text styles</a:t>
            </a:r>
          </a:p>
          <a:p>
            <a:pPr>
              <a:buNone/>
            </a:pPr>
            <a:r>
              <a:t> 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50E53E3D-054C-417B-8572-FC5E06257FEB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096000" y="1041721"/>
            <a:ext cx="5482035" cy="5359080"/>
          </a:xfrm>
        </p:spPr>
        <p:txBody>
          <a:bodyPr/>
          <a:lstStyle>
            <a:lvl1pPr marL="228600" indent="-228600">
              <a:buClr>
                <a:srgbClr val="C00000"/>
              </a:buClr>
              <a:buSzPct val="80000"/>
              <a:buFont typeface="Wingdings"/>
              <a:buChar char="u"/>
              <a:defRPr sz="2100">
                <a:latin typeface="Helvetica"/>
                <a:ea typeface="Helvetica"/>
                <a:cs typeface="Helvetica"/>
              </a:defRPr>
            </a:lvl1pPr>
            <a:lvl2pPr marL="685800" indent="-228600">
              <a:buClr>
                <a:schemeClr val="accent1"/>
              </a:buClr>
              <a:buSzPct val="80000"/>
              <a:buFont typeface="Wingdings"/>
              <a:buChar char="u"/>
              <a:defRPr sz="1800">
                <a:latin typeface="Helvetica"/>
                <a:ea typeface="Helvetica"/>
                <a:cs typeface="Helvetica"/>
              </a:defRPr>
            </a:lvl2pPr>
            <a:lvl3pPr marL="1143000" indent="-228600">
              <a:buClr>
                <a:srgbClr val="00B050"/>
              </a:buClr>
              <a:buSzPct val="80000"/>
              <a:buFont typeface="Wingdings"/>
              <a:buChar char="u"/>
              <a:defRPr sz="1600">
                <a:latin typeface="Helvetica"/>
                <a:ea typeface="Helvetica"/>
                <a:cs typeface="Helvetica"/>
              </a:defRPr>
            </a:lvl3pPr>
            <a:lvl4pPr marL="1600200" indent="-228600">
              <a:buClr>
                <a:srgbClr val="7030A0"/>
              </a:buClr>
              <a:buSzPct val="80000"/>
              <a:buFont typeface="Wingdings"/>
              <a:buChar char="u"/>
              <a:defRPr sz="1400">
                <a:latin typeface="Helvetica"/>
                <a:ea typeface="Helvetica"/>
                <a:cs typeface="Helvetica"/>
              </a:defRPr>
            </a:lvl4pPr>
            <a:lvl5pPr marL="2057400" indent="-228600">
              <a:buClr>
                <a:srgbClr val="C00000"/>
              </a:buClr>
              <a:buSzPct val="80000"/>
              <a:buFont typeface="Wingdings"/>
              <a:buChar char="u"/>
              <a:defRPr sz="1300">
                <a:latin typeface="Helvetica"/>
                <a:ea typeface="Helvetica"/>
                <a:cs typeface="Helvetica"/>
              </a:defRPr>
            </a:lvl5pPr>
          </a:lstStyle>
          <a:p>
            <a:pPr>
              <a:buNone/>
            </a:pPr>
            <a:r>
              <a:t> Edit Master text styles</a:t>
            </a:r>
          </a:p>
          <a:p>
            <a:pPr>
              <a:buNone/>
            </a:pPr>
            <a:r>
              <a:t> 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60159807-4D87-3948-8725-95558A307973}"/>
              </a:ext>
            </a:extLst>
          </p:cNvPr>
          <p:cNvSpPr>
            <a:spLocks noGrp="1"/>
          </p:cNvSpPr>
          <p:nvPr/>
        </p:nvSpPr>
        <p:spPr>
          <a:xfrm>
            <a:off x="617383" y="296125"/>
            <a:ext cx="10957234" cy="706206"/>
          </a:xfrm>
          <a:custGeom>
            <a:avLst/>
            <a:gdLst>
              <a:gd name="T0" fmla="*/ 0 w 1000"/>
              <a:gd name="T1" fmla="*/ 2147483647 h 1000"/>
              <a:gd name="T2" fmla="*/ 0 w 1000"/>
              <a:gd name="T3" fmla="*/ 0 h 1000"/>
              <a:gd name="T4" fmla="*/ 2147483647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/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13" name="矩形 44">
            <a:extLst>
              <a:ext uri="{FF2B5EF4-FFF2-40B4-BE49-F238E27FC236}">
                <a16:creationId xmlns:a16="http://schemas.microsoft.com/office/drawing/2014/main" id="{97F3D2F2-2416-2247-B28A-F2AFD29708C7}"/>
              </a:ext>
            </a:extLst>
          </p:cNvPr>
          <p:cNvSpPr>
            <a:spLocks noGrp="1"/>
          </p:cNvSpPr>
          <p:nvPr/>
        </p:nvSpPr>
        <p:spPr>
          <a:xfrm flipV="1">
            <a:off x="609026" y="6383645"/>
            <a:ext cx="10967259" cy="45719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21" name="图片 1"/>
          <p:cNvPicPr>
            <a:picLocks noChangeAspect="1"/>
          </p:cNvPicPr>
          <p:nvPr/>
        </p:nvPicPr>
        <p:blipFill>
          <a:blip r:embed="rId2"/>
          <a:srcRect r="90374"/>
          <a:stretch/>
        </p:blipFill>
        <p:spPr>
          <a:xfrm>
            <a:off x="11161734" y="338860"/>
            <a:ext cx="412883" cy="596250"/>
          </a:xfrm>
          <a:prstGeom prst="rect">
            <a:avLst/>
          </a:prstGeom>
        </p:spPr>
      </p:pic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DDEF98DE-59B8-698D-2E48-3138C8A13A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7383" y="310337"/>
            <a:ext cx="10865125" cy="650381"/>
          </a:xfrm>
          <a:prstGeom prst="rect">
            <a:avLst/>
          </a:prstGeom>
        </p:spPr>
        <p:txBody>
          <a:bodyPr vert="horz" lIns="0" tIns="45720" rIns="0" bIns="45720" anchor="b">
            <a:normAutofit/>
          </a:bodyPr>
          <a:lstStyle>
            <a:lvl1pPr>
              <a:buNone/>
              <a:defRPr sz="3200"/>
            </a:lvl1pPr>
          </a:lstStyle>
          <a:p>
            <a:r>
              <a:t> Click To Edit Master Title Style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8B951A-4328-4898-8B79-4DD30E09AD7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 baseline="0">
                <a:solidFill>
                  <a:schemeClr val="tx1"/>
                </a:solidFill>
              </a:defRPr>
            </a:lvl1pPr>
          </a:lstStyle>
          <a:p>
            <a:fld id="{1D8A88B6-106F-4EA9-92E3-FB2DE653E9D7}" type="datetime3">
              <a:t>2026年7月17日星期五</a:t>
            </a:fld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F2153D-E3AC-4008-9EFF-F85A73E4E7F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615352" y="6527381"/>
            <a:ext cx="962683" cy="278072"/>
          </a:xfrm>
        </p:spPr>
        <p:txBody>
          <a:bodyPr/>
          <a:lstStyle>
            <a:lvl1pPr>
              <a:buNone/>
              <a:defRPr sz="16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fld id="{0FF54DE5-C571-48E8-A5BC-B369434E2F44}" type="slidenum">
              <a:t>‹#›</a:t>
            </a:fld>
            <a:endParaRPr/>
          </a:p>
        </p:txBody>
      </p:sp>
      <p:pic>
        <p:nvPicPr>
          <p:cNvPr id="10" name="图片 2"/>
          <p:cNvPicPr>
            <a:picLocks noChangeAspect="1"/>
          </p:cNvPicPr>
          <p:nvPr/>
        </p:nvPicPr>
        <p:blipFill>
          <a:blip r:embed="rId2"/>
          <a:srcRect r="90374"/>
          <a:stretch/>
        </p:blipFill>
        <p:spPr>
          <a:xfrm>
            <a:off x="11161734" y="338860"/>
            <a:ext cx="412883" cy="59625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bg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4E5973-7667-4205-9901-F95512235B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371" y="1013674"/>
            <a:ext cx="10967258" cy="5283536"/>
          </a:xfrm>
          <a:prstGeom prst="rect">
            <a:avLst/>
          </a:prstGeom>
        </p:spPr>
        <p:txBody>
          <a:bodyPr vert="horz" lIns="0" tIns="45720" rIns="0" bIns="45720">
            <a:normAutofit/>
          </a:bodyPr>
          <a:lstStyle/>
          <a:p>
            <a:pPr>
              <a:buNone/>
            </a:pPr>
            <a:r>
              <a:t> Edit Master text styles</a:t>
            </a:r>
          </a:p>
          <a:p>
            <a:pPr>
              <a:buNone/>
            </a:pPr>
            <a:r>
              <a:t> Second level</a:t>
            </a:r>
          </a:p>
          <a:p>
            <a:pPr>
              <a:buNone/>
            </a:pPr>
            <a:r>
              <a:t> 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BE8031-E642-45CC-BAD1-BA3FF3138496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610698" y="6530413"/>
            <a:ext cx="1434233" cy="278071"/>
          </a:xfrm>
          <a:prstGeom prst="rect">
            <a:avLst/>
          </a:prstGeom>
        </p:spPr>
        <p:txBody>
          <a:bodyPr vert="horz" lIns="0" tIns="45720" rIns="0" bIns="45720" anchor="ctr"/>
          <a:lstStyle>
            <a:lvl1pPr algn="l">
              <a:buNone/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fld id="{67F6A6F2-D14C-4131-92F5-EBAC01F52C2C}" type="datetime3">
              <a:t>2026年7月17日星期五</a:t>
            </a:fld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052FF3-E597-4BE5-AADF-5AABF1E6F7CB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0615352" y="6530413"/>
            <a:ext cx="962683" cy="278071"/>
          </a:xfrm>
          <a:prstGeom prst="rect">
            <a:avLst/>
          </a:prstGeom>
        </p:spPr>
        <p:txBody>
          <a:bodyPr vert="horz" lIns="0" tIns="45720" rIns="0" bIns="45720" anchor="ctr"/>
          <a:lstStyle>
            <a:lvl1pPr algn="r">
              <a:buNone/>
              <a:defRPr sz="16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fld id="{0FF54DE5-C571-48E8-A5BC-B369434E2F44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dt="0"/>
  <p:txStyles>
    <p:titleStyle>
      <a:lvl1pPr algn="l" defTabSz="914400">
        <a:lnSpc>
          <a:spcPct val="90000"/>
        </a:lnSpc>
        <a:spcBef>
          <a:spcPct val="0"/>
        </a:spcBef>
        <a:buNone/>
        <a:defRPr sz="3600" kern="1200">
          <a:solidFill>
            <a:srgbClr val="0F00CD"/>
          </a:solidFill>
          <a:latin typeface="Arial"/>
          <a:ea typeface="Arial"/>
          <a:cs typeface="Arial"/>
        </a:defRPr>
      </a:lvl1pPr>
    </p:titleStyle>
    <p:bodyStyle>
      <a:lvl1pPr marL="228600" indent="-228600" algn="l" defTabSz="914400">
        <a:lnSpc>
          <a:spcPct val="90000"/>
        </a:lnSpc>
        <a:spcBef>
          <a:spcPts val="1800"/>
        </a:spcBef>
        <a:buClr>
          <a:srgbClr val="A40503"/>
        </a:buClr>
        <a:buFont typeface="Wingdings"/>
        <a:buChar char="q"/>
        <a:defRPr sz="2400" kern="1200">
          <a:solidFill>
            <a:schemeClr val="tx1"/>
          </a:solidFill>
          <a:latin typeface="Segoe UI Historic"/>
          <a:ea typeface="Segoe UI Historic"/>
          <a:cs typeface="Segoe UI Historic"/>
        </a:defRPr>
      </a:lvl1pPr>
      <a:lvl2pPr marL="685800" indent="-228600" algn="l" defTabSz="914400">
        <a:lnSpc>
          <a:spcPct val="90000"/>
        </a:lnSpc>
        <a:spcBef>
          <a:spcPts val="600"/>
        </a:spcBef>
        <a:buClr>
          <a:srgbClr val="0432FF"/>
        </a:buClr>
        <a:buFont typeface="Wingdings"/>
        <a:buChar char="q"/>
        <a:defRPr sz="2100" kern="1200">
          <a:solidFill>
            <a:schemeClr val="tx1"/>
          </a:solidFill>
          <a:latin typeface="Segoe UI Historic"/>
          <a:ea typeface="Segoe UI Historic"/>
          <a:cs typeface="Segoe UI Historic"/>
        </a:defRPr>
      </a:lvl2pPr>
      <a:lvl3pPr marL="1143000" indent="-228600" algn="l" defTabSz="914400">
        <a:lnSpc>
          <a:spcPct val="90000"/>
        </a:lnSpc>
        <a:spcBef>
          <a:spcPts val="600"/>
        </a:spcBef>
        <a:buClr>
          <a:schemeClr val="accent1">
            <a:lumMod val="60000"/>
            <a:lumOff val="40000"/>
          </a:schemeClr>
        </a:buClr>
        <a:buFont typeface="Wingdings"/>
        <a:buChar char="Ø"/>
        <a:defRPr sz="1800" kern="1200">
          <a:solidFill>
            <a:schemeClr val="tx1"/>
          </a:solidFill>
          <a:latin typeface="Segoe UI Historic"/>
          <a:ea typeface="Segoe UI Historic"/>
          <a:cs typeface="Segoe UI Historic"/>
        </a:defRPr>
      </a:lvl3pPr>
      <a:lvl4pPr marL="1600200" indent="-228600" algn="l" defTabSz="914400">
        <a:lnSpc>
          <a:spcPct val="90000"/>
        </a:lnSpc>
        <a:spcBef>
          <a:spcPts val="600"/>
        </a:spcBef>
        <a:buClr>
          <a:schemeClr val="accent5">
            <a:lumMod val="75000"/>
          </a:schemeClr>
        </a:buClr>
        <a:buFont typeface="Courier New"/>
        <a:buChar char="o"/>
        <a:defRPr sz="1500" kern="1200">
          <a:solidFill>
            <a:schemeClr val="tx1"/>
          </a:solidFill>
          <a:latin typeface="Segoe UI Historic"/>
          <a:ea typeface="Segoe UI Historic"/>
          <a:cs typeface="Segoe UI Historic"/>
        </a:defRPr>
      </a:lvl4pPr>
      <a:lvl5pPr marL="2057400" indent="-228600" algn="l" defTabSz="914400">
        <a:lnSpc>
          <a:spcPct val="90000"/>
        </a:lnSpc>
        <a:spcBef>
          <a:spcPts val="600"/>
        </a:spcBef>
        <a:buFont typeface="Wingdings"/>
        <a:buChar char="§"/>
        <a:defRPr sz="1500" kern="1200">
          <a:solidFill>
            <a:schemeClr val="tx1"/>
          </a:solidFill>
          <a:latin typeface="Segoe UI Historic"/>
          <a:ea typeface="Segoe UI Historic"/>
          <a:cs typeface="Segoe UI Historic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Wingdings"/>
        <a:buChar char="§"/>
        <a:defRPr sz="14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Wingdings"/>
        <a:buChar char="§"/>
        <a:defRPr sz="14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Wingdings"/>
        <a:buChar char="§"/>
        <a:defRPr sz="14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Wingdings"/>
        <a:buChar char="§"/>
        <a:defRPr sz="14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pos="696">
          <p15:clr>
            <a:srgbClr val="F26B43"/>
          </p15:clr>
        </p15:guide>
        <p15:guide id="2" pos="6984">
          <p15:clr>
            <a:srgbClr val="F26B43"/>
          </p15:clr>
        </p15:guide>
        <p15:guide id="3" orient="horz" pos="1008">
          <p15:clr>
            <a:srgbClr val="F26B43"/>
          </p15:clr>
        </p15:guide>
        <p15:guide id="4" orient="horz" pos="38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AB70E9-5AE2-6050-3793-D4B9B32B9A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2333625"/>
            <a:ext cx="10477500" cy="1485900"/>
          </a:xfrm>
        </p:spPr>
        <p:txBody>
          <a:bodyPr wrap="square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  <a:defRPr sz="3600" b="1">
                <a:solidFill>
                  <a:srgbClr val="0F00C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F00CD"/>
                </a:solidFill>
                <a:latin typeface="Arial"/>
                <a:ea typeface="Arial"/>
                <a:cs typeface="Arial"/>
              </a:rPr>
              <a:t>Multimodal Sensing-Assisted User Association
and Tracking in Vehicular Networks</a:t>
            </a:r>
          </a:p>
        </p:txBody>
      </p:sp>
      <p:sp>
        <p:nvSpPr>
          <p:cNvPr id="7" name="副标题 6">
            <a:extLst>
              <a:ext uri="{FF2B5EF4-FFF2-40B4-BE49-F238E27FC236}">
                <a16:creationId xmlns:a16="http://schemas.microsoft.com/office/drawing/2014/main" id="{EBDC222C-0C82-FE71-CA39-73C387CF78A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wrap="square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2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1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Yifeng YUAN · MPhil in Internet of Things</a:t>
            </a:r>
          </a:p>
          <a:p>
            <a:pPr algn="ctr">
              <a:lnSpc>
                <a:spcPct val="105000"/>
              </a:lnSpc>
              <a:buNone/>
              <a:defRPr sz="2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1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Supervisors: Shijian GAO and Jia YAN · June 2026</a:t>
            </a:r>
          </a:p>
        </p:txBody>
      </p:sp>
    </p:spTree>
    <p:extLst>
      <p:ext uri="{BB962C8B-B14F-4D97-AF65-F5344CB8AC3E}">
        <p14:creationId xmlns:p14="http://schemas.microsoft.com/office/powerpoint/2010/main" val="14932817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0" name="Title 2">
            <a:extLst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t>Background</a:t>
            </a:r>
          </a:p>
        </p:txBody>
      </p:sp>
      <p:sp>
        <p:nvSpPr>
          <p:cNvPr id="100001" name="矩形 8">
            <a:extLst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noGrp="1"/>
          </p:cNvSpPr>
          <p:nvPr/>
        </p:nvSpPr>
        <p:spPr>
          <a:xfrm>
            <a:off x="647700" y="1000125"/>
            <a:ext cx="10668000" cy="762000"/>
          </a:xfrm>
          <a:prstGeom prst="rect">
            <a:avLst/>
          </a:prstGeom>
          <a:noFill/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187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75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Connected mobility and intelligent transportation rely on reliable V2I connectivity.</a:t>
            </a:r>
          </a:p>
        </p:txBody>
      </p:sp>
      <p:sp>
        <p:nvSpPr>
          <p:cNvPr id="100002" name="矩形 24">
            <a:extLst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noGrp="1"/>
          </p:cNvSpPr>
          <p:nvPr/>
        </p:nvSpPr>
        <p:spPr>
          <a:xfrm>
            <a:off x="8572500" y="1905000"/>
            <a:ext cx="2857500" cy="4191000"/>
          </a:xfrm>
          <a:prstGeom prst="rect">
            <a:avLst/>
          </a:prstGeom>
          <a:noFill/>
          <a:ln w="19050">
            <a:solidFill>
              <a:srgbClr val="418AB3"/>
            </a:solidFill>
            <a:prstDash val="solid"/>
          </a:ln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Vehicular networks connect moving vehicles, roadside infrastructure, and network services.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 sz="1550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Roadside operating conditions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High mobility · rapidly changing geometry · intermittent blockage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 sz="1550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Communication requirements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High data rate · low latency · reliable connectivity</a:t>
            </a:r>
          </a:p>
        </p:txBody>
      </p:sp>
      <p:pic>
        <p:nvPicPr>
          <p:cNvPr id="100007" name="图片 2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87133" y="1762125"/>
            <a:ext cx="6769734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4599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A34D1D7-74A4-E3A7-4F23-63F0B92D2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t>V2I Beam Management Problem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BF130BF-86F1-FCD0-FAC3-C2F80BAE2832}"/>
              </a:ext>
            </a:extLst>
          </p:cNvPr>
          <p:cNvSpPr>
            <a:spLocks noGrp="1"/>
          </p:cNvSpPr>
          <p:nvPr/>
        </p:nvSpPr>
        <p:spPr>
          <a:xfrm>
            <a:off x="647700" y="1190625"/>
            <a:ext cx="10668000" cy="1016000"/>
          </a:xfrm>
          <a:prstGeom prst="rect">
            <a:avLst/>
          </a:prstGeom>
          <a:noFill/>
        </p:spPr>
        <p:txBody>
          <a:bodyPr wrap="square" lIns="76200" tIns="57150" rIns="76200" bIns="57150" anchor="t">
            <a:noAutofit/>
          </a:bodyPr>
          <a:lstStyle/>
          <a:p>
            <a:pPr algn="l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High-frequency V2I links use narrow beams to obtain array gain. Mobility, blockage, and path evolution rapidly age beam information.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FF3106F-4B77-0441-4A3A-D0CCE327E271}"/>
              </a:ext>
            </a:extLst>
          </p:cNvPr>
          <p:cNvSpPr>
            <a:spLocks noGrp="1"/>
          </p:cNvSpPr>
          <p:nvPr/>
        </p:nvSpPr>
        <p:spPr>
          <a:xfrm>
            <a:off x="647700" y="3937000"/>
            <a:ext cx="10668000" cy="1397000"/>
          </a:xfrm>
          <a:prstGeom prst="rect">
            <a:avLst/>
          </a:prstGeom>
          <a:noFill/>
        </p:spPr>
        <p:txBody>
          <a:bodyPr wrap="square" lIns="76200" tIns="57150" rIns="76200" bIns="57150" anchor="t">
            <a:noAutofit/>
          </a:bodyPr>
          <a:lstStyle/>
          <a:p>
            <a:pPr algn="l">
              <a:lnSpc>
                <a:spcPct val="112000"/>
              </a:lnSpc>
              <a:buNone/>
              <a:defRPr sz="19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More frequent or wider CSI-RS measurements improve alignment reliability, but consume time-frequency resources.</a:t>
            </a:r>
          </a:p>
          <a:p>
            <a:pPr algn="l">
              <a:lnSpc>
                <a:spcPct val="112000"/>
              </a:lnSpc>
              <a:buNone/>
              <a:defRPr sz="19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 sz="1800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lnSpc>
                <a:spcPct val="112000"/>
              </a:lnSpc>
              <a:buNone/>
              <a:defRPr sz="19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Measurement reliability  ↔  Measurement overhead</a:t>
            </a:r>
          </a:p>
        </p:txBody>
      </p:sp>
      <p:sp>
        <p:nvSpPr>
          <p:cNvPr id="100014" name="BM_SSB">
            <a:extLst>
              <a:ext uri="{FF2B5EF4-FFF2-40B4-BE49-F238E27FC236}">
                <a16:creationId xmlns:a16="http://schemas.microsoft.com/office/drawing/2014/main" id="{02FD4DD9-7C50-411A-BD28-17C946F476AD}"/>
              </a:ext>
            </a:extLst>
          </p:cNvPr>
          <p:cNvSpPr>
            <a:spLocks noGrp="1"/>
          </p:cNvSpPr>
          <p:nvPr/>
        </p:nvSpPr>
        <p:spPr>
          <a:xfrm>
            <a:off x="698500" y="2730500"/>
            <a:ext cx="1968500" cy="698500"/>
          </a:xfrm>
          <a:prstGeom prst="roundRect">
            <a:avLst/>
          </a:prstGeom>
          <a:solidFill>
            <a:srgbClr val="EAF2F8"/>
          </a:solidFill>
          <a:ln w="15875">
            <a:solidFill>
              <a:srgbClr val="418AB3"/>
            </a:solidFill>
          </a:ln>
        </p:spPr>
        <p:txBody>
          <a:bodyPr anchor="ctr"/>
          <a:lstStyle/>
          <a:p>
            <a:pPr algn="ctr">
              <a:buNone/>
            </a:pPr>
            <a:r>
              <a:rPr sz="17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SSB access</a:t>
            </a:r>
          </a:p>
        </p:txBody>
      </p:sp>
      <p:sp>
        <p:nvSpPr>
          <p:cNvPr id="100015" name="BM_A1">
            <a:extLst>
              <a:ext uri="{FF2B5EF4-FFF2-40B4-BE49-F238E27FC236}">
                <a16:creationId xmlns:a16="http://schemas.microsoft.com/office/drawing/2014/main" id="{D732D3A6-BFAE-46BC-A3AE-91BB5EA751B9}"/>
              </a:ext>
            </a:extLst>
          </p:cNvPr>
          <p:cNvSpPr>
            <a:spLocks noGrp="1"/>
          </p:cNvSpPr>
          <p:nvPr/>
        </p:nvSpPr>
        <p:spPr>
          <a:xfrm>
            <a:off x="2819400" y="2895600"/>
            <a:ext cx="533400" cy="381000"/>
          </a:xfrm>
          <a:prstGeom prst="rightArrow">
            <a:avLst/>
          </a:prstGeom>
          <a:solidFill>
            <a:srgbClr val="418AB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016" name="BM_CSI">
            <a:extLst>
              <a:ext uri="{FF2B5EF4-FFF2-40B4-BE49-F238E27FC236}">
                <a16:creationId xmlns:a16="http://schemas.microsoft.com/office/drawing/2014/main" id="{5B72FF3C-4CA0-4230-8C3F-198D222B5370}"/>
              </a:ext>
            </a:extLst>
          </p:cNvPr>
          <p:cNvSpPr>
            <a:spLocks noGrp="1"/>
          </p:cNvSpPr>
          <p:nvPr/>
        </p:nvSpPr>
        <p:spPr>
          <a:xfrm>
            <a:off x="3517900" y="2730500"/>
            <a:ext cx="2222500" cy="698500"/>
          </a:xfrm>
          <a:prstGeom prst="roundRect">
            <a:avLst/>
          </a:prstGeom>
          <a:solidFill>
            <a:srgbClr val="F0F3E4"/>
          </a:solidFill>
          <a:ln w="15875">
            <a:solidFill>
              <a:srgbClr val="596400"/>
            </a:solidFill>
          </a:ln>
        </p:spPr>
        <p:txBody>
          <a:bodyPr anchor="ctr"/>
          <a:lstStyle/>
          <a:p>
            <a:pPr algn="ctr">
              <a:buNone/>
            </a:pPr>
            <a:r>
              <a:rPr sz="17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CSI-RS candidates</a:t>
            </a:r>
          </a:p>
        </p:txBody>
      </p:sp>
      <p:sp>
        <p:nvSpPr>
          <p:cNvPr id="100017" name="BM_A2">
            <a:extLst>
              <a:ext uri="{FF2B5EF4-FFF2-40B4-BE49-F238E27FC236}">
                <a16:creationId xmlns:a16="http://schemas.microsoft.com/office/drawing/2014/main" id="{01DBF6DC-3904-49A5-BB9C-5337C76F3ECF}"/>
              </a:ext>
            </a:extLst>
          </p:cNvPr>
          <p:cNvSpPr>
            <a:spLocks noGrp="1"/>
          </p:cNvSpPr>
          <p:nvPr/>
        </p:nvSpPr>
        <p:spPr>
          <a:xfrm>
            <a:off x="5905500" y="2895600"/>
            <a:ext cx="533400" cy="381000"/>
          </a:xfrm>
          <a:prstGeom prst="rightArrow">
            <a:avLst/>
          </a:prstGeom>
          <a:solidFill>
            <a:srgbClr val="418AB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018" name="BM_FB">
            <a:extLst>
              <a:ext uri="{FF2B5EF4-FFF2-40B4-BE49-F238E27FC236}">
                <a16:creationId xmlns:a16="http://schemas.microsoft.com/office/drawing/2014/main" id="{2129D259-7739-4C2B-B74C-ABBE8ABE2B1C}"/>
              </a:ext>
            </a:extLst>
          </p:cNvPr>
          <p:cNvSpPr>
            <a:spLocks noGrp="1"/>
          </p:cNvSpPr>
          <p:nvPr/>
        </p:nvSpPr>
        <p:spPr>
          <a:xfrm>
            <a:off x="6604000" y="2730500"/>
            <a:ext cx="2222500" cy="698500"/>
          </a:xfrm>
          <a:prstGeom prst="roundRect">
            <a:avLst/>
          </a:prstGeom>
          <a:solidFill>
            <a:srgbClr val="EAF2F8"/>
          </a:solidFill>
          <a:ln w="15875">
            <a:solidFill>
              <a:srgbClr val="418AB3"/>
            </a:solidFill>
          </a:ln>
        </p:spPr>
        <p:txBody>
          <a:bodyPr anchor="ctr"/>
          <a:lstStyle/>
          <a:p>
            <a:pPr algn="ctr">
              <a:buNone/>
            </a:pPr>
            <a:r>
              <a:rPr sz="17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CSI feedback</a:t>
            </a:r>
          </a:p>
        </p:txBody>
      </p:sp>
      <p:sp>
        <p:nvSpPr>
          <p:cNvPr id="100019" name="BM_A3">
            <a:extLst>
              <a:ext uri="{FF2B5EF4-FFF2-40B4-BE49-F238E27FC236}">
                <a16:creationId xmlns:a16="http://schemas.microsoft.com/office/drawing/2014/main" id="{C874D928-6C29-4791-B9AE-6D1851694A77}"/>
              </a:ext>
            </a:extLst>
          </p:cNvPr>
          <p:cNvSpPr>
            <a:spLocks noGrp="1"/>
          </p:cNvSpPr>
          <p:nvPr/>
        </p:nvSpPr>
        <p:spPr>
          <a:xfrm>
            <a:off x="8991600" y="2895600"/>
            <a:ext cx="533400" cy="381000"/>
          </a:xfrm>
          <a:prstGeom prst="rightArrow">
            <a:avLst/>
          </a:prstGeom>
          <a:solidFill>
            <a:srgbClr val="418AB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020" name="BM_Data">
            <a:extLst>
              <a:ext uri="{FF2B5EF4-FFF2-40B4-BE49-F238E27FC236}">
                <a16:creationId xmlns:a16="http://schemas.microsoft.com/office/drawing/2014/main" id="{1CEDBD10-655F-45D8-ADA5-41599DB889AF}"/>
              </a:ext>
            </a:extLst>
          </p:cNvPr>
          <p:cNvSpPr>
            <a:spLocks noGrp="1"/>
          </p:cNvSpPr>
          <p:nvPr/>
        </p:nvSpPr>
        <p:spPr>
          <a:xfrm>
            <a:off x="9690100" y="2730500"/>
            <a:ext cx="1841500" cy="698500"/>
          </a:xfrm>
          <a:prstGeom prst="roundRect">
            <a:avLst/>
          </a:prstGeom>
          <a:solidFill>
            <a:srgbClr val="F0F3E4"/>
          </a:solidFill>
          <a:ln w="15875">
            <a:solidFill>
              <a:srgbClr val="596400"/>
            </a:solidFill>
          </a:ln>
        </p:spPr>
        <p:txBody>
          <a:bodyPr anchor="ctr"/>
          <a:lstStyle/>
          <a:p>
            <a:pPr algn="ctr">
              <a:buNone/>
            </a:pPr>
            <a:r>
              <a:rPr sz="155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Data transmission</a:t>
            </a:r>
          </a:p>
        </p:txBody>
      </p:sp>
    </p:spTree>
    <p:extLst>
      <p:ext uri="{BB962C8B-B14F-4D97-AF65-F5344CB8AC3E}">
        <p14:creationId xmlns:p14="http://schemas.microsoft.com/office/powerpoint/2010/main" val="22004704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4" name="Title 2">
            <a:extLst>
              <a:ext uri="{FF2B5EF4-FFF2-40B4-BE49-F238E27FC236}">
                <a16:creationId xmlns:a16="http://schemas.microsoft.com/office/drawing/2014/main" id="{6A34D1D7-74A4-E3A7-4F23-63F0B92D2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sz="2800"/>
              <a:t>Sensing-Assisted Beam Prediction: Single-Candidate Scenario</a:t>
            </a:r>
          </a:p>
        </p:txBody>
      </p:sp>
      <p:sp>
        <p:nvSpPr>
          <p:cNvPr id="100005" name="矩形 24">
            <a:extLst>
              <a:ext uri="{FF2B5EF4-FFF2-40B4-BE49-F238E27FC236}">
                <a16:creationId xmlns:a16="http://schemas.microsoft.com/office/drawing/2014/main" id="{0BF130BF-86F1-FCD0-FAC3-C2F80BAE2832}"/>
              </a:ext>
            </a:extLst>
          </p:cNvPr>
          <p:cNvSpPr>
            <a:spLocks noGrp="1"/>
          </p:cNvSpPr>
          <p:nvPr/>
        </p:nvSpPr>
        <p:spPr>
          <a:xfrm>
            <a:off x="647700" y="1190625"/>
            <a:ext cx="10668000" cy="1079500"/>
          </a:xfrm>
          <a:prstGeom prst="rect">
            <a:avLst/>
          </a:prstGeom>
          <a:noFill/>
        </p:spPr>
        <p:txBody>
          <a:bodyPr wrap="square" lIns="76200" tIns="57150" rIns="76200" bIns="57150" anchor="t">
            <a:noAutofit/>
          </a:bodyPr>
          <a:lstStyle/>
          <a:p>
            <a:pPr algn="l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Multimodal sensing can predict or rank beams for a known physical target.</a:t>
            </a:r>
          </a:p>
          <a:p>
            <a:pPr algn="l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Camera · position · radar · LiDAR  →  physical-scene observations</a:t>
            </a:r>
          </a:p>
        </p:txBody>
      </p:sp>
      <p:sp>
        <p:nvSpPr>
          <p:cNvPr id="100006" name="矩形 25">
            <a:extLst>
              <a:ext uri="{FF2B5EF4-FFF2-40B4-BE49-F238E27FC236}">
                <a16:creationId xmlns:a16="http://schemas.microsoft.com/office/drawing/2014/main" id="{0FF3106F-4B77-0441-4A3A-D0CCE327E271}"/>
              </a:ext>
            </a:extLst>
          </p:cNvPr>
          <p:cNvSpPr>
            <a:spLocks noGrp="1"/>
          </p:cNvSpPr>
          <p:nvPr/>
        </p:nvSpPr>
        <p:spPr>
          <a:xfrm>
            <a:off x="647700" y="3873500"/>
            <a:ext cx="10668000" cy="2095500"/>
          </a:xfrm>
          <a:prstGeom prst="rect">
            <a:avLst/>
          </a:prstGeom>
          <a:noFill/>
        </p:spPr>
        <p:txBody>
          <a:bodyPr wrap="square" lIns="76200" tIns="57150" rIns="76200" bIns="57150" anchor="t">
            <a:noAutofit/>
          </a:bodyPr>
          <a:lstStyle/>
          <a:p>
            <a:pPr algn="l">
              <a:lnSpc>
                <a:spcPct val="112000"/>
              </a:lnSpc>
              <a:buNone/>
              <a:defRPr sz="19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Single-candidate assumption: a specified or visually isolated target is treated as the intended communication user.</a:t>
            </a:r>
          </a:p>
          <a:p>
            <a:pPr algn="l">
              <a:lnSpc>
                <a:spcPct val="112000"/>
              </a:lnSpc>
              <a:buNone/>
              <a:defRPr sz="19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 sz="1750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lnSpc>
                <a:spcPct val="112000"/>
              </a:lnSpc>
              <a:buNone/>
              <a:defRPr sz="19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Beam prediction:  fθ(O[n])  →  Top-K candidates</a:t>
            </a:r>
          </a:p>
          <a:p>
            <a:pPr algn="l">
              <a:lnSpc>
                <a:spcPct val="112000"/>
              </a:lnSpc>
              <a:buNone/>
              <a:defRPr sz="19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 sz="1750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lnSpc>
                <a:spcPct val="112000"/>
              </a:lnSpc>
              <a:buNone/>
              <a:defRPr sz="19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Prediction narrows the CSI-RS search; measured CSI quality selects the service beam.</a:t>
            </a:r>
          </a:p>
        </p:txBody>
      </p:sp>
      <p:sp>
        <p:nvSpPr>
          <p:cNvPr id="100021" name="SC_Target">
            <a:extLst>
              <a:ext uri="{FF2B5EF4-FFF2-40B4-BE49-F238E27FC236}">
                <a16:creationId xmlns:a16="http://schemas.microsoft.com/office/drawing/2014/main" id="{168851A0-83B9-4AF2-88B3-5112DFAD0F71}"/>
              </a:ext>
            </a:extLst>
          </p:cNvPr>
          <p:cNvSpPr>
            <a:spLocks noGrp="1"/>
          </p:cNvSpPr>
          <p:nvPr/>
        </p:nvSpPr>
        <p:spPr>
          <a:xfrm>
            <a:off x="698500" y="2603500"/>
            <a:ext cx="2413000" cy="889000"/>
          </a:xfrm>
          <a:prstGeom prst="roundRect">
            <a:avLst/>
          </a:prstGeom>
          <a:solidFill>
            <a:srgbClr val="EAF2F8"/>
          </a:solidFill>
          <a:ln w="15875">
            <a:solidFill>
              <a:srgbClr val="418AB3"/>
            </a:solidFill>
          </a:ln>
        </p:spPr>
        <p:txBody>
          <a:bodyPr anchor="ctr"/>
          <a:lstStyle/>
          <a:p>
            <a:pPr algn="ctr">
              <a:buNone/>
            </a:pPr>
            <a:r>
              <a:rPr sz="17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Known physical target</a:t>
            </a:r>
          </a:p>
        </p:txBody>
      </p:sp>
      <p:sp>
        <p:nvSpPr>
          <p:cNvPr id="100022" name="SC_A1">
            <a:extLst>
              <a:ext uri="{FF2B5EF4-FFF2-40B4-BE49-F238E27FC236}">
                <a16:creationId xmlns:a16="http://schemas.microsoft.com/office/drawing/2014/main" id="{2CF890DA-5E1F-42E4-A63B-6DA6A7349335}"/>
              </a:ext>
            </a:extLst>
          </p:cNvPr>
          <p:cNvSpPr>
            <a:spLocks noGrp="1"/>
          </p:cNvSpPr>
          <p:nvPr/>
        </p:nvSpPr>
        <p:spPr>
          <a:xfrm>
            <a:off x="3302000" y="2857500"/>
            <a:ext cx="508000" cy="381000"/>
          </a:xfrm>
          <a:prstGeom prst="rightArrow">
            <a:avLst/>
          </a:prstGeom>
          <a:solidFill>
            <a:srgbClr val="418AB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023" name="SC_Obs">
            <a:extLst>
              <a:ext uri="{FF2B5EF4-FFF2-40B4-BE49-F238E27FC236}">
                <a16:creationId xmlns:a16="http://schemas.microsoft.com/office/drawing/2014/main" id="{A117C6F2-2413-4379-AB31-F4ACF279E79A}"/>
              </a:ext>
            </a:extLst>
          </p:cNvPr>
          <p:cNvSpPr>
            <a:spLocks noGrp="1"/>
          </p:cNvSpPr>
          <p:nvPr/>
        </p:nvSpPr>
        <p:spPr>
          <a:xfrm>
            <a:off x="4000500" y="2603500"/>
            <a:ext cx="3238500" cy="889000"/>
          </a:xfrm>
          <a:prstGeom prst="roundRect">
            <a:avLst/>
          </a:prstGeom>
          <a:solidFill>
            <a:srgbClr val="F0F3E4"/>
          </a:solidFill>
          <a:ln w="15875">
            <a:solidFill>
              <a:srgbClr val="596400"/>
            </a:solidFill>
          </a:ln>
        </p:spPr>
        <p:txBody>
          <a:bodyPr anchor="ctr"/>
          <a:lstStyle/>
          <a:p>
            <a:pPr algn="ctr">
              <a:buNone/>
            </a:pPr>
            <a:r>
              <a:rPr sz="17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Multimodal scene observation</a:t>
            </a:r>
          </a:p>
        </p:txBody>
      </p:sp>
      <p:sp>
        <p:nvSpPr>
          <p:cNvPr id="100024" name="SC_A2">
            <a:extLst>
              <a:ext uri="{FF2B5EF4-FFF2-40B4-BE49-F238E27FC236}">
                <a16:creationId xmlns:a16="http://schemas.microsoft.com/office/drawing/2014/main" id="{ABA020D3-9F13-40BD-80E3-00696B80E5A4}"/>
              </a:ext>
            </a:extLst>
          </p:cNvPr>
          <p:cNvSpPr>
            <a:spLocks noGrp="1"/>
          </p:cNvSpPr>
          <p:nvPr/>
        </p:nvSpPr>
        <p:spPr>
          <a:xfrm>
            <a:off x="7429500" y="2857500"/>
            <a:ext cx="508000" cy="381000"/>
          </a:xfrm>
          <a:prstGeom prst="rightArrow">
            <a:avLst/>
          </a:prstGeom>
          <a:solidFill>
            <a:srgbClr val="418AB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025" name="SC_Beams">
            <a:extLst>
              <a:ext uri="{FF2B5EF4-FFF2-40B4-BE49-F238E27FC236}">
                <a16:creationId xmlns:a16="http://schemas.microsoft.com/office/drawing/2014/main" id="{376258DC-934C-48AF-B3C9-995E199F272A}"/>
              </a:ext>
            </a:extLst>
          </p:cNvPr>
          <p:cNvSpPr>
            <a:spLocks noGrp="1"/>
          </p:cNvSpPr>
          <p:nvPr/>
        </p:nvSpPr>
        <p:spPr>
          <a:xfrm>
            <a:off x="8128000" y="2603500"/>
            <a:ext cx="3175000" cy="889000"/>
          </a:xfrm>
          <a:prstGeom prst="roundRect">
            <a:avLst/>
          </a:prstGeom>
          <a:solidFill>
            <a:srgbClr val="EAF2F8"/>
          </a:solidFill>
          <a:ln w="15875">
            <a:solidFill>
              <a:srgbClr val="418AB3"/>
            </a:solidFill>
          </a:ln>
        </p:spPr>
        <p:txBody>
          <a:bodyPr anchor="ctr"/>
          <a:lstStyle/>
          <a:p>
            <a:pPr algn="ctr">
              <a:buNone/>
            </a:pPr>
            <a:r>
              <a:rPr sz="17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Top-K beam candidates</a:t>
            </a:r>
          </a:p>
        </p:txBody>
      </p:sp>
    </p:spTree>
    <p:extLst>
      <p:ext uri="{BB962C8B-B14F-4D97-AF65-F5344CB8AC3E}">
        <p14:creationId xmlns:p14="http://schemas.microsoft.com/office/powerpoint/2010/main" val="22004704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7" name="Title 2">
            <a:extLst>
              <a:ext uri="{FF2B5EF4-FFF2-40B4-BE49-F238E27FC236}">
                <a16:creationId xmlns:a16="http://schemas.microsoft.com/office/drawing/2014/main" id="{6A34D1D7-74A4-E3A7-4F23-63F0B92D2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sz="2800"/>
              <a:t>Sensing-Assisted Beam Prediction: Multi-Candidate Scenario</a:t>
            </a:r>
          </a:p>
        </p:txBody>
      </p:sp>
      <p:sp>
        <p:nvSpPr>
          <p:cNvPr id="100008" name="矩形 24">
            <a:extLst>
              <a:ext uri="{FF2B5EF4-FFF2-40B4-BE49-F238E27FC236}">
                <a16:creationId xmlns:a16="http://schemas.microsoft.com/office/drawing/2014/main" id="{0BF130BF-86F1-FCD0-FAC3-C2F80BAE2832}"/>
              </a:ext>
            </a:extLst>
          </p:cNvPr>
          <p:cNvSpPr>
            <a:spLocks noGrp="1"/>
          </p:cNvSpPr>
          <p:nvPr/>
        </p:nvSpPr>
        <p:spPr>
          <a:xfrm>
            <a:off x="647700" y="1190625"/>
            <a:ext cx="10668000" cy="1079500"/>
          </a:xfrm>
          <a:prstGeom prst="rect">
            <a:avLst/>
          </a:prstGeom>
          <a:noFill/>
        </p:spPr>
        <p:txBody>
          <a:bodyPr wrap="square" lIns="76200" tIns="57150" rIns="76200" bIns="57150" anchor="t">
            <a:noAutofit/>
          </a:bodyPr>
          <a:lstStyle/>
          <a:p>
            <a:pPr algn="l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When several vehicles are visible, prediction must first identify the intended transmitter.</a:t>
            </a:r>
          </a:p>
          <a:p>
            <a:pPr algn="l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User-conditioned prediction:  fθ(O[n], g[u,n])  →  VUE-specific Top-K beams</a:t>
            </a:r>
          </a:p>
        </p:txBody>
      </p:sp>
      <p:sp>
        <p:nvSpPr>
          <p:cNvPr id="100009" name="矩形 25">
            <a:extLst>
              <a:ext uri="{FF2B5EF4-FFF2-40B4-BE49-F238E27FC236}">
                <a16:creationId xmlns:a16="http://schemas.microsoft.com/office/drawing/2014/main" id="{0FF3106F-4B77-0441-4A3A-D0CCE327E271}"/>
              </a:ext>
            </a:extLst>
          </p:cNvPr>
          <p:cNvSpPr>
            <a:spLocks noGrp="1"/>
          </p:cNvSpPr>
          <p:nvPr/>
        </p:nvSpPr>
        <p:spPr>
          <a:xfrm>
            <a:off x="647700" y="3873500"/>
            <a:ext cx="10668000" cy="2095500"/>
          </a:xfrm>
          <a:prstGeom prst="rect">
            <a:avLst/>
          </a:prstGeom>
          <a:noFill/>
        </p:spPr>
        <p:txBody>
          <a:bodyPr wrap="square" lIns="76200" tIns="57150" rIns="76200" bIns="57150" anchor="t">
            <a:noAutofit/>
          </a:bodyPr>
          <a:lstStyle/>
          <a:p>
            <a:pPr algn="l">
              <a:lnSpc>
                <a:spcPct val="112000"/>
              </a:lnSpc>
              <a:buNone/>
              <a:defRPr sz="19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O[n]: scene-level sensing observations</a:t>
            </a:r>
          </a:p>
          <a:p>
            <a:pPr algn="l">
              <a:lnSpc>
                <a:spcPct val="112000"/>
              </a:lnSpc>
              <a:buNone/>
              <a:defRPr sz="19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g[u,n]: location or other user-specific side information</a:t>
            </a:r>
          </a:p>
          <a:p>
            <a:pPr algn="l">
              <a:lnSpc>
                <a:spcPct val="112000"/>
              </a:lnSpc>
              <a:buNone/>
              <a:defRPr sz="19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 sz="1650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lnSpc>
                <a:spcPct val="112000"/>
              </a:lnSpc>
              <a:buNone/>
              <a:defRPr sz="19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Location can be unavailable, inaccurate, stale, or misaligned.</a:t>
            </a:r>
          </a:p>
          <a:p>
            <a:pPr algn="l">
              <a:lnSpc>
                <a:spcPct val="112000"/>
              </a:lnSpc>
              <a:buNone/>
              <a:defRPr sz="19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Candidate scoring is conditioned on every active VUE.</a:t>
            </a:r>
          </a:p>
          <a:p>
            <a:pPr algn="l">
              <a:lnSpc>
                <a:spcPct val="112000"/>
              </a:lnSpc>
              <a:buNone/>
              <a:defRPr sz="19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 sz="1650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lnSpc>
                <a:spcPct val="112000"/>
              </a:lnSpc>
              <a:buNone/>
              <a:defRPr sz="19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Whose candidate list is it?</a:t>
            </a:r>
          </a:p>
        </p:txBody>
      </p:sp>
      <p:sp>
        <p:nvSpPr>
          <p:cNvPr id="100026" name="MC_Visible">
            <a:extLst>
              <a:ext uri="{FF2B5EF4-FFF2-40B4-BE49-F238E27FC236}">
                <a16:creationId xmlns:a16="http://schemas.microsoft.com/office/drawing/2014/main" id="{9E1DE6C0-8077-4840-85DD-9FA2A8EF65C1}"/>
              </a:ext>
            </a:extLst>
          </p:cNvPr>
          <p:cNvSpPr>
            <a:spLocks noGrp="1"/>
          </p:cNvSpPr>
          <p:nvPr/>
        </p:nvSpPr>
        <p:spPr>
          <a:xfrm>
            <a:off x="698500" y="2603500"/>
            <a:ext cx="2413000" cy="889000"/>
          </a:xfrm>
          <a:prstGeom prst="roundRect">
            <a:avLst/>
          </a:prstGeom>
          <a:solidFill>
            <a:srgbClr val="EAF2F8"/>
          </a:solidFill>
          <a:ln w="15875">
            <a:solidFill>
              <a:srgbClr val="418AB3"/>
            </a:solidFill>
          </a:ln>
        </p:spPr>
        <p:txBody>
          <a:bodyPr anchor="ctr"/>
          <a:lstStyle/>
          <a:p>
            <a:pPr algn="ctr">
              <a:buNone/>
            </a:pPr>
            <a:r>
              <a:rPr sz="17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Multiple visible vehicles</a:t>
            </a:r>
          </a:p>
        </p:txBody>
      </p:sp>
      <p:sp>
        <p:nvSpPr>
          <p:cNvPr id="100027" name="MC_A1">
            <a:extLst>
              <a:ext uri="{FF2B5EF4-FFF2-40B4-BE49-F238E27FC236}">
                <a16:creationId xmlns:a16="http://schemas.microsoft.com/office/drawing/2014/main" id="{91128B62-72A0-47E6-9580-5AA70C6675A1}"/>
              </a:ext>
            </a:extLst>
          </p:cNvPr>
          <p:cNvSpPr>
            <a:spLocks noGrp="1"/>
          </p:cNvSpPr>
          <p:nvPr/>
        </p:nvSpPr>
        <p:spPr>
          <a:xfrm>
            <a:off x="3302000" y="2857500"/>
            <a:ext cx="508000" cy="381000"/>
          </a:xfrm>
          <a:prstGeom prst="rightArrow">
            <a:avLst/>
          </a:prstGeom>
          <a:solidFill>
            <a:srgbClr val="418AB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028" name="MC_SideInfo">
            <a:extLst>
              <a:ext uri="{FF2B5EF4-FFF2-40B4-BE49-F238E27FC236}">
                <a16:creationId xmlns:a16="http://schemas.microsoft.com/office/drawing/2014/main" id="{D82D2740-F766-4529-9897-042FB4FF5787}"/>
              </a:ext>
            </a:extLst>
          </p:cNvPr>
          <p:cNvSpPr>
            <a:spLocks noGrp="1"/>
          </p:cNvSpPr>
          <p:nvPr/>
        </p:nvSpPr>
        <p:spPr>
          <a:xfrm>
            <a:off x="4000500" y="2603500"/>
            <a:ext cx="3238500" cy="889000"/>
          </a:xfrm>
          <a:prstGeom prst="roundRect">
            <a:avLst/>
          </a:prstGeom>
          <a:solidFill>
            <a:srgbClr val="F0F3E4"/>
          </a:solidFill>
          <a:ln w="15875">
            <a:solidFill>
              <a:srgbClr val="596400"/>
            </a:solidFill>
          </a:ln>
        </p:spPr>
        <p:txBody>
          <a:bodyPr anchor="ctr"/>
          <a:lstStyle/>
          <a:p>
            <a:pPr algn="ctr">
              <a:buNone/>
            </a:pPr>
            <a:r>
              <a:rPr sz="17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Sensing + user side information</a:t>
            </a:r>
          </a:p>
        </p:txBody>
      </p:sp>
      <p:sp>
        <p:nvSpPr>
          <p:cNvPr id="100029" name="MC_A2">
            <a:extLst>
              <a:ext uri="{FF2B5EF4-FFF2-40B4-BE49-F238E27FC236}">
                <a16:creationId xmlns:a16="http://schemas.microsoft.com/office/drawing/2014/main" id="{FA37D473-F8D3-4131-89DD-84E41835EBC1}"/>
              </a:ext>
            </a:extLst>
          </p:cNvPr>
          <p:cNvSpPr>
            <a:spLocks noGrp="1"/>
          </p:cNvSpPr>
          <p:nvPr/>
        </p:nvSpPr>
        <p:spPr>
          <a:xfrm>
            <a:off x="7429500" y="2857500"/>
            <a:ext cx="508000" cy="381000"/>
          </a:xfrm>
          <a:prstGeom prst="rightArrow">
            <a:avLst/>
          </a:prstGeom>
          <a:solidFill>
            <a:srgbClr val="418AB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030" name="MC_Beams">
            <a:extLst>
              <a:ext uri="{FF2B5EF4-FFF2-40B4-BE49-F238E27FC236}">
                <a16:creationId xmlns:a16="http://schemas.microsoft.com/office/drawing/2014/main" id="{8AAACCE4-CFD9-4574-BD98-C8702884A176}"/>
              </a:ext>
            </a:extLst>
          </p:cNvPr>
          <p:cNvSpPr>
            <a:spLocks noGrp="1"/>
          </p:cNvSpPr>
          <p:nvPr/>
        </p:nvSpPr>
        <p:spPr>
          <a:xfrm>
            <a:off x="8128000" y="2603500"/>
            <a:ext cx="3175000" cy="889000"/>
          </a:xfrm>
          <a:prstGeom prst="roundRect">
            <a:avLst/>
          </a:prstGeom>
          <a:solidFill>
            <a:srgbClr val="EAF2F8"/>
          </a:solidFill>
          <a:ln w="15875">
            <a:solidFill>
              <a:srgbClr val="418AB3"/>
            </a:solidFill>
          </a:ln>
        </p:spPr>
        <p:txBody>
          <a:bodyPr anchor="ctr"/>
          <a:lstStyle/>
          <a:p>
            <a:pPr algn="ctr">
              <a:buNone/>
            </a:pPr>
            <a:r>
              <a:rPr sz="17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VUE-specific Top-K beams</a:t>
            </a:r>
          </a:p>
        </p:txBody>
      </p:sp>
    </p:spTree>
    <p:extLst>
      <p:ext uri="{BB962C8B-B14F-4D97-AF65-F5344CB8AC3E}">
        <p14:creationId xmlns:p14="http://schemas.microsoft.com/office/powerpoint/2010/main" val="22004704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sz="3000"/>
              <a:t>Sensing-Target-to-User Association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noGrp="1"/>
          </p:cNvSpPr>
          <p:nvPr/>
        </p:nvSpPr>
        <p:spPr>
          <a:xfrm>
            <a:off x="647700" y="1066800"/>
            <a:ext cx="10668000" cy="857250"/>
          </a:xfrm>
          <a:prstGeom prst="rect">
            <a:avLst/>
          </a:prstGeom>
          <a:noFill/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195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95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Sensing observes physical vehicles, while beam management serves VUE identities.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noGrp="1"/>
          </p:cNvSpPr>
          <p:nvPr/>
        </p:nvSpPr>
        <p:spPr>
          <a:xfrm>
            <a:off x="1524000" y="4953000"/>
            <a:ext cx="9144000" cy="666750"/>
          </a:xfrm>
          <a:prstGeom prst="rect">
            <a:avLst/>
          </a:prstGeom>
          <a:noFill/>
          <a:ln w="19050">
            <a:solidFill>
              <a:srgbClr val="418AB3"/>
            </a:solidFill>
            <a:prstDash val="solid"/>
          </a:ln>
        </p:spPr>
        <p:txBody>
          <a:bodyPr wrap="square" lIns="76200" tIns="57150" rIns="76200" bIns="57150" anchor="t">
            <a:noAutofit/>
          </a:bodyPr>
          <a:lstStyle/>
          <a:p>
            <a:pPr marL="0" indent="0" algn="ctr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 visible vehicle may not be active; the intended VUE may be unobserved; several targets may be plausible.</a:t>
            </a:r>
          </a:p>
        </p:txBody>
      </p:sp>
      <p:sp>
        <p:nvSpPr>
          <p:cNvPr id="26" name="replacement-domain-arrow">
            <a:extLst>
              <a:ext uri="{FF2B5EF4-FFF2-40B4-BE49-F238E27FC236}">
                <a16:creationId xmlns:a16="http://schemas.microsoft.com/office/drawing/2014/main" id="{DC0A9684-1797-47C0-86B9-122302775BA1}"/>
              </a:ext>
            </a:extLst>
          </p:cNvPr>
          <p:cNvSpPr>
            <a:spLocks noGrp="1"/>
          </p:cNvSpPr>
          <p:nvPr/>
        </p:nvSpPr>
        <p:spPr>
          <a:xfrm>
            <a:off x="5286375" y="3143250"/>
            <a:ext cx="1619250" cy="666750"/>
          </a:xfrm>
          <a:prstGeom prst="rightArrow">
            <a:avLst/>
          </a:prstGeom>
          <a:solidFill>
            <a:srgbClr val="F0F3E4"/>
          </a:solidFill>
          <a:ln w="19050">
            <a:solidFill>
              <a:srgbClr val="5964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replacement-sensing-domain">
            <a:extLst>
              <a:ext uri="{FF2B5EF4-FFF2-40B4-BE49-F238E27FC236}">
                <a16:creationId xmlns:a16="http://schemas.microsoft.com/office/drawing/2014/main" id="{20AB9B1A-2C59-48F3-B5DF-DB8DD8EB67AA}"/>
              </a:ext>
            </a:extLst>
          </p:cNvPr>
          <p:cNvSpPr>
            <a:spLocks noGrp="1"/>
          </p:cNvSpPr>
          <p:nvPr/>
        </p:nvSpPr>
        <p:spPr>
          <a:xfrm>
            <a:off x="857250" y="2381250"/>
            <a:ext cx="3714750" cy="2190750"/>
          </a:xfrm>
          <a:prstGeom prst="rect">
            <a:avLst/>
          </a:prstGeom>
          <a:solidFill>
            <a:srgbClr val="EAF2F8"/>
          </a:solidFill>
          <a:ln w="19050">
            <a:solidFill>
              <a:srgbClr val="418AB3"/>
            </a:solidFill>
            <a:prstDash val="solid"/>
          </a:ln>
        </p:spPr>
        <p:txBody>
          <a:bodyPr wrap="square" lIns="95250" tIns="76200" rIns="95250" bIns="7620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SENSING DOMAIN</a:t>
            </a:r>
          </a:p>
          <a:p>
            <a:pPr algn="ctr">
              <a:lnSpc>
                <a:spcPct val="108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 sz="1700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Physical vehicles</a:t>
            </a:r>
          </a:p>
          <a:p>
            <a:pPr algn="ctr">
              <a:lnSpc>
                <a:spcPct val="108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Detections</a:t>
            </a:r>
          </a:p>
          <a:p>
            <a:pPr algn="ctr">
              <a:lnSpc>
                <a:spcPct val="108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Perception tracks</a:t>
            </a:r>
          </a:p>
          <a:p>
            <a:pPr algn="ctr">
              <a:lnSpc>
                <a:spcPct val="108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Target-level beam posteriors</a:t>
            </a:r>
          </a:p>
        </p:txBody>
      </p:sp>
      <p:sp>
        <p:nvSpPr>
          <p:cNvPr id="28" name="replacement-communication-domain">
            <a:extLst>
              <a:ext uri="{FF2B5EF4-FFF2-40B4-BE49-F238E27FC236}">
                <a16:creationId xmlns:a16="http://schemas.microsoft.com/office/drawing/2014/main" id="{BF983AD3-7C1C-4770-90EF-8C93B0A005DC}"/>
              </a:ext>
            </a:extLst>
          </p:cNvPr>
          <p:cNvSpPr>
            <a:spLocks noGrp="1"/>
          </p:cNvSpPr>
          <p:nvPr/>
        </p:nvSpPr>
        <p:spPr>
          <a:xfrm>
            <a:off x="7524750" y="2381250"/>
            <a:ext cx="3714750" cy="2190750"/>
          </a:xfrm>
          <a:prstGeom prst="rect">
            <a:avLst/>
          </a:prstGeom>
          <a:solidFill>
            <a:srgbClr val="F0F3E4"/>
          </a:solidFill>
          <a:ln w="19050">
            <a:solidFill>
              <a:srgbClr val="596400"/>
            </a:solidFill>
            <a:prstDash val="solid"/>
          </a:ln>
        </p:spPr>
        <p:txBody>
          <a:bodyPr wrap="square" lIns="95250" tIns="76200" rIns="95250" bIns="7620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COMMUNICATION DOMAIN</a:t>
            </a:r>
          </a:p>
          <a:p>
            <a:pPr algn="ctr">
              <a:lnSpc>
                <a:spcPct val="108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 sz="1700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VUE identities</a:t>
            </a:r>
          </a:p>
          <a:p>
            <a:pPr algn="ctr">
              <a:lnSpc>
                <a:spcPct val="108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SSB / CSI-RS measurements</a:t>
            </a:r>
          </a:p>
          <a:p>
            <a:pPr algn="ctr">
              <a:lnSpc>
                <a:spcPct val="108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User-specific downlink</a:t>
            </a:r>
          </a:p>
        </p:txBody>
      </p:sp>
      <p:sp>
        <p:nvSpPr>
          <p:cNvPr id="29" name="replacement-interface-question">
            <a:extLst>
              <a:ext uri="{FF2B5EF4-FFF2-40B4-BE49-F238E27FC236}">
                <a16:creationId xmlns:a16="http://schemas.microsoft.com/office/drawing/2014/main" id="{595FA82D-420C-4D3F-9ADC-B90D352B8929}"/>
              </a:ext>
            </a:extLst>
          </p:cNvPr>
          <p:cNvSpPr>
            <a:spLocks noGrp="1"/>
          </p:cNvSpPr>
          <p:nvPr/>
        </p:nvSpPr>
        <p:spPr>
          <a:xfrm>
            <a:off x="4445000" y="4000500"/>
            <a:ext cx="31750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76200" rIns="95250" bIns="7620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650" b="1">
                <a:solidFill>
                  <a:srgbClr val="0F00CD"/>
                </a:solidFill>
                <a:latin typeface="Helvetica"/>
                <a:ea typeface="Helvetica"/>
                <a:cs typeface="Helvetica"/>
              </a:defRPr>
            </a:pPr>
            <a:r>
              <a:rPr sz="1550" b="1">
                <a:solidFill>
                  <a:srgbClr val="0F00CD"/>
                </a:solidFill>
                <a:latin typeface="Helvetica"/>
                <a:ea typeface="Helvetica"/>
                <a:cs typeface="Helvetica"/>
              </a:rPr>
              <a:t>Which sensing target provides candidate beams for VUE u?</a:t>
            </a:r>
          </a:p>
        </p:txBody>
      </p:sp>
    </p:spTree>
    <p:extLst>
      <p:ext uri="{BB962C8B-B14F-4D97-AF65-F5344CB8AC3E}">
        <p14:creationId xmlns:p14="http://schemas.microsoft.com/office/powerpoint/2010/main" val="21824599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t>Research Objectives and Contributions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noGrp="1"/>
          </p:cNvSpPr>
          <p:nvPr/>
        </p:nvSpPr>
        <p:spPr>
          <a:xfrm>
            <a:off x="647700" y="1047750"/>
            <a:ext cx="10668000" cy="952500"/>
          </a:xfrm>
          <a:prstGeom prst="rect">
            <a:avLst/>
          </a:prstGeom>
          <a:noFill/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187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75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Objective  Reduce CSI-RS measurement overhead while preserving user-specific beam-management decisions.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noGrp="1"/>
          </p:cNvSpPr>
          <p:nvPr/>
        </p:nvSpPr>
        <p:spPr>
          <a:xfrm>
            <a:off x="2143125" y="5286375"/>
            <a:ext cx="7905750" cy="523875"/>
          </a:xfrm>
          <a:prstGeom prst="rect">
            <a:avLst/>
          </a:prstGeom>
          <a:noFill/>
          <a:ln w="19050">
            <a:solidFill>
              <a:srgbClr val="418AB3"/>
            </a:solidFill>
            <a:prstDash val="solid"/>
          </a:ln>
        </p:spPr>
        <p:txBody>
          <a:bodyPr wrap="square" lIns="76200" tIns="57150" rIns="76200" bIns="57150" anchor="t">
            <a:noAutofit/>
          </a:bodyPr>
          <a:lstStyle/>
          <a:p>
            <a:pPr marL="0" indent="0" algn="ctr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Perception  →  Association  →  User-specific beam management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3FBFACC-3F05-25DE-A0A3-63BDE6511845}"/>
              </a:ext>
            </a:extLst>
          </p:cNvPr>
          <p:cNvSpPr>
            <a:spLocks noGrp="1"/>
          </p:cNvSpPr>
          <p:nvPr/>
        </p:nvSpPr>
        <p:spPr>
          <a:xfrm>
            <a:off x="762000" y="2143125"/>
            <a:ext cx="10287000" cy="3000375"/>
          </a:xfrm>
          <a:prstGeom prst="rect">
            <a:avLst/>
          </a:prstGeom>
          <a:noFill/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02000"/>
              </a:lnSpc>
              <a:buNone/>
              <a:defRPr sz="17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1  Distributed multimodal BEV perception for joint vehicle detection and beam prediction</a:t>
            </a:r>
          </a:p>
          <a:p>
            <a:pPr marL="0" indent="0" algn="l">
              <a:lnSpc>
                <a:spcPct val="102000"/>
              </a:lnSpc>
              <a:buNone/>
              <a:defRPr sz="17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 Multi-view cameras + BS-local ISAC yield vehicle detections and per-target beam posteriors.</a:t>
            </a:r>
          </a:p>
          <a:p>
            <a:pPr marL="0" indent="0" algn="l">
              <a:lnSpc>
                <a:spcPct val="102000"/>
              </a:lnSpc>
              <a:buNone/>
              <a:defRPr sz="17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 sz="1650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marL="0" indent="0" algn="l">
              <a:lnSpc>
                <a:spcPct val="102000"/>
              </a:lnSpc>
              <a:buNone/>
              <a:defRPr sz="17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2  Measurement-assisted target-to-user association and tracking</a:t>
            </a:r>
          </a:p>
          <a:p>
            <a:pPr marL="0" indent="0" algn="l">
              <a:lnSpc>
                <a:spcPct val="102000"/>
              </a:lnSpc>
              <a:buNone/>
              <a:defRPr sz="17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 VUE-indexed beam measurements establish credible UE-track pairs.</a:t>
            </a:r>
          </a:p>
          <a:p>
            <a:pPr marL="0" indent="0" algn="l">
              <a:lnSpc>
                <a:spcPct val="102000"/>
              </a:lnSpc>
              <a:buNone/>
              <a:defRPr sz="17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 sz="1650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marL="0" indent="0" algn="l">
              <a:lnSpc>
                <a:spcPct val="102000"/>
              </a:lnSpc>
              <a:buNone/>
              <a:defRPr sz="17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3  NR-oriented end-to-end evaluation</a:t>
            </a:r>
          </a:p>
          <a:p>
            <a:pPr marL="0" indent="0" algn="l">
              <a:lnSpc>
                <a:spcPct val="102000"/>
              </a:lnSpc>
              <a:buNone/>
              <a:defRPr sz="17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 Sensing use, fallback, CSI-RS overhead, and effective user rate are evaluated together.</a:t>
            </a:r>
          </a:p>
        </p:txBody>
      </p:sp>
    </p:spTree>
    <p:extLst>
      <p:ext uri="{BB962C8B-B14F-4D97-AF65-F5344CB8AC3E}">
        <p14:creationId xmlns:p14="http://schemas.microsoft.com/office/powerpoint/2010/main" val="21824599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A34D1D7-74A4-E3A7-4F23-63F0B92D2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t>System Model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BF130BF-86F1-FCD0-FAC3-C2F80BAE2832}"/>
              </a:ext>
            </a:extLst>
          </p:cNvPr>
          <p:cNvSpPr>
            <a:spLocks noGrp="1"/>
          </p:cNvSpPr>
          <p:nvPr/>
        </p:nvSpPr>
        <p:spPr>
          <a:xfrm>
            <a:off x="723900" y="1428750"/>
            <a:ext cx="2857500" cy="17145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6900" b="1">
                <a:solidFill>
                  <a:srgbClr val="0F00CD"/>
                </a:solidFill>
                <a:latin typeface="Arial"/>
                <a:ea typeface="Arial"/>
                <a:cs typeface="Arial"/>
              </a:defRPr>
            </a:pPr>
            <a:r>
              <a:rPr sz="6900" b="1">
                <a:solidFill>
                  <a:srgbClr val="0F00C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FF3106F-4B77-0441-4A3A-D0CCE327E271}"/>
              </a:ext>
            </a:extLst>
          </p:cNvPr>
          <p:cNvSpPr>
            <a:spLocks noGrp="1"/>
          </p:cNvSpPr>
          <p:nvPr/>
        </p:nvSpPr>
        <p:spPr>
          <a:xfrm>
            <a:off x="762000" y="3524250"/>
            <a:ext cx="9906000" cy="1143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21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1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What information is available to the BS, and how does a beam candidate affect user rate?</a:t>
            </a:r>
          </a:p>
        </p:txBody>
      </p:sp>
    </p:spTree>
    <p:extLst>
      <p:ext uri="{BB962C8B-B14F-4D97-AF65-F5344CB8AC3E}">
        <p14:creationId xmlns:p14="http://schemas.microsoft.com/office/powerpoint/2010/main" val="22004704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t>Network Architecture and Information Domains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noGrp="1"/>
          </p:cNvSpPr>
          <p:nvPr/>
        </p:nvSpPr>
        <p:spPr>
          <a:xfrm>
            <a:off x="647700" y="1000125"/>
            <a:ext cx="10668000" cy="533400"/>
          </a:xfrm>
          <a:prstGeom prst="rect">
            <a:avLst/>
          </a:prstGeom>
          <a:noFill/>
          <a:ln>
            <a:noFill/>
          </a:ln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  <a:defRPr sz="187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00" b="1">
                <a:solidFill>
                  <a:srgbClr val="000000"/>
                </a:solidFill>
                <a:latin typeface="Helvetica"/>
                <a:ea typeface="Helvetica"/>
              </a:rPr>
              <a:t>Target BS b makes local decisions; neighbours only extend sensing coverage.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noGrp="1"/>
          </p:cNvSpPr>
          <p:nvPr/>
        </p:nvSpPr>
        <p:spPr>
          <a:xfrm>
            <a:off x="952500" y="5334000"/>
            <a:ext cx="10287000" cy="787400"/>
          </a:xfrm>
          <a:prstGeom prst="rect">
            <a:avLst/>
          </a:prstGeom>
          <a:noFill/>
          <a:ln w="12700">
            <a:solidFill>
              <a:srgbClr val="418AB3"/>
            </a:solidFill>
            <a:prstDash val="solid"/>
          </a:ln>
        </p:spPr>
        <p:txBody>
          <a:bodyPr wrap="square" lIns="63500" tIns="63500" rIns="63500" bIns="63500" anchor="ctr">
            <a:noAutofit/>
          </a:bodyPr>
          <a:lstStyle/>
          <a:p>
            <a:pPr marL="0" indent="0" algn="ctr">
              <a:lnSpc>
                <a:spcPct val="95000"/>
              </a:lnSpc>
              <a:buNone/>
              <a:def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50" b="0">
                <a:solidFill>
                  <a:srgbClr val="000000"/>
                </a:solidFill>
                <a:latin typeface="Helvetica"/>
                <a:ea typeface="Helvetica"/>
              </a:rPr>
              <a:t>Communication: identified VUEs  u ∈ U_b[n]     |     Sensing: unlabelled physical targets</a:t>
            </a:r>
          </a:p>
          <a:p>
            <a:pPr marL="0" indent="0" algn="ctr">
              <a:lnSpc>
                <a:spcPct val="95000"/>
              </a:lnSpc>
              <a:buNone/>
              <a:def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50" b="0">
                <a:solidFill>
                  <a:srgbClr val="000000"/>
                </a:solidFill>
                <a:latin typeface="Helvetica"/>
                <a:ea typeface="Helvetica"/>
              </a:rPr>
              <a:t>U_b[n]: VUEs served by b     •     N_b: sensing-only neighbours     •     BEV: target-BS-centred</a:t>
            </a:r>
          </a:p>
        </p:txBody>
      </p:sp>
      <p:pic>
        <p:nvPicPr>
          <p:cNvPr id="30" name="图片 29" descr="Target BS with local VUEs and sensing-only neighbouring camera nodes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032000" y="1714500"/>
            <a:ext cx="8128000" cy="361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4599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t>ISAC Sensing Model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noGrp="1"/>
          </p:cNvSpPr>
          <p:nvPr/>
        </p:nvSpPr>
        <p:spPr>
          <a:xfrm>
            <a:off x="647700" y="1000125"/>
            <a:ext cx="10668000" cy="809625"/>
          </a:xfrm>
          <a:prstGeom prst="rect">
            <a:avLst/>
          </a:prstGeom>
          <a:noFill/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187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00" b="1">
                <a:solidFill>
                  <a:srgbClr val="000000"/>
                </a:solidFill>
                <a:latin typeface="Helvetica"/>
                <a:ea typeface="Helvetica"/>
              </a:rPr>
              <a:t>Known ISAC symbols enable BS-local extraction of dynamic vehicle evidence from static clutter.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noGrp="1"/>
          </p:cNvSpPr>
          <p:nvPr/>
        </p:nvSpPr>
        <p:spPr>
          <a:xfrm>
            <a:off x="889000" y="4318000"/>
            <a:ext cx="10414000" cy="1168400"/>
          </a:xfrm>
          <a:prstGeom prst="rect">
            <a:avLst/>
          </a:prstGeom>
          <a:noFill/>
          <a:ln w="19050">
            <a:solidFill>
              <a:srgbClr val="418AB3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  <a:defRPr sz="172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50" b="0">
                <a:solidFill>
                  <a:srgbClr val="000000"/>
                </a:solidFill>
                <a:latin typeface="Cambria Math"/>
                <a:ea typeface="Cambria Math"/>
              </a:rPr>
              <a:t>H̃_{b,n} = Ĥᵉᶜʰᵒ_{b,n} − Ĥˢᵗᵃ_b   →   Z_{b,n}(ρ, θ, ν) = Tᴿᴬᴰ(H̃_{b,n}),   |Z_{b,n}|² &gt; ηᶜᶠᴬᴿ_{b,n}</a:t>
            </a:r>
          </a:p>
          <a:p>
            <a:pPr marL="0" indent="0" algn="ctr">
              <a:lnSpc>
                <a:spcPct val="100000"/>
              </a:lnSpc>
              <a:buNone/>
              <a:defRPr sz="172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 sz="1450" b="0">
              <a:solidFill>
                <a:srgbClr val="000000"/>
              </a:solidFill>
              <a:latin typeface="Cambria Math"/>
              <a:ea typeface="Cambria Math"/>
            </a:endParaRPr>
          </a:p>
          <a:p>
            <a:pPr marL="0" indent="0" algn="ctr">
              <a:lnSpc>
                <a:spcPct val="100000"/>
              </a:lnSpc>
              <a:buNone/>
              <a:defRPr sz="172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50" b="0">
                <a:solidFill>
                  <a:srgbClr val="000000"/>
                </a:solidFill>
                <a:latin typeface="Cambria Math"/>
                <a:ea typeface="Cambria Math"/>
              </a:rPr>
              <a:t>Output:  P_{b,n} = {(q_{b,m,n}, a_{b,m,n})}ᵐ⁼¹ᴺ ᵖᶜ_{b,n}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3FBFACC-3F05-25DE-A0A3-63BDE6511845}"/>
              </a:ext>
            </a:extLst>
          </p:cNvPr>
          <p:cNvSpPr>
            <a:spLocks noGrp="1"/>
          </p:cNvSpPr>
          <p:nvPr/>
        </p:nvSpPr>
        <p:spPr>
          <a:xfrm>
            <a:off x="889000" y="1816100"/>
            <a:ext cx="10414000" cy="2819400"/>
          </a:xfrm>
          <a:prstGeom prst="rect">
            <a:avLst/>
          </a:prstGeom>
          <a:noFill/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  <a:defRPr sz="18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00" b="0">
                <a:solidFill>
                  <a:srgbClr val="000000"/>
                </a:solidFill>
                <a:latin typeface="Cambria Math"/>
                <a:ea typeface="Cambria Math"/>
              </a:rPr>
              <a:t>Known transmission</a:t>
            </a:r>
          </a:p>
          <a:p>
            <a:pPr marL="0" indent="0" algn="l">
              <a:lnSpc>
                <a:spcPct val="108000"/>
              </a:lnSpc>
              <a:buNone/>
              <a:defRPr sz="18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00" b="0">
                <a:solidFill>
                  <a:srgbClr val="000000"/>
                </a:solidFill>
                <a:latin typeface="Cambria Math"/>
                <a:ea typeface="Cambria Math"/>
              </a:rPr>
              <a:t>xᶳᵉⁿ_{b,n}[p,l] = √Pᶳᵉⁿ_{b,n} fᶳᵉⁿ_{b,n}[p,l] sᶳᵉⁿ_{b,n}[p,l]</a:t>
            </a:r>
          </a:p>
          <a:p>
            <a:pPr marL="0" indent="0" algn="l">
              <a:lnSpc>
                <a:spcPct val="108000"/>
              </a:lnSpc>
              <a:buNone/>
              <a:defRPr sz="18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 sz="1600" b="0">
              <a:solidFill>
                <a:srgbClr val="000000"/>
              </a:solidFill>
              <a:latin typeface="Cambria Math"/>
              <a:ea typeface="Cambria Math"/>
            </a:endParaRPr>
          </a:p>
          <a:p>
            <a:pPr marL="0" indent="0" algn="l">
              <a:lnSpc>
                <a:spcPct val="108000"/>
              </a:lnSpc>
              <a:buNone/>
              <a:defRPr sz="18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00" b="0">
                <a:solidFill>
                  <a:srgbClr val="000000"/>
                </a:solidFill>
                <a:latin typeface="Cambria Math"/>
                <a:ea typeface="Cambria Math"/>
              </a:rPr>
              <a:t>Echo model</a:t>
            </a:r>
          </a:p>
          <a:p>
            <a:pPr marL="0" indent="0" algn="l">
              <a:lnSpc>
                <a:spcPct val="108000"/>
              </a:lnSpc>
              <a:buNone/>
              <a:defRPr sz="18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00" b="0">
                <a:solidFill>
                  <a:srgbClr val="000000"/>
                </a:solidFill>
                <a:latin typeface="Cambria Math"/>
                <a:ea typeface="Cambria Math"/>
              </a:rPr>
              <a:t>yᵉᶜʰᵒ_{b,n}[p,l] = (Hˢᵗᵃ_b[p] + Hᵈʸⁿ_{b,n}[p,l]) xᶳᵉⁿ_{b,n}[p,l] + zᶳᵉⁿ_{b,n}[p,l]</a:t>
            </a:r>
          </a:p>
        </p:txBody>
      </p:sp>
    </p:spTree>
    <p:extLst>
      <p:ext uri="{BB962C8B-B14F-4D97-AF65-F5344CB8AC3E}">
        <p14:creationId xmlns:p14="http://schemas.microsoft.com/office/powerpoint/2010/main" val="21824599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t>Downlink Communication Model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noGrp="1"/>
          </p:cNvSpPr>
          <p:nvPr/>
        </p:nvSpPr>
        <p:spPr>
          <a:xfrm>
            <a:off x="647700" y="1000125"/>
            <a:ext cx="10668000" cy="809625"/>
          </a:xfrm>
          <a:prstGeom prst="rect">
            <a:avLst/>
          </a:prstGeom>
          <a:noFill/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187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000000"/>
                </a:solidFill>
                <a:latin typeface="Helvetica"/>
                <a:ea typeface="Helvetica"/>
              </a:rPr>
              <a:t>From multi-user data streams to CSI-RS-based equivalent-channel feedback.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noGrp="1"/>
          </p:cNvSpPr>
          <p:nvPr/>
        </p:nvSpPr>
        <p:spPr>
          <a:xfrm>
            <a:off x="825500" y="3810000"/>
            <a:ext cx="10541000" cy="1625600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  <a:defRPr sz="172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60" b="0" dirty="0">
                <a:solidFill>
                  <a:srgbClr val="000000"/>
                </a:solidFill>
                <a:latin typeface="Cambria Math"/>
                <a:ea typeface="Cambria Math"/>
              </a:rPr>
              <a:t>3.  Hybrid RZF construction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  <a:defRPr sz="172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60" b="0" dirty="0">
                <a:solidFill>
                  <a:srgbClr val="000000"/>
                </a:solidFill>
                <a:latin typeface="Cambria Math"/>
                <a:ea typeface="Cambria Math"/>
              </a:rPr>
              <a:t>Fᴿᶠ_b[n] = [</a:t>
            </a:r>
            <a:r>
              <a:rPr sz="1360" b="0" dirty="0" err="1">
                <a:solidFill>
                  <a:srgbClr val="000000"/>
                </a:solidFill>
                <a:latin typeface="Cambria Math"/>
                <a:ea typeface="Cambria Math"/>
              </a:rPr>
              <a:t>fᶜˢ</a:t>
            </a:r>
            <a:r>
              <a:rPr sz="1360" b="0" dirty="0">
                <a:solidFill>
                  <a:srgbClr val="000000"/>
                </a:solidFill>
                <a:latin typeface="Cambria Math"/>
                <a:ea typeface="Cambria Math"/>
              </a:rPr>
              <a:t>ᴵ_{</a:t>
            </a:r>
            <a:r>
              <a:rPr sz="1360" b="0" dirty="0" err="1">
                <a:solidFill>
                  <a:srgbClr val="000000"/>
                </a:solidFill>
                <a:latin typeface="Cambria Math"/>
                <a:ea typeface="Cambria Math"/>
              </a:rPr>
              <a:t>b,k</a:t>
            </a:r>
            <a:r>
              <a:rPr sz="1360" b="0" dirty="0">
                <a:solidFill>
                  <a:srgbClr val="000000"/>
                </a:solidFill>
                <a:latin typeface="Cambria Math"/>
                <a:ea typeface="Cambria Math"/>
              </a:rPr>
              <a:t>*_{</a:t>
            </a:r>
            <a:r>
              <a:rPr sz="1360" b="0" dirty="0" err="1">
                <a:solidFill>
                  <a:srgbClr val="000000"/>
                </a:solidFill>
                <a:latin typeface="Cambria Math"/>
                <a:ea typeface="Cambria Math"/>
              </a:rPr>
              <a:t>b,u₁,n</a:t>
            </a:r>
            <a:r>
              <a:rPr sz="1360" b="0" dirty="0">
                <a:solidFill>
                  <a:srgbClr val="000000"/>
                </a:solidFill>
                <a:latin typeface="Cambria Math"/>
                <a:ea typeface="Cambria Math"/>
              </a:rPr>
              <a:t>}}, …, </a:t>
            </a:r>
            <a:r>
              <a:rPr sz="1360" b="0" dirty="0" err="1">
                <a:solidFill>
                  <a:srgbClr val="000000"/>
                </a:solidFill>
                <a:latin typeface="Cambria Math"/>
                <a:ea typeface="Cambria Math"/>
              </a:rPr>
              <a:t>fᶜˢ</a:t>
            </a:r>
            <a:r>
              <a:rPr sz="1360" b="0" dirty="0">
                <a:solidFill>
                  <a:srgbClr val="000000"/>
                </a:solidFill>
                <a:latin typeface="Cambria Math"/>
                <a:ea typeface="Cambria Math"/>
              </a:rPr>
              <a:t>ᴵ_{</a:t>
            </a:r>
            <a:r>
              <a:rPr sz="1360" b="0" dirty="0" err="1">
                <a:solidFill>
                  <a:srgbClr val="000000"/>
                </a:solidFill>
                <a:latin typeface="Cambria Math"/>
                <a:ea typeface="Cambria Math"/>
              </a:rPr>
              <a:t>b,k</a:t>
            </a:r>
            <a:r>
              <a:rPr sz="1360" b="0" dirty="0">
                <a:solidFill>
                  <a:srgbClr val="000000"/>
                </a:solidFill>
                <a:latin typeface="Cambria Math"/>
                <a:ea typeface="Cambria Math"/>
              </a:rPr>
              <a:t>*_{</a:t>
            </a:r>
            <a:r>
              <a:rPr sz="1360" b="0" dirty="0" err="1">
                <a:solidFill>
                  <a:srgbClr val="000000"/>
                </a:solidFill>
                <a:latin typeface="Cambria Math"/>
                <a:ea typeface="Cambria Math"/>
              </a:rPr>
              <a:t>b,u</a:t>
            </a:r>
            <a:r>
              <a:rPr sz="1360" b="0" dirty="0">
                <a:solidFill>
                  <a:srgbClr val="000000"/>
                </a:solidFill>
                <a:latin typeface="Cambria Math"/>
                <a:ea typeface="Cambria Math"/>
              </a:rPr>
              <a:t>|𝒰_b[n]|,n}}]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  <a:defRPr sz="172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60" b="0" dirty="0">
                <a:solidFill>
                  <a:srgbClr val="000000"/>
                </a:solidFill>
                <a:latin typeface="Cambria Math"/>
                <a:ea typeface="Cambria Math"/>
              </a:rPr>
              <a:t>Vᴿᶻᶠ_b[n] = Ĥᵉᶠᶠᴴ_b[n](Ĥᵉᶠᶠ_b[n] Ĥᵉᶠᶠᴴ_b[n] + </a:t>
            </a:r>
            <a:r>
              <a:rPr sz="1360" b="0" dirty="0" err="1">
                <a:solidFill>
                  <a:srgbClr val="000000"/>
                </a:solidFill>
                <a:latin typeface="Cambria Math"/>
                <a:ea typeface="Cambria Math"/>
              </a:rPr>
              <a:t>λ_b</a:t>
            </a:r>
            <a:r>
              <a:rPr sz="1360" b="0" dirty="0">
                <a:solidFill>
                  <a:srgbClr val="000000"/>
                </a:solidFill>
                <a:latin typeface="Cambria Math"/>
                <a:ea typeface="Cambria Math"/>
              </a:rPr>
              <a:t> I)⁻¹D_b[n]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  <a:defRPr sz="172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60" b="0" dirty="0">
                <a:solidFill>
                  <a:srgbClr val="000000"/>
                </a:solidFill>
                <a:latin typeface="Cambria Math"/>
                <a:ea typeface="Cambria Math"/>
              </a:rPr>
              <a:t>Wᴿᶻᶠ_b[n] = Fᴿᶠ_b[n]Vᴿᶻᶠ_b[n]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3FBFACC-3F05-25DE-A0A3-63BDE6511845}"/>
              </a:ext>
            </a:extLst>
          </p:cNvPr>
          <p:cNvSpPr>
            <a:spLocks noGrp="1"/>
          </p:cNvSpPr>
          <p:nvPr/>
        </p:nvSpPr>
        <p:spPr>
          <a:xfrm>
            <a:off x="825500" y="1727200"/>
            <a:ext cx="10541000" cy="2603500"/>
          </a:xfrm>
          <a:prstGeom prst="rect">
            <a:avLst/>
          </a:prstGeom>
          <a:noFill/>
          <a:ln>
            <a:noFill/>
          </a:ln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  <a:defRPr sz="18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0" b="0" dirty="0">
                <a:solidFill>
                  <a:srgbClr val="000000"/>
                </a:solidFill>
                <a:latin typeface="Cambria Math"/>
                <a:ea typeface="Cambria Math"/>
              </a:rPr>
              <a:t>1.  Multi-user downlink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  <a:defRPr sz="18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0" b="0" dirty="0">
                <a:solidFill>
                  <a:srgbClr val="000000"/>
                </a:solidFill>
                <a:latin typeface="Cambria Math"/>
                <a:ea typeface="Cambria Math"/>
              </a:rPr>
              <a:t>x_{</a:t>
            </a:r>
            <a:r>
              <a:rPr sz="1420" b="0" dirty="0" err="1">
                <a:solidFill>
                  <a:srgbClr val="000000"/>
                </a:solidFill>
                <a:latin typeface="Cambria Math"/>
                <a:ea typeface="Cambria Math"/>
              </a:rPr>
              <a:t>b,n</a:t>
            </a:r>
            <a:r>
              <a:rPr sz="1420" b="0" dirty="0">
                <a:solidFill>
                  <a:srgbClr val="000000"/>
                </a:solidFill>
                <a:latin typeface="Cambria Math"/>
                <a:ea typeface="Cambria Math"/>
              </a:rPr>
              <a:t>} = Σ_{u∈𝒰_b[n]} √P_{</a:t>
            </a:r>
            <a:r>
              <a:rPr sz="1420" b="0" dirty="0" err="1">
                <a:solidFill>
                  <a:srgbClr val="000000"/>
                </a:solidFill>
                <a:latin typeface="Cambria Math"/>
                <a:ea typeface="Cambria Math"/>
              </a:rPr>
              <a:t>b,u,n</a:t>
            </a:r>
            <a:r>
              <a:rPr sz="1420" b="0" dirty="0">
                <a:solidFill>
                  <a:srgbClr val="000000"/>
                </a:solidFill>
                <a:latin typeface="Cambria Math"/>
                <a:ea typeface="Cambria Math"/>
              </a:rPr>
              <a:t>} w_{</a:t>
            </a:r>
            <a:r>
              <a:rPr sz="1420" b="0" dirty="0" err="1">
                <a:solidFill>
                  <a:srgbClr val="000000"/>
                </a:solidFill>
                <a:latin typeface="Cambria Math"/>
                <a:ea typeface="Cambria Math"/>
              </a:rPr>
              <a:t>b,u,n</a:t>
            </a:r>
            <a:r>
              <a:rPr sz="1420" b="0" dirty="0">
                <a:solidFill>
                  <a:srgbClr val="000000"/>
                </a:solidFill>
                <a:latin typeface="Cambria Math"/>
                <a:ea typeface="Cambria Math"/>
              </a:rPr>
              <a:t>} s_{</a:t>
            </a:r>
            <a:r>
              <a:rPr sz="1420" b="0" dirty="0" err="1">
                <a:solidFill>
                  <a:srgbClr val="000000"/>
                </a:solidFill>
                <a:latin typeface="Cambria Math"/>
                <a:ea typeface="Cambria Math"/>
              </a:rPr>
              <a:t>b,u,n</a:t>
            </a:r>
            <a:r>
              <a:rPr sz="1420" b="0" dirty="0">
                <a:solidFill>
                  <a:srgbClr val="000000"/>
                </a:solidFill>
                <a:latin typeface="Cambria Math"/>
                <a:ea typeface="Cambria Math"/>
              </a:rPr>
              <a:t>}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  <a:defRPr sz="18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 sz="1420" b="0" dirty="0">
              <a:solidFill>
                <a:srgbClr val="000000"/>
              </a:solidFill>
              <a:latin typeface="Cambria Math"/>
              <a:ea typeface="Cambria Math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  <a:defRPr sz="18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0" b="0" dirty="0">
                <a:solidFill>
                  <a:srgbClr val="000000"/>
                </a:solidFill>
                <a:latin typeface="Cambria Math"/>
                <a:ea typeface="Cambria Math"/>
              </a:rPr>
              <a:t>2.  CSI-RS scan over a candidate set   |𝒞_{</a:t>
            </a:r>
            <a:r>
              <a:rPr sz="1420" b="0" dirty="0" err="1">
                <a:solidFill>
                  <a:srgbClr val="000000"/>
                </a:solidFill>
                <a:latin typeface="Cambria Math"/>
                <a:ea typeface="Cambria Math"/>
              </a:rPr>
              <a:t>b,u,n</a:t>
            </a:r>
            <a:r>
              <a:rPr sz="1420" b="0" dirty="0">
                <a:solidFill>
                  <a:srgbClr val="000000"/>
                </a:solidFill>
                <a:latin typeface="Cambria Math"/>
                <a:ea typeface="Cambria Math"/>
              </a:rPr>
              <a:t>}| = K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  <a:defRPr sz="18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0" b="0" dirty="0" err="1">
                <a:solidFill>
                  <a:srgbClr val="000000"/>
                </a:solidFill>
                <a:latin typeface="Cambria Math"/>
                <a:ea typeface="Cambria Math"/>
              </a:rPr>
              <a:t>yᶜˢ</a:t>
            </a:r>
            <a:r>
              <a:rPr sz="1420" b="0" dirty="0">
                <a:solidFill>
                  <a:srgbClr val="000000"/>
                </a:solidFill>
                <a:latin typeface="Cambria Math"/>
                <a:ea typeface="Cambria Math"/>
              </a:rPr>
              <a:t>ᴵ_{</a:t>
            </a:r>
            <a:r>
              <a:rPr sz="1420" b="0" dirty="0" err="1">
                <a:solidFill>
                  <a:srgbClr val="000000"/>
                </a:solidFill>
                <a:latin typeface="Cambria Math"/>
                <a:ea typeface="Cambria Math"/>
              </a:rPr>
              <a:t>b,u,k,n</a:t>
            </a:r>
            <a:r>
              <a:rPr sz="1420" b="0" dirty="0">
                <a:solidFill>
                  <a:srgbClr val="000000"/>
                </a:solidFill>
                <a:latin typeface="Cambria Math"/>
                <a:ea typeface="Cambria Math"/>
              </a:rPr>
              <a:t>}[l] = √</a:t>
            </a:r>
            <a:r>
              <a:rPr sz="1420" b="0" dirty="0" err="1">
                <a:solidFill>
                  <a:srgbClr val="000000"/>
                </a:solidFill>
                <a:latin typeface="Cambria Math"/>
                <a:ea typeface="Cambria Math"/>
              </a:rPr>
              <a:t>Pᶜˢ</a:t>
            </a:r>
            <a:r>
              <a:rPr sz="1420" b="0" dirty="0">
                <a:solidFill>
                  <a:srgbClr val="000000"/>
                </a:solidFill>
                <a:latin typeface="Cambria Math"/>
                <a:ea typeface="Cambria Math"/>
              </a:rPr>
              <a:t>ᴵ_{</a:t>
            </a:r>
            <a:r>
              <a:rPr sz="1420" b="0" dirty="0" err="1">
                <a:solidFill>
                  <a:srgbClr val="000000"/>
                </a:solidFill>
                <a:latin typeface="Cambria Math"/>
                <a:ea typeface="Cambria Math"/>
              </a:rPr>
              <a:t>b,k,n</a:t>
            </a:r>
            <a:r>
              <a:rPr sz="1420" b="0" dirty="0">
                <a:solidFill>
                  <a:srgbClr val="000000"/>
                </a:solidFill>
                <a:latin typeface="Cambria Math"/>
                <a:ea typeface="Cambria Math"/>
              </a:rPr>
              <a:t>} (hᴴ_{</a:t>
            </a:r>
            <a:r>
              <a:rPr sz="1420" b="0" dirty="0" err="1">
                <a:solidFill>
                  <a:srgbClr val="000000"/>
                </a:solidFill>
                <a:latin typeface="Cambria Math"/>
                <a:ea typeface="Cambria Math"/>
              </a:rPr>
              <a:t>b,u,n</a:t>
            </a:r>
            <a:r>
              <a:rPr sz="1420" b="0" dirty="0">
                <a:solidFill>
                  <a:srgbClr val="000000"/>
                </a:solidFill>
                <a:latin typeface="Cambria Math"/>
                <a:ea typeface="Cambria Math"/>
              </a:rPr>
              <a:t>}</a:t>
            </a:r>
            <a:r>
              <a:rPr sz="1420" b="0" dirty="0" err="1">
                <a:solidFill>
                  <a:srgbClr val="000000"/>
                </a:solidFill>
                <a:latin typeface="Cambria Math"/>
                <a:ea typeface="Cambria Math"/>
              </a:rPr>
              <a:t>fᶜˢ</a:t>
            </a:r>
            <a:r>
              <a:rPr sz="1420" b="0" dirty="0">
                <a:solidFill>
                  <a:srgbClr val="000000"/>
                </a:solidFill>
                <a:latin typeface="Cambria Math"/>
                <a:ea typeface="Cambria Math"/>
              </a:rPr>
              <a:t>ᴵ_{</a:t>
            </a:r>
            <a:r>
              <a:rPr sz="1420" b="0" dirty="0" err="1">
                <a:solidFill>
                  <a:srgbClr val="000000"/>
                </a:solidFill>
                <a:latin typeface="Cambria Math"/>
                <a:ea typeface="Cambria Math"/>
              </a:rPr>
              <a:t>b,k</a:t>
            </a:r>
            <a:r>
              <a:rPr sz="1420" b="0" dirty="0">
                <a:solidFill>
                  <a:srgbClr val="000000"/>
                </a:solidFill>
                <a:latin typeface="Cambria Math"/>
                <a:ea typeface="Cambria Math"/>
              </a:rPr>
              <a:t>}) c_{</a:t>
            </a:r>
            <a:r>
              <a:rPr sz="1420" b="0" dirty="0" err="1">
                <a:solidFill>
                  <a:srgbClr val="000000"/>
                </a:solidFill>
                <a:latin typeface="Cambria Math"/>
                <a:ea typeface="Cambria Math"/>
              </a:rPr>
              <a:t>b,k,n</a:t>
            </a:r>
            <a:r>
              <a:rPr sz="1420" b="0" dirty="0">
                <a:solidFill>
                  <a:srgbClr val="000000"/>
                </a:solidFill>
                <a:latin typeface="Cambria Math"/>
                <a:ea typeface="Cambria Math"/>
              </a:rPr>
              <a:t>}[l] + </a:t>
            </a:r>
            <a:r>
              <a:rPr sz="1420" b="0" dirty="0" err="1">
                <a:solidFill>
                  <a:srgbClr val="000000"/>
                </a:solidFill>
                <a:latin typeface="Cambria Math"/>
                <a:ea typeface="Cambria Math"/>
              </a:rPr>
              <a:t>zᶜˢ</a:t>
            </a:r>
            <a:r>
              <a:rPr sz="1420" b="0" dirty="0">
                <a:solidFill>
                  <a:srgbClr val="000000"/>
                </a:solidFill>
                <a:latin typeface="Cambria Math"/>
                <a:ea typeface="Cambria Math"/>
              </a:rPr>
              <a:t>ᴵ_{</a:t>
            </a:r>
            <a:r>
              <a:rPr sz="1420" b="0" dirty="0" err="1">
                <a:solidFill>
                  <a:srgbClr val="000000"/>
                </a:solidFill>
                <a:latin typeface="Cambria Math"/>
                <a:ea typeface="Cambria Math"/>
              </a:rPr>
              <a:t>b,u,k,n</a:t>
            </a:r>
            <a:r>
              <a:rPr sz="1420" b="0" dirty="0">
                <a:solidFill>
                  <a:srgbClr val="000000"/>
                </a:solidFill>
                <a:latin typeface="Cambria Math"/>
                <a:ea typeface="Cambria Math"/>
              </a:rPr>
              <a:t>}[l] ,     hᵉᵠ_{</a:t>
            </a:r>
            <a:r>
              <a:rPr sz="1420" b="0" dirty="0" err="1">
                <a:solidFill>
                  <a:srgbClr val="000000"/>
                </a:solidFill>
                <a:latin typeface="Cambria Math"/>
                <a:ea typeface="Cambria Math"/>
              </a:rPr>
              <a:t>b,u,k,n</a:t>
            </a:r>
            <a:r>
              <a:rPr sz="1420" b="0" dirty="0">
                <a:solidFill>
                  <a:srgbClr val="000000"/>
                </a:solidFill>
                <a:latin typeface="Cambria Math"/>
                <a:ea typeface="Cambria Math"/>
              </a:rPr>
              <a:t>} = hᴴ_{</a:t>
            </a:r>
            <a:r>
              <a:rPr sz="1420" b="0" dirty="0" err="1">
                <a:solidFill>
                  <a:srgbClr val="000000"/>
                </a:solidFill>
                <a:latin typeface="Cambria Math"/>
                <a:ea typeface="Cambria Math"/>
              </a:rPr>
              <a:t>b,u,n</a:t>
            </a:r>
            <a:r>
              <a:rPr sz="1420" b="0" dirty="0">
                <a:solidFill>
                  <a:srgbClr val="000000"/>
                </a:solidFill>
                <a:latin typeface="Cambria Math"/>
                <a:ea typeface="Cambria Math"/>
              </a:rPr>
              <a:t>}</a:t>
            </a:r>
            <a:r>
              <a:rPr sz="1420" b="0" dirty="0" err="1">
                <a:solidFill>
                  <a:srgbClr val="000000"/>
                </a:solidFill>
                <a:latin typeface="Cambria Math"/>
                <a:ea typeface="Cambria Math"/>
              </a:rPr>
              <a:t>fᶜˢ</a:t>
            </a:r>
            <a:r>
              <a:rPr sz="1420" b="0" dirty="0">
                <a:solidFill>
                  <a:srgbClr val="000000"/>
                </a:solidFill>
                <a:latin typeface="Cambria Math"/>
                <a:ea typeface="Cambria Math"/>
              </a:rPr>
              <a:t>ᴵ_{</a:t>
            </a:r>
            <a:r>
              <a:rPr sz="1420" b="0" dirty="0" err="1">
                <a:solidFill>
                  <a:srgbClr val="000000"/>
                </a:solidFill>
                <a:latin typeface="Cambria Math"/>
                <a:ea typeface="Cambria Math"/>
              </a:rPr>
              <a:t>b,k</a:t>
            </a:r>
            <a:r>
              <a:rPr sz="1420" b="0" dirty="0">
                <a:solidFill>
                  <a:srgbClr val="000000"/>
                </a:solidFill>
                <a:latin typeface="Cambria Math"/>
                <a:ea typeface="Cambria Math"/>
              </a:rPr>
              <a:t>}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  <a:defRPr sz="18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0" b="0" dirty="0">
                <a:solidFill>
                  <a:srgbClr val="000000"/>
                </a:solidFill>
                <a:latin typeface="Cambria Math"/>
                <a:ea typeface="Cambria Math"/>
              </a:rPr>
              <a:t>k*_{</a:t>
            </a:r>
            <a:r>
              <a:rPr sz="1420" b="0" dirty="0" err="1">
                <a:solidFill>
                  <a:srgbClr val="000000"/>
                </a:solidFill>
                <a:latin typeface="Cambria Math"/>
                <a:ea typeface="Cambria Math"/>
              </a:rPr>
              <a:t>b,u,n</a:t>
            </a:r>
            <a:r>
              <a:rPr sz="1420" b="0" dirty="0">
                <a:solidFill>
                  <a:srgbClr val="000000"/>
                </a:solidFill>
                <a:latin typeface="Cambria Math"/>
                <a:ea typeface="Cambria Math"/>
              </a:rPr>
              <a:t>} = </a:t>
            </a:r>
            <a:r>
              <a:rPr sz="1420" b="0" dirty="0" err="1">
                <a:solidFill>
                  <a:srgbClr val="000000"/>
                </a:solidFill>
                <a:latin typeface="Cambria Math"/>
                <a:ea typeface="Cambria Math"/>
              </a:rPr>
              <a:t>arg</a:t>
            </a:r>
            <a:r>
              <a:rPr sz="1420" b="0" dirty="0">
                <a:solidFill>
                  <a:srgbClr val="000000"/>
                </a:solidFill>
                <a:latin typeface="Cambria Math"/>
                <a:ea typeface="Cambria Math"/>
              </a:rPr>
              <a:t> max_{k∈𝒞_{</a:t>
            </a:r>
            <a:r>
              <a:rPr sz="1420" b="0" dirty="0" err="1">
                <a:solidFill>
                  <a:srgbClr val="000000"/>
                </a:solidFill>
                <a:latin typeface="Cambria Math"/>
                <a:ea typeface="Cambria Math"/>
              </a:rPr>
              <a:t>b,u,n</a:t>
            </a:r>
            <a:r>
              <a:rPr sz="1420" b="0" dirty="0">
                <a:solidFill>
                  <a:srgbClr val="000000"/>
                </a:solidFill>
                <a:latin typeface="Cambria Math"/>
                <a:ea typeface="Cambria Math"/>
              </a:rPr>
              <a:t>}} γ̂ᶜˢᴵ_{</a:t>
            </a:r>
            <a:r>
              <a:rPr sz="1420" b="0" dirty="0" err="1">
                <a:solidFill>
                  <a:srgbClr val="000000"/>
                </a:solidFill>
                <a:latin typeface="Cambria Math"/>
                <a:ea typeface="Cambria Math"/>
              </a:rPr>
              <a:t>b,u,k,n</a:t>
            </a:r>
            <a:r>
              <a:rPr sz="1420" b="0" dirty="0">
                <a:solidFill>
                  <a:srgbClr val="000000"/>
                </a:solidFill>
                <a:latin typeface="Cambria Math"/>
                <a:ea typeface="Cambria Math"/>
              </a:rPr>
              <a:t>} ,     ĥᵉᵠ_{</a:t>
            </a:r>
            <a:r>
              <a:rPr sz="1420" b="0" dirty="0" err="1">
                <a:solidFill>
                  <a:srgbClr val="000000"/>
                </a:solidFill>
                <a:latin typeface="Cambria Math"/>
                <a:ea typeface="Cambria Math"/>
              </a:rPr>
              <a:t>b,u,k</a:t>
            </a:r>
            <a:r>
              <a:rPr sz="1420" b="0" dirty="0">
                <a:solidFill>
                  <a:srgbClr val="000000"/>
                </a:solidFill>
                <a:latin typeface="Cambria Math"/>
                <a:ea typeface="Cambria Math"/>
              </a:rPr>
              <a:t>*,n} = Corr(</a:t>
            </a:r>
            <a:r>
              <a:rPr sz="1420" b="0" dirty="0" err="1">
                <a:solidFill>
                  <a:srgbClr val="000000"/>
                </a:solidFill>
                <a:latin typeface="Cambria Math"/>
                <a:ea typeface="Cambria Math"/>
              </a:rPr>
              <a:t>yᶜˢ</a:t>
            </a:r>
            <a:r>
              <a:rPr sz="1420" b="0" dirty="0">
                <a:solidFill>
                  <a:srgbClr val="000000"/>
                </a:solidFill>
                <a:latin typeface="Cambria Math"/>
                <a:ea typeface="Cambria Math"/>
              </a:rPr>
              <a:t>ᴵ_{</a:t>
            </a:r>
            <a:r>
              <a:rPr sz="1420" b="0" dirty="0" err="1">
                <a:solidFill>
                  <a:srgbClr val="000000"/>
                </a:solidFill>
                <a:latin typeface="Cambria Math"/>
                <a:ea typeface="Cambria Math"/>
              </a:rPr>
              <a:t>b,u,k</a:t>
            </a:r>
            <a:r>
              <a:rPr sz="1420" b="0" dirty="0">
                <a:solidFill>
                  <a:srgbClr val="000000"/>
                </a:solidFill>
                <a:latin typeface="Cambria Math"/>
                <a:ea typeface="Cambria Math"/>
              </a:rPr>
              <a:t>*,n}, c_{</a:t>
            </a:r>
            <a:r>
              <a:rPr sz="1420" b="0" dirty="0" err="1">
                <a:solidFill>
                  <a:srgbClr val="000000"/>
                </a:solidFill>
                <a:latin typeface="Cambria Math"/>
                <a:ea typeface="Cambria Math"/>
              </a:rPr>
              <a:t>b,k</a:t>
            </a:r>
            <a:r>
              <a:rPr sz="1420" b="0" dirty="0">
                <a:solidFill>
                  <a:srgbClr val="000000"/>
                </a:solidFill>
                <a:latin typeface="Cambria Math"/>
                <a:ea typeface="Cambria Math"/>
              </a:rPr>
              <a:t>*,n})</a:t>
            </a:r>
          </a:p>
        </p:txBody>
      </p:sp>
    </p:spTree>
    <p:extLst>
      <p:ext uri="{BB962C8B-B14F-4D97-AF65-F5344CB8AC3E}">
        <p14:creationId xmlns:p14="http://schemas.microsoft.com/office/powerpoint/2010/main" val="21824599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t>Downlink Communication Model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noGrp="1"/>
          </p:cNvSpPr>
          <p:nvPr/>
        </p:nvSpPr>
        <p:spPr>
          <a:xfrm>
            <a:off x="647700" y="1000125"/>
            <a:ext cx="10668000" cy="809625"/>
          </a:xfrm>
          <a:prstGeom prst="rect">
            <a:avLst/>
          </a:prstGeom>
          <a:noFill/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187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000000"/>
                </a:solidFill>
                <a:latin typeface="Helvetica"/>
                <a:ea typeface="Helvetica"/>
              </a:rPr>
              <a:t>The selected hybrid precoder determines both downlink quality and beam-management cost.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noGrp="1"/>
          </p:cNvSpPr>
          <p:nvPr/>
        </p:nvSpPr>
        <p:spPr>
          <a:xfrm>
            <a:off x="825500" y="4064000"/>
            <a:ext cx="10541000" cy="1587500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  <a:defRPr sz="172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20" b="0">
                <a:solidFill>
                  <a:srgbClr val="000000"/>
                </a:solidFill>
                <a:latin typeface="Cambria Math"/>
                <a:ea typeface="Cambria Math"/>
              </a:rPr>
              <a:t>3.  Beam-management resources and effective rate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  <a:defRPr sz="172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20" b="0">
                <a:solidFill>
                  <a:srgbClr val="000000"/>
                </a:solidFill>
                <a:latin typeface="Cambria Math"/>
                <a:ea typeface="Cambria Math"/>
              </a:rPr>
              <a:t>τᵗᵒᵗ_{b,n} = τˢˢᴮ_{b,n} + τᶜˢᴵ⁻ᴿˢ_{b,n} + τᶜᵗʳˡ_{b,n} + τᵈᵃᵗᵃ_{b,n}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  <a:defRPr sz="172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20" b="0">
                <a:solidFill>
                  <a:srgbClr val="000000"/>
                </a:solidFill>
                <a:latin typeface="Cambria Math"/>
                <a:ea typeface="Cambria Math"/>
              </a:rPr>
              <a:t>τᶜˢᴵ⁻ᴿˢ_{b,n} = Σ_{e∈𝓔_b[n]} ⌈K_e/M⌉δᵖʳᵒᵇᵉ ,     ηᵈᵃᵗᵃ_{b,n} = τᵈᵃᵗᵃ_{b,n}/τᵗᵒᵗ_{b,n}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  <a:defRPr sz="172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20" b="0">
                <a:solidFill>
                  <a:srgbClr val="000000"/>
                </a:solidFill>
                <a:latin typeface="Cambria Math"/>
                <a:ea typeface="Cambria Math"/>
              </a:rPr>
              <a:t>Rᵉᶠᶠ_{b,u,n} = ηᵈᵃᵗᵃ_{b,n}Rᴰᴸ_{b,u,n} = ηᵈᵃᵗᵃ_{b,n}B_bηᴰᴸ_b log₂(1 + γᴿᶻᶠ_{b,u,n})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3FBFACC-3F05-25DE-A0A3-63BDE6511845}"/>
              </a:ext>
            </a:extLst>
          </p:cNvPr>
          <p:cNvSpPr>
            <a:spLocks noGrp="1"/>
          </p:cNvSpPr>
          <p:nvPr/>
        </p:nvSpPr>
        <p:spPr>
          <a:xfrm>
            <a:off x="825500" y="1727200"/>
            <a:ext cx="10541000" cy="2628900"/>
          </a:xfrm>
          <a:prstGeom prst="rect">
            <a:avLst/>
          </a:prstGeom>
          <a:noFill/>
          <a:ln>
            <a:noFill/>
          </a:ln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  <a:defRPr sz="18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60" b="0">
                <a:solidFill>
                  <a:srgbClr val="000000"/>
                </a:solidFill>
                <a:latin typeface="Cambria Math"/>
                <a:ea typeface="Cambria Math"/>
              </a:rPr>
              <a:t>1.  Precoded received signal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  <a:defRPr sz="18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60" b="0">
                <a:solidFill>
                  <a:srgbClr val="000000"/>
                </a:solidFill>
                <a:latin typeface="Cambria Math"/>
                <a:ea typeface="Cambria Math"/>
              </a:rPr>
              <a:t>y_{b,u,n} = √P_{b,u,n} hᴴ_{b,u,n}wᴿᶻᶠ_{b,u,n}s_{b,u,n}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  <a:defRPr sz="18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60" b="0">
                <a:solidFill>
                  <a:srgbClr val="000000"/>
                </a:solidFill>
                <a:latin typeface="Cambria Math"/>
                <a:ea typeface="Cambria Math"/>
              </a:rPr>
              <a:t>                 + Σ_{v∈𝒰_b[n],v≠u} √P_{b,v,n} hᴴ_{b,u,n}wᴿᶻᶠ_{b,v,n}s_{b,v,n} + z_{b,u,n}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  <a:defRPr sz="18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 sz="1360" b="0">
              <a:solidFill>
                <a:srgbClr val="000000"/>
              </a:solidFill>
              <a:latin typeface="Cambria Math"/>
              <a:ea typeface="Cambria Math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  <a:defRPr sz="18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60" b="0">
                <a:solidFill>
                  <a:srgbClr val="000000"/>
                </a:solidFill>
                <a:latin typeface="Cambria Math"/>
                <a:ea typeface="Cambria Math"/>
              </a:rPr>
              <a:t>2.  Post-RZF SINR and achievable rate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  <a:defRPr sz="18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60" b="0">
                <a:solidFill>
                  <a:srgbClr val="000000"/>
                </a:solidFill>
                <a:latin typeface="Cambria Math"/>
                <a:ea typeface="Cambria Math"/>
              </a:rPr>
              <a:t>γᴿᶻᶠ_{b,u,n} = P_{b,u,n}|hᴴ_{b,u,n}wᴿᶻᶠ_{b,u,n}|² / [Σ_{v≠u}P_{b,v,n}|hᴴ_{b,u,n}wᴿᶻᶠ_{b,v,n}|² + σ²_{b,u,n}]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  <a:defRPr sz="18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60" b="0">
                <a:solidFill>
                  <a:srgbClr val="000000"/>
                </a:solidFill>
                <a:latin typeface="Cambria Math"/>
                <a:ea typeface="Cambria Math"/>
              </a:rPr>
              <a:t>Rᴰᴸ_{b,u,n} = B_bηᴰᴸ_b log₂(1 + γᴿᶻᶠ_{b,u,n})</a:t>
            </a:r>
          </a:p>
        </p:txBody>
      </p:sp>
    </p:spTree>
    <p:extLst>
      <p:ext uri="{BB962C8B-B14F-4D97-AF65-F5344CB8AC3E}">
        <p14:creationId xmlns:p14="http://schemas.microsoft.com/office/powerpoint/2010/main" val="21824599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t>Design Requirements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noGrp="1"/>
          </p:cNvSpPr>
          <p:nvPr/>
        </p:nvSpPr>
        <p:spPr>
          <a:xfrm>
            <a:off x="647700" y="1028700"/>
            <a:ext cx="10668000" cy="762000"/>
          </a:xfrm>
          <a:prstGeom prst="rect">
            <a:avLst/>
          </a:prstGeom>
          <a:noFill/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187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75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 sensing-assisted beam-management policy must respect three information boundaries.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noGrp="1"/>
          </p:cNvSpPr>
          <p:nvPr/>
        </p:nvSpPr>
        <p:spPr>
          <a:xfrm>
            <a:off x="2428875" y="5191125"/>
            <a:ext cx="7334250" cy="523875"/>
          </a:xfrm>
          <a:prstGeom prst="rect">
            <a:avLst/>
          </a:prstGeom>
          <a:noFill/>
          <a:ln w="19050">
            <a:solidFill>
              <a:srgbClr val="F69200"/>
            </a:solidFill>
            <a:prstDash val="solid"/>
          </a:ln>
        </p:spPr>
        <p:txBody>
          <a:bodyPr wrap="square" lIns="76200" tIns="57150" rIns="76200" bIns="57150" anchor="t">
            <a:noAutofit/>
          </a:bodyPr>
          <a:lstStyle/>
          <a:p>
            <a:pPr marL="0" indent="0" algn="ctr">
              <a:lnSpc>
                <a:spcPct val="112000"/>
              </a:lnSpc>
              <a:buNone/>
              <a:defRPr sz="165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No oracle VUE identity  ·  No direct service-beam declaration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3FBFACC-3F05-25DE-A0A3-63BDE6511845}"/>
              </a:ext>
            </a:extLst>
          </p:cNvPr>
          <p:cNvSpPr>
            <a:spLocks noGrp="1"/>
          </p:cNvSpPr>
          <p:nvPr/>
        </p:nvSpPr>
        <p:spPr>
          <a:xfrm>
            <a:off x="1000125" y="1952625"/>
            <a:ext cx="9810750" cy="3048000"/>
          </a:xfrm>
          <a:prstGeom prst="rect">
            <a:avLst/>
          </a:prstGeom>
          <a:noFill/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1  TARGET-LEVEL PREDICTION
    Predict beams for an observed physical target, not a known VUE.
2  MEASUREMENT-GROUNDED ASSOCIATION
    Establish which perception track belongs to each VUE.
3  MEASURED SERVICE-BEAM SELECTION
    Use sensing to narrow CSI-RS candidates; use measured quality to select service.</a:t>
            </a:r>
          </a:p>
        </p:txBody>
      </p:sp>
    </p:spTree>
    <p:extLst>
      <p:ext uri="{BB962C8B-B14F-4D97-AF65-F5344CB8AC3E}">
        <p14:creationId xmlns:p14="http://schemas.microsoft.com/office/powerpoint/2010/main" val="21824599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A34D1D7-74A4-E3A7-4F23-63F0B92D2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t>Proposed Framework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BF130BF-86F1-FCD0-FAC3-C2F80BAE2832}"/>
              </a:ext>
            </a:extLst>
          </p:cNvPr>
          <p:cNvSpPr>
            <a:spLocks noGrp="1"/>
          </p:cNvSpPr>
          <p:nvPr/>
        </p:nvSpPr>
        <p:spPr>
          <a:xfrm>
            <a:off x="723900" y="1428750"/>
            <a:ext cx="2857500" cy="17145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6900" b="1">
                <a:solidFill>
                  <a:srgbClr val="0F00CD"/>
                </a:solidFill>
                <a:latin typeface="Arial"/>
                <a:ea typeface="Arial"/>
                <a:cs typeface="Arial"/>
              </a:defRPr>
            </a:pPr>
            <a:r>
              <a:rPr sz="6900" b="1">
                <a:solidFill>
                  <a:srgbClr val="0F00C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FF3106F-4B77-0441-4A3A-D0CCE327E271}"/>
              </a:ext>
            </a:extLst>
          </p:cNvPr>
          <p:cNvSpPr>
            <a:spLocks noGrp="1"/>
          </p:cNvSpPr>
          <p:nvPr/>
        </p:nvSpPr>
        <p:spPr>
          <a:xfrm>
            <a:off x="762000" y="3524250"/>
            <a:ext cx="9906000" cy="1143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21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1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How does unbound sensing evidence become a VUE-specific CSI-RS decision?</a:t>
            </a:r>
          </a:p>
        </p:txBody>
      </p:sp>
    </p:spTree>
    <p:extLst>
      <p:ext uri="{BB962C8B-B14F-4D97-AF65-F5344CB8AC3E}">
        <p14:creationId xmlns:p14="http://schemas.microsoft.com/office/powerpoint/2010/main" val="22004704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A34D1D7-74A4-E3A7-4F23-63F0B92D2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t>DMSA-BM Architecture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FF3106F-4B77-0441-4A3A-D0CCE327E271}"/>
              </a:ext>
            </a:extLst>
          </p:cNvPr>
          <p:cNvSpPr>
            <a:spLocks noGrp="1"/>
          </p:cNvSpPr>
          <p:nvPr/>
        </p:nvSpPr>
        <p:spPr>
          <a:xfrm>
            <a:off x="809625" y="5286375"/>
            <a:ext cx="10572750" cy="640080"/>
          </a:xfrm>
          <a:prstGeom prst="rect">
            <a:avLst/>
          </a:prstGeom>
          <a:noFill/>
          <a:ln w="14288">
            <a:solidFill>
              <a:srgbClr val="418AB3"/>
            </a:solidFill>
            <a:prstDash val="solid"/>
          </a:ln>
        </p:spPr>
        <p:txBody>
          <a:bodyPr wrap="square" lIns="76200" tIns="57150" rIns="76200" bIns="57150" anchor="t">
            <a:noAutofit/>
          </a:bodyPr>
          <a:lstStyle/>
          <a:p>
            <a:pPr marL="0" indent="0" algn="ctr">
              <a:lnSpc>
                <a:spcPct val="112000"/>
              </a:lnSpc>
              <a:buNone/>
              <a:defRPr sz="157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75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Multimodal observations  →  detections and beam posteriors  →  physical-target tracks  →  VUE-track associations  →  CSI-RS candidates</a:t>
            </a:r>
          </a:p>
        </p:txBody>
      </p:sp>
      <p:sp>
        <p:nvSpPr>
          <p:cNvPr id="27" name="replacement-framework-arrow-1">
            <a:extLst>
              <a:ext uri="{FF2B5EF4-FFF2-40B4-BE49-F238E27FC236}">
                <a16:creationId xmlns:a16="http://schemas.microsoft.com/office/drawing/2014/main" id="{C4467F96-4529-4C0B-A20F-E02705CFC50A}"/>
              </a:ext>
            </a:extLst>
          </p:cNvPr>
          <p:cNvSpPr>
            <a:spLocks noGrp="1"/>
          </p:cNvSpPr>
          <p:nvPr/>
        </p:nvSpPr>
        <p:spPr>
          <a:xfrm>
            <a:off x="2952750" y="2952750"/>
            <a:ext cx="619125" cy="457200"/>
          </a:xfrm>
          <a:prstGeom prst="rightArrow">
            <a:avLst/>
          </a:prstGeom>
          <a:solidFill>
            <a:srgbClr val="EAF2F8"/>
          </a:solidFill>
          <a:ln w="14288">
            <a:solidFill>
              <a:srgbClr val="418AB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replacement-framework-arrow-2">
            <a:extLst>
              <a:ext uri="{FF2B5EF4-FFF2-40B4-BE49-F238E27FC236}">
                <a16:creationId xmlns:a16="http://schemas.microsoft.com/office/drawing/2014/main" id="{02F6D697-1800-4254-8800-653E028B81CE}"/>
              </a:ext>
            </a:extLst>
          </p:cNvPr>
          <p:cNvSpPr>
            <a:spLocks noGrp="1"/>
          </p:cNvSpPr>
          <p:nvPr/>
        </p:nvSpPr>
        <p:spPr>
          <a:xfrm>
            <a:off x="5715000" y="2952750"/>
            <a:ext cx="619125" cy="457200"/>
          </a:xfrm>
          <a:prstGeom prst="rightArrow">
            <a:avLst/>
          </a:prstGeom>
          <a:solidFill>
            <a:srgbClr val="F0F3E4"/>
          </a:solidFill>
          <a:ln w="14288">
            <a:solidFill>
              <a:srgbClr val="5964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replacement-framework-arrow-3">
            <a:extLst>
              <a:ext uri="{FF2B5EF4-FFF2-40B4-BE49-F238E27FC236}">
                <a16:creationId xmlns:a16="http://schemas.microsoft.com/office/drawing/2014/main" id="{FB3B3309-0AAB-4105-9A3A-C552D907B0B3}"/>
              </a:ext>
            </a:extLst>
          </p:cNvPr>
          <p:cNvSpPr>
            <a:spLocks noGrp="1"/>
          </p:cNvSpPr>
          <p:nvPr/>
        </p:nvSpPr>
        <p:spPr>
          <a:xfrm>
            <a:off x="8477250" y="2952750"/>
            <a:ext cx="619125" cy="457200"/>
          </a:xfrm>
          <a:prstGeom prst="rightArrow">
            <a:avLst/>
          </a:prstGeom>
          <a:solidFill>
            <a:srgbClr val="EAF2F8"/>
          </a:solidFill>
          <a:ln w="14288">
            <a:solidFill>
              <a:srgbClr val="418AB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replacement-framework-stage-1">
            <a:extLst>
              <a:ext uri="{FF2B5EF4-FFF2-40B4-BE49-F238E27FC236}">
                <a16:creationId xmlns:a16="http://schemas.microsoft.com/office/drawing/2014/main" id="{4B05A932-F0D0-40AA-BE81-FA190B4717C5}"/>
              </a:ext>
            </a:extLst>
          </p:cNvPr>
          <p:cNvSpPr>
            <a:spLocks noGrp="1"/>
          </p:cNvSpPr>
          <p:nvPr/>
        </p:nvSpPr>
        <p:spPr>
          <a:xfrm>
            <a:off x="619125" y="1619250"/>
            <a:ext cx="2333625" cy="2952750"/>
          </a:xfrm>
          <a:prstGeom prst="rect">
            <a:avLst/>
          </a:prstGeom>
          <a:solidFill>
            <a:srgbClr val="EAF2F8"/>
          </a:solidFill>
          <a:ln w="19050">
            <a:solidFill>
              <a:srgbClr val="418AB3"/>
            </a:solidFill>
            <a:prstDash val="solid"/>
          </a:ln>
        </p:spPr>
        <p:txBody>
          <a:bodyPr wrap="square" lIns="95250" tIns="76200" rIns="95250" bIns="7620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1  DISTRIBUTED MULTIMODAL PERCEPTION</a:t>
            </a:r>
          </a:p>
          <a:p>
            <a:endParaRPr sz="1500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Cameras + BS-local ISAC</a:t>
            </a:r>
          </a:p>
          <a:p>
            <a:endParaRPr sz="1500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Vehicle detections</a:t>
            </a: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Per-target beam posteriors</a:t>
            </a:r>
          </a:p>
        </p:txBody>
      </p:sp>
      <p:sp>
        <p:nvSpPr>
          <p:cNvPr id="31" name="replacement-framework-stage-2">
            <a:extLst>
              <a:ext uri="{FF2B5EF4-FFF2-40B4-BE49-F238E27FC236}">
                <a16:creationId xmlns:a16="http://schemas.microsoft.com/office/drawing/2014/main" id="{3D1371F3-CDBD-4FBC-B915-6F0B1BFAB09C}"/>
              </a:ext>
            </a:extLst>
          </p:cNvPr>
          <p:cNvSpPr>
            <a:spLocks noGrp="1"/>
          </p:cNvSpPr>
          <p:nvPr/>
        </p:nvSpPr>
        <p:spPr>
          <a:xfrm>
            <a:off x="3571875" y="1619250"/>
            <a:ext cx="2143125" cy="2952750"/>
          </a:xfrm>
          <a:prstGeom prst="rect">
            <a:avLst/>
          </a:prstGeom>
          <a:solidFill>
            <a:srgbClr val="FFFFFF"/>
          </a:solidFill>
          <a:ln w="19050">
            <a:solidFill>
              <a:srgbClr val="596400"/>
            </a:solidFill>
            <a:prstDash val="solid"/>
          </a:ln>
        </p:spPr>
        <p:txBody>
          <a:bodyPr wrap="square" lIns="95250" tIns="76200" rIns="95250" bIns="7620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2  IMM-BASED TRACKING</a:t>
            </a:r>
          </a:p>
          <a:p>
            <a:endParaRPr sz="1500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CV and CT motion models</a:t>
            </a:r>
          </a:p>
          <a:p>
            <a:endParaRPr sz="1500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Detection-to-track assignment</a:t>
            </a: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Physical-target continuity</a:t>
            </a:r>
          </a:p>
        </p:txBody>
      </p:sp>
      <p:sp>
        <p:nvSpPr>
          <p:cNvPr id="32" name="replacement-framework-stage-3">
            <a:extLst>
              <a:ext uri="{FF2B5EF4-FFF2-40B4-BE49-F238E27FC236}">
                <a16:creationId xmlns:a16="http://schemas.microsoft.com/office/drawing/2014/main" id="{9F1FF29B-701D-40B8-A747-D8588979E4B6}"/>
              </a:ext>
            </a:extLst>
          </p:cNvPr>
          <p:cNvSpPr>
            <a:spLocks noGrp="1"/>
          </p:cNvSpPr>
          <p:nvPr/>
        </p:nvSpPr>
        <p:spPr>
          <a:xfrm>
            <a:off x="6334125" y="1619250"/>
            <a:ext cx="2143125" cy="2952750"/>
          </a:xfrm>
          <a:prstGeom prst="rect">
            <a:avLst/>
          </a:prstGeom>
          <a:solidFill>
            <a:srgbClr val="F0F3E4"/>
          </a:solidFill>
          <a:ln w="19050">
            <a:solidFill>
              <a:srgbClr val="596400"/>
            </a:solidFill>
            <a:prstDash val="solid"/>
          </a:ln>
        </p:spPr>
        <p:txBody>
          <a:bodyPr wrap="square" lIns="95250" tIns="76200" rIns="95250" bIns="7620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3  TARGET-TO-USER ASSOCIATION</a:t>
            </a:r>
          </a:p>
          <a:p>
            <a:endParaRPr sz="1500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VUE-indexed beam measurements</a:t>
            </a:r>
          </a:p>
          <a:p>
            <a:endParaRPr sz="1500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One-to-one matching</a:t>
            </a: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Accepted or unmatched</a:t>
            </a:r>
          </a:p>
        </p:txBody>
      </p:sp>
      <p:sp>
        <p:nvSpPr>
          <p:cNvPr id="33" name="replacement-framework-stage-4">
            <a:extLst>
              <a:ext uri="{FF2B5EF4-FFF2-40B4-BE49-F238E27FC236}">
                <a16:creationId xmlns:a16="http://schemas.microsoft.com/office/drawing/2014/main" id="{605E7599-75E1-41FF-8821-8E4CAF1AD901}"/>
              </a:ext>
            </a:extLst>
          </p:cNvPr>
          <p:cNvSpPr>
            <a:spLocks noGrp="1"/>
          </p:cNvSpPr>
          <p:nvPr/>
        </p:nvSpPr>
        <p:spPr>
          <a:xfrm>
            <a:off x="9096375" y="1619250"/>
            <a:ext cx="2333625" cy="2952750"/>
          </a:xfrm>
          <a:prstGeom prst="rect">
            <a:avLst/>
          </a:prstGeom>
          <a:solidFill>
            <a:srgbClr val="EAF2F8"/>
          </a:solidFill>
          <a:ln w="19050">
            <a:solidFill>
              <a:srgbClr val="418AB3"/>
            </a:solidFill>
            <a:prstDash val="solid"/>
          </a:ln>
        </p:spPr>
        <p:txBody>
          <a:bodyPr wrap="square" lIns="95250" tIns="76200" rIns="95250" bIns="7620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4  CANDIDATE MEASUREMENT</a:t>
            </a:r>
          </a:p>
          <a:p>
            <a:endParaRPr sz="1500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Accepted + observed</a:t>
            </a: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Top-K predicted beams</a:t>
            </a:r>
          </a:p>
          <a:p>
            <a:endParaRPr sz="1500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Otherwise</a:t>
            </a: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SSB-guided refinement</a:t>
            </a:r>
          </a:p>
        </p:txBody>
      </p:sp>
    </p:spTree>
    <p:extLst>
      <p:ext uri="{BB962C8B-B14F-4D97-AF65-F5344CB8AC3E}">
        <p14:creationId xmlns:p14="http://schemas.microsoft.com/office/powerpoint/2010/main" val="22004704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t>Cross-Node Fusion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noGrp="1"/>
          </p:cNvSpPr>
          <p:nvPr/>
        </p:nvSpPr>
        <p:spPr>
          <a:xfrm>
            <a:off x="647700" y="1000125"/>
            <a:ext cx="10668000" cy="809625"/>
          </a:xfrm>
          <a:prstGeom prst="rect">
            <a:avLst/>
          </a:prstGeom>
          <a:noFill/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Cross-node attention selects complementary viewpoints at each BEV location while preserving the target-BS perspective.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noGrp="1"/>
          </p:cNvSpPr>
          <p:nvPr/>
        </p:nvSpPr>
        <p:spPr>
          <a:xfrm>
            <a:off x="1619250" y="4810125"/>
            <a:ext cx="8953500" cy="762000"/>
          </a:xfrm>
          <a:prstGeom prst="rect">
            <a:avLst/>
          </a:prstGeom>
          <a:noFill/>
          <a:ln w="19050">
            <a:solidFill>
              <a:srgbClr val="418AB3"/>
            </a:solidFill>
            <a:prstDash val="solid"/>
          </a:ln>
        </p:spPr>
        <p:txBody>
          <a:bodyPr wrap="square" lIns="76200" tIns="57150" rIns="76200" bIns="57150" anchor="t">
            <a:noAutofit/>
          </a:bodyPr>
          <a:lstStyle/>
          <a:p>
            <a:pPr marL="0" indent="0" algn="ctr">
              <a:lnSpc>
                <a:spcPct val="112000"/>
              </a:lnSpc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Target-BS-conditioned queries preserve the serving-link view; geometry-aware keys distinguish node locations; masks exclude invalid projections.</a:t>
            </a:r>
          </a:p>
        </p:txBody>
      </p:sp>
      <p:sp>
        <p:nvSpPr>
          <p:cNvPr id="26" name="replacement-node-arrow-1">
            <a:extLst>
              <a:ext uri="{FF2B5EF4-FFF2-40B4-BE49-F238E27FC236}">
                <a16:creationId xmlns:a16="http://schemas.microsoft.com/office/drawing/2014/main" id="{80E9B17C-E432-4EBE-9B1F-4FFD96F1044E}"/>
              </a:ext>
            </a:extLst>
          </p:cNvPr>
          <p:cNvSpPr>
            <a:spLocks noGrp="1"/>
          </p:cNvSpPr>
          <p:nvPr/>
        </p:nvSpPr>
        <p:spPr>
          <a:xfrm>
            <a:off x="3857625" y="2952750"/>
            <a:ext cx="1143000" cy="523875"/>
          </a:xfrm>
          <a:prstGeom prst="rightArrow">
            <a:avLst/>
          </a:prstGeom>
          <a:solidFill>
            <a:srgbClr val="EAF2F8"/>
          </a:solidFill>
          <a:ln w="14288">
            <a:solidFill>
              <a:srgbClr val="418AB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replacement-node-arrow-2">
            <a:extLst>
              <a:ext uri="{FF2B5EF4-FFF2-40B4-BE49-F238E27FC236}">
                <a16:creationId xmlns:a16="http://schemas.microsoft.com/office/drawing/2014/main" id="{9F311998-5668-4CA2-8B48-6441C9DA949A}"/>
              </a:ext>
            </a:extLst>
          </p:cNvPr>
          <p:cNvSpPr>
            <a:spLocks noGrp="1"/>
          </p:cNvSpPr>
          <p:nvPr/>
        </p:nvSpPr>
        <p:spPr>
          <a:xfrm>
            <a:off x="7239000" y="2952750"/>
            <a:ext cx="1143000" cy="523875"/>
          </a:xfrm>
          <a:prstGeom prst="rightArrow">
            <a:avLst/>
          </a:prstGeom>
          <a:solidFill>
            <a:srgbClr val="F0F3E4"/>
          </a:solidFill>
          <a:ln w="14288">
            <a:solidFill>
              <a:srgbClr val="5964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replacement-node-inputs">
            <a:extLst>
              <a:ext uri="{FF2B5EF4-FFF2-40B4-BE49-F238E27FC236}">
                <a16:creationId xmlns:a16="http://schemas.microsoft.com/office/drawing/2014/main" id="{069698C8-D894-4E13-A98A-572C3E6FC4DA}"/>
              </a:ext>
            </a:extLst>
          </p:cNvPr>
          <p:cNvSpPr>
            <a:spLocks noGrp="1"/>
          </p:cNvSpPr>
          <p:nvPr/>
        </p:nvSpPr>
        <p:spPr>
          <a:xfrm>
            <a:off x="904875" y="2143125"/>
            <a:ext cx="2857500" cy="2286000"/>
          </a:xfrm>
          <a:prstGeom prst="rect">
            <a:avLst/>
          </a:prstGeom>
          <a:solidFill>
            <a:srgbClr val="EAF2F8"/>
          </a:solidFill>
          <a:ln w="19050">
            <a:solidFill>
              <a:srgbClr val="418AB3"/>
            </a:solidFill>
            <a:prstDash val="solid"/>
          </a:ln>
        </p:spPr>
        <p:txBody>
          <a:bodyPr wrap="square" lIns="95250" tIns="76200" rIns="95250" bIns="7620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Target-BS BEV</a:t>
            </a:r>
          </a:p>
          <a:p>
            <a:pPr algn="ctr">
              <a:lnSpc>
                <a:spcPct val="108000"/>
              </a:lnSpc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Node 1 BEV</a:t>
            </a:r>
          </a:p>
          <a:p>
            <a:pPr algn="ctr">
              <a:lnSpc>
                <a:spcPct val="108000"/>
              </a:lnSpc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Node 2 BEV</a:t>
            </a:r>
          </a:p>
          <a:p>
            <a:pPr algn="ctr">
              <a:lnSpc>
                <a:spcPct val="108000"/>
              </a:lnSpc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···</a:t>
            </a:r>
          </a:p>
          <a:p>
            <a:pPr algn="ctr">
              <a:lnSpc>
                <a:spcPct val="108000"/>
              </a:lnSpc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Validity masks</a:t>
            </a:r>
          </a:p>
        </p:txBody>
      </p:sp>
      <p:sp>
        <p:nvSpPr>
          <p:cNvPr id="29" name="replacement-node-attention">
            <a:extLst>
              <a:ext uri="{FF2B5EF4-FFF2-40B4-BE49-F238E27FC236}">
                <a16:creationId xmlns:a16="http://schemas.microsoft.com/office/drawing/2014/main" id="{32FAD952-B9DE-44BB-95D2-DCCF787476AA}"/>
              </a:ext>
            </a:extLst>
          </p:cNvPr>
          <p:cNvSpPr>
            <a:spLocks noGrp="1"/>
          </p:cNvSpPr>
          <p:nvPr/>
        </p:nvSpPr>
        <p:spPr>
          <a:xfrm>
            <a:off x="4953000" y="2143125"/>
            <a:ext cx="285750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6400"/>
            </a:solidFill>
            <a:prstDash val="solid"/>
          </a:ln>
        </p:spPr>
        <p:txBody>
          <a:bodyPr wrap="square" lIns="95250" tIns="76200" rIns="95250" bIns="7620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GEOMETRY-AWARE</a:t>
            </a: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MASKED ATTENTION</a:t>
            </a:r>
          </a:p>
          <a:p>
            <a:endParaRPr sz="1500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αⱼ(x) = softmaxⱼ</a:t>
            </a: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[q(x)ᵀkⱼ(x)/√d + b(gⱼ→b)]</a:t>
            </a:r>
          </a:p>
        </p:txBody>
      </p:sp>
      <p:sp>
        <p:nvSpPr>
          <p:cNvPr id="30" name="replacement-node-output">
            <a:extLst>
              <a:ext uri="{FF2B5EF4-FFF2-40B4-BE49-F238E27FC236}">
                <a16:creationId xmlns:a16="http://schemas.microsoft.com/office/drawing/2014/main" id="{08B156C6-E082-4135-9C52-F90CB0B8C7BC}"/>
              </a:ext>
            </a:extLst>
          </p:cNvPr>
          <p:cNvSpPr>
            <a:spLocks noGrp="1"/>
          </p:cNvSpPr>
          <p:nvPr/>
        </p:nvSpPr>
        <p:spPr>
          <a:xfrm>
            <a:off x="8429625" y="2143125"/>
            <a:ext cx="2857500" cy="2286000"/>
          </a:xfrm>
          <a:prstGeom prst="rect">
            <a:avLst/>
          </a:prstGeom>
          <a:solidFill>
            <a:srgbClr val="F0F3E4"/>
          </a:solidFill>
          <a:ln w="19050">
            <a:solidFill>
              <a:srgbClr val="596400"/>
            </a:solidFill>
            <a:prstDash val="solid"/>
          </a:ln>
        </p:spPr>
        <p:txBody>
          <a:bodyPr wrap="square" lIns="95250" tIns="76200" rIns="95250" bIns="7620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Target-BS-centred</a:t>
            </a:r>
          </a:p>
          <a:p>
            <a:pPr algn="ctr">
              <a:lnSpc>
                <a:spcPct val="108000"/>
              </a:lnSpc>
              <a:buNone/>
              <a:def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distributed camera BEV</a:t>
            </a:r>
          </a:p>
          <a:p>
            <a:endParaRPr sz="1575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Neighbouring evidence dominates only where valid.</a:t>
            </a:r>
          </a:p>
        </p:txBody>
      </p:sp>
    </p:spTree>
    <p:extLst>
      <p:ext uri="{BB962C8B-B14F-4D97-AF65-F5344CB8AC3E}">
        <p14:creationId xmlns:p14="http://schemas.microsoft.com/office/powerpoint/2010/main" val="21824599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t>Multimodal Fusion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noGrp="1"/>
          </p:cNvSpPr>
          <p:nvPr/>
        </p:nvSpPr>
        <p:spPr>
          <a:xfrm>
            <a:off x="647700" y="1000125"/>
            <a:ext cx="10668000" cy="809625"/>
          </a:xfrm>
          <a:prstGeom prst="rect">
            <a:avLst/>
          </a:prstGeom>
          <a:noFill/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Gated local and global attention adapt camera–ISAC fusion to spatial and scene-wide observation conditions.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noGrp="1"/>
          </p:cNvSpPr>
          <p:nvPr/>
        </p:nvSpPr>
        <p:spPr>
          <a:xfrm>
            <a:off x="2190750" y="4857750"/>
            <a:ext cx="7810500" cy="666750"/>
          </a:xfrm>
          <a:prstGeom prst="rect">
            <a:avLst/>
          </a:prstGeom>
          <a:noFill/>
          <a:ln w="19050">
            <a:solidFill>
              <a:srgbClr val="418AB3"/>
            </a:solidFill>
            <a:prstDash val="solid"/>
          </a:ln>
        </p:spPr>
        <p:txBody>
          <a:bodyPr wrap="square" lIns="76200" tIns="57150" rIns="76200" bIns="57150" anchor="t">
            <a:noAutofit/>
          </a:bodyPr>
          <a:lstStyle/>
          <a:p>
            <a:pPr marL="0" indent="0" algn="ctr">
              <a:lnSpc>
                <a:spcPct val="112000"/>
              </a:lnSpc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The fusion weights are learned from sensing features; availability masks only exclude missing inputs.</a:t>
            </a:r>
          </a:p>
        </p:txBody>
      </p:sp>
      <p:sp>
        <p:nvSpPr>
          <p:cNvPr id="26" name="replacement-modal-arrow-1">
            <a:extLst>
              <a:ext uri="{FF2B5EF4-FFF2-40B4-BE49-F238E27FC236}">
                <a16:creationId xmlns:a16="http://schemas.microsoft.com/office/drawing/2014/main" id="{F2D30A1C-1C4B-433E-B79D-F86279C6EBC7}"/>
              </a:ext>
            </a:extLst>
          </p:cNvPr>
          <p:cNvSpPr>
            <a:spLocks noGrp="1"/>
          </p:cNvSpPr>
          <p:nvPr/>
        </p:nvSpPr>
        <p:spPr>
          <a:xfrm>
            <a:off x="3905250" y="2905125"/>
            <a:ext cx="1238250" cy="523875"/>
          </a:xfrm>
          <a:prstGeom prst="rightArrow">
            <a:avLst/>
          </a:prstGeom>
          <a:solidFill>
            <a:srgbClr val="EAF2F8"/>
          </a:solidFill>
          <a:ln w="14288">
            <a:solidFill>
              <a:srgbClr val="418AB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replacement-modal-arrow-2">
            <a:extLst>
              <a:ext uri="{FF2B5EF4-FFF2-40B4-BE49-F238E27FC236}">
                <a16:creationId xmlns:a16="http://schemas.microsoft.com/office/drawing/2014/main" id="{8E6D60DF-20E3-4978-97CD-931A58FF5DD7}"/>
              </a:ext>
            </a:extLst>
          </p:cNvPr>
          <p:cNvSpPr>
            <a:spLocks noGrp="1"/>
          </p:cNvSpPr>
          <p:nvPr/>
        </p:nvSpPr>
        <p:spPr>
          <a:xfrm>
            <a:off x="7334250" y="2905125"/>
            <a:ext cx="1238250" cy="523875"/>
          </a:xfrm>
          <a:prstGeom prst="rightArrow">
            <a:avLst/>
          </a:prstGeom>
          <a:solidFill>
            <a:srgbClr val="F0F3E4"/>
          </a:solidFill>
          <a:ln w="14288">
            <a:solidFill>
              <a:srgbClr val="5964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replacement-modal-inputs">
            <a:extLst>
              <a:ext uri="{FF2B5EF4-FFF2-40B4-BE49-F238E27FC236}">
                <a16:creationId xmlns:a16="http://schemas.microsoft.com/office/drawing/2014/main" id="{EA3A3AE2-E4E2-4E26-89FB-C1543245661B}"/>
              </a:ext>
            </a:extLst>
          </p:cNvPr>
          <p:cNvSpPr>
            <a:spLocks noGrp="1"/>
          </p:cNvSpPr>
          <p:nvPr/>
        </p:nvSpPr>
        <p:spPr>
          <a:xfrm>
            <a:off x="857250" y="2238375"/>
            <a:ext cx="2952750" cy="2047875"/>
          </a:xfrm>
          <a:prstGeom prst="rect">
            <a:avLst/>
          </a:prstGeom>
          <a:solidFill>
            <a:srgbClr val="EAF2F8"/>
          </a:solidFill>
          <a:ln w="19050">
            <a:solidFill>
              <a:srgbClr val="418AB3"/>
            </a:solidFill>
            <a:prstDash val="solid"/>
          </a:ln>
        </p:spPr>
        <p:txBody>
          <a:bodyPr wrap="square" lIns="95250" tIns="76200" rIns="95250" bIns="7620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CAMERA BEV</a:t>
            </a:r>
          </a:p>
          <a:p>
            <a:pPr algn="ctr">
              <a:lnSpc>
                <a:spcPct val="108000"/>
              </a:lnSpc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Semantics and visibility</a:t>
            </a:r>
          </a:p>
          <a:p>
            <a:endParaRPr sz="1650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ISAC BEV</a:t>
            </a:r>
          </a:p>
          <a:p>
            <a:pPr algn="ctr">
              <a:lnSpc>
                <a:spcPct val="108000"/>
              </a:lnSpc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Complementary geometry</a:t>
            </a:r>
          </a:p>
        </p:txBody>
      </p:sp>
      <p:sp>
        <p:nvSpPr>
          <p:cNvPr id="29" name="replacement-modal-gate">
            <a:extLst>
              <a:ext uri="{FF2B5EF4-FFF2-40B4-BE49-F238E27FC236}">
                <a16:creationId xmlns:a16="http://schemas.microsoft.com/office/drawing/2014/main" id="{7F518C3A-E3FB-48E9-984F-3D8787926E41}"/>
              </a:ext>
            </a:extLst>
          </p:cNvPr>
          <p:cNvSpPr>
            <a:spLocks noGrp="1"/>
          </p:cNvSpPr>
          <p:nvPr/>
        </p:nvSpPr>
        <p:spPr>
          <a:xfrm>
            <a:off x="5191125" y="2143125"/>
            <a:ext cx="2762250" cy="2238375"/>
          </a:xfrm>
          <a:prstGeom prst="rect">
            <a:avLst/>
          </a:prstGeom>
          <a:solidFill>
            <a:srgbClr val="FFFFFF"/>
          </a:solidFill>
          <a:ln w="19050">
            <a:solidFill>
              <a:srgbClr val="596400"/>
            </a:solidFill>
            <a:prstDash val="solid"/>
          </a:ln>
        </p:spPr>
        <p:txBody>
          <a:bodyPr wrap="square" lIns="95250" tIns="76200" rIns="95250" bIns="7620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GATED ATTENTION</a:t>
            </a:r>
          </a:p>
          <a:p>
            <a:endParaRPr sz="1500" b="0" dirty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βq(x) ∝ exp</a:t>
            </a: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[ℓ</a:t>
            </a:r>
            <a:r>
              <a:rPr sz="1500" b="0" dirty="0" err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local,q</a:t>
            </a:r>
            <a:r>
              <a:rPr sz="1500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(x) + ℓ</a:t>
            </a:r>
            <a:r>
              <a:rPr sz="1500" b="0" dirty="0" err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global,q</a:t>
            </a:r>
            <a:r>
              <a:rPr sz="1500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]</a:t>
            </a:r>
          </a:p>
          <a:p>
            <a:endParaRPr sz="1500" b="0" dirty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Availability mask</a:t>
            </a:r>
          </a:p>
        </p:txBody>
      </p:sp>
      <p:sp>
        <p:nvSpPr>
          <p:cNvPr id="30" name="replacement-modal-output">
            <a:extLst>
              <a:ext uri="{FF2B5EF4-FFF2-40B4-BE49-F238E27FC236}">
                <a16:creationId xmlns:a16="http://schemas.microsoft.com/office/drawing/2014/main" id="{AD8C6D02-1D2F-4108-A484-B62077215462}"/>
              </a:ext>
            </a:extLst>
          </p:cNvPr>
          <p:cNvSpPr>
            <a:spLocks noGrp="1"/>
          </p:cNvSpPr>
          <p:nvPr/>
        </p:nvSpPr>
        <p:spPr>
          <a:xfrm>
            <a:off x="8620125" y="2143125"/>
            <a:ext cx="2857500" cy="2238375"/>
          </a:xfrm>
          <a:prstGeom prst="rect">
            <a:avLst/>
          </a:prstGeom>
          <a:solidFill>
            <a:srgbClr val="F0F3E4"/>
          </a:solidFill>
          <a:ln w="19050">
            <a:solidFill>
              <a:srgbClr val="596400"/>
            </a:solidFill>
            <a:prstDash val="solid"/>
          </a:ln>
        </p:spPr>
        <p:txBody>
          <a:bodyPr wrap="square" lIns="95250" tIns="76200" rIns="95250" bIns="7620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FUSED BEV</a:t>
            </a:r>
          </a:p>
          <a:p>
            <a:endParaRPr sz="1500" b="0" dirty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Local weights respond to occlusion and sparsity.</a:t>
            </a:r>
          </a:p>
          <a:p>
            <a:endParaRPr sz="1500" b="0" dirty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Global weights respond to illumination and visibility.</a:t>
            </a:r>
          </a:p>
        </p:txBody>
      </p:sp>
    </p:spTree>
    <p:extLst>
      <p:ext uri="{BB962C8B-B14F-4D97-AF65-F5344CB8AC3E}">
        <p14:creationId xmlns:p14="http://schemas.microsoft.com/office/powerpoint/2010/main" val="21824599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t>Joint Detection and Beam Prediction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noGrp="1"/>
          </p:cNvSpPr>
          <p:nvPr/>
        </p:nvSpPr>
        <p:spPr>
          <a:xfrm>
            <a:off x="647700" y="1000125"/>
            <a:ext cx="10668000" cy="762000"/>
          </a:xfrm>
          <a:prstGeom prst="rect">
            <a:avLst/>
          </a:prstGeom>
          <a:noFill/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 shared BEV representation produces vehicle detections and a per-target posterior over 192 CSI beams.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noGrp="1"/>
          </p:cNvSpPr>
          <p:nvPr/>
        </p:nvSpPr>
        <p:spPr>
          <a:xfrm>
            <a:off x="8572500" y="1857375"/>
            <a:ext cx="2857500" cy="3476625"/>
          </a:xfrm>
          <a:prstGeom prst="rect">
            <a:avLst/>
          </a:prstGeom>
          <a:noFill/>
          <a:ln w="19050">
            <a:solidFill>
              <a:srgbClr val="418AB3"/>
            </a:solidFill>
            <a:prstDash val="solid"/>
          </a:ln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Detection output
 r̂ᵢ, attributes, confidence
Beam output
 pᵢ = softmax(logits at r̂ᵢ)
Training
Top-1 cross-entropy
Use
Full posterior retained for ranking</a:t>
            </a: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83276" y="1857375"/>
            <a:ext cx="7519555" cy="4231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4599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t>IMM-Based Physical-Target Tracking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noGrp="1"/>
          </p:cNvSpPr>
          <p:nvPr/>
        </p:nvSpPr>
        <p:spPr>
          <a:xfrm>
            <a:off x="647700" y="1000125"/>
            <a:ext cx="10668000" cy="762000"/>
          </a:xfrm>
          <a:prstGeom prst="rect">
            <a:avLst/>
          </a:prstGeom>
          <a:noFill/>
          <a:ln>
            <a:noFill/>
          </a:ln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noGrp="1"/>
          </p:cNvSpPr>
          <p:nvPr/>
        </p:nvSpPr>
        <p:spPr>
          <a:xfrm>
            <a:off x="8572500" y="1809750"/>
            <a:ext cx="2857500" cy="3619500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</a:t>
            </a:r>
          </a:p>
        </p:txBody>
      </p:sp>
      <p:pic>
        <p:nvPicPr>
          <p:cNvPr id="100048" name="图片 29"/>
          <p:cNvPicPr>
            <a:picLocks noChangeAspect="1"/>
          </p:cNvPicPr>
          <p:nvPr/>
        </p:nvPicPr>
        <p:blipFill>
          <a:blip r:embed="rId3">
            <a:alphaModFix amt="0"/>
          </a:blip>
          <a:stretch/>
        </p:blipFill>
        <p:spPr>
          <a:xfrm>
            <a:off x="1097197" y="1714500"/>
            <a:ext cx="6854356" cy="3857625"/>
          </a:xfrm>
          <a:prstGeom prst="rect">
            <a:avLst/>
          </a:prstGeom>
        </p:spPr>
      </p:pic>
      <p:sp>
        <p:nvSpPr>
          <p:cNvPr id="100031" name="s17-role">
            <a:extLst>
              <a:ext uri="{FF2B5EF4-FFF2-40B4-BE49-F238E27FC236}">
                <a16:creationId xmlns:a16="http://schemas.microsoft.com/office/drawing/2014/main" id="{22C1957E-5810-482D-90A5-8D8DEBF2C093}"/>
              </a:ext>
            </a:extLst>
          </p:cNvPr>
          <p:cNvSpPr>
            <a:spLocks noGrp="1"/>
          </p:cNvSpPr>
          <p:nvPr/>
        </p:nvSpPr>
        <p:spPr>
          <a:xfrm>
            <a:off x="685800" y="1041400"/>
            <a:ext cx="10795000" cy="50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IMM estimation maintains physical-target continuity across straight and turning motion.</a:t>
            </a:r>
          </a:p>
        </p:txBody>
      </p:sp>
      <p:sp>
        <p:nvSpPr>
          <p:cNvPr id="100032" name="s17-cv-label">
            <a:extLst>
              <a:ext uri="{FF2B5EF4-FFF2-40B4-BE49-F238E27FC236}">
                <a16:creationId xmlns:a16="http://schemas.microsoft.com/office/drawing/2014/main" id="{E0137296-2DA4-4462-BC10-17ED287D13AC}"/>
              </a:ext>
            </a:extLst>
          </p:cNvPr>
          <p:cNvSpPr>
            <a:spLocks noGrp="1"/>
          </p:cNvSpPr>
          <p:nvPr/>
        </p:nvSpPr>
        <p:spPr>
          <a:xfrm>
            <a:off x="914400" y="1625600"/>
            <a:ext cx="24130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418AB3"/>
                </a:solidFill>
                <a:latin typeface="Helvetica"/>
                <a:ea typeface="Helvetica"/>
                <a:cs typeface="Helvetica"/>
              </a:rPr>
              <a:t>CV model</a:t>
            </a:r>
          </a:p>
        </p:txBody>
      </p:sp>
      <p:sp>
        <p:nvSpPr>
          <p:cNvPr id="100033" name="s17-cv-state">
            <a:extLst>
              <a:ext uri="{FF2B5EF4-FFF2-40B4-BE49-F238E27FC236}">
                <a16:creationId xmlns:a16="http://schemas.microsoft.com/office/drawing/2014/main" id="{960EA5E9-C089-4EBD-8F99-0CF2C6ECBD54}"/>
              </a:ext>
            </a:extLst>
          </p:cNvPr>
          <p:cNvSpPr>
            <a:spLocks noGrp="1"/>
          </p:cNvSpPr>
          <p:nvPr/>
        </p:nvSpPr>
        <p:spPr>
          <a:xfrm>
            <a:off x="914400" y="1892300"/>
            <a:ext cx="4064000" cy="342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x^(CV) = [x, y, v_x, v_y]^T</a:t>
            </a:r>
          </a:p>
        </p:txBody>
      </p:sp>
      <p:sp>
        <p:nvSpPr>
          <p:cNvPr id="100034" name="s17-ct-label">
            <a:extLst>
              <a:ext uri="{FF2B5EF4-FFF2-40B4-BE49-F238E27FC236}">
                <a16:creationId xmlns:a16="http://schemas.microsoft.com/office/drawing/2014/main" id="{D93AFD7A-3303-428E-90BB-F1741877BCA5}"/>
              </a:ext>
            </a:extLst>
          </p:cNvPr>
          <p:cNvSpPr>
            <a:spLocks noGrp="1"/>
          </p:cNvSpPr>
          <p:nvPr/>
        </p:nvSpPr>
        <p:spPr>
          <a:xfrm>
            <a:off x="6959600" y="1625600"/>
            <a:ext cx="24130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596400"/>
                </a:solidFill>
                <a:latin typeface="Helvetica"/>
                <a:ea typeface="Helvetica"/>
                <a:cs typeface="Helvetica"/>
              </a:rPr>
              <a:t>CT model</a:t>
            </a:r>
          </a:p>
        </p:txBody>
      </p:sp>
      <p:sp>
        <p:nvSpPr>
          <p:cNvPr id="100035" name="s17-ct-state">
            <a:extLst>
              <a:ext uri="{FF2B5EF4-FFF2-40B4-BE49-F238E27FC236}">
                <a16:creationId xmlns:a16="http://schemas.microsoft.com/office/drawing/2014/main" id="{46C59EBC-FDF8-45A1-AB96-C5F6921E7E7E}"/>
              </a:ext>
            </a:extLst>
          </p:cNvPr>
          <p:cNvSpPr>
            <a:spLocks noGrp="1"/>
          </p:cNvSpPr>
          <p:nvPr/>
        </p:nvSpPr>
        <p:spPr>
          <a:xfrm>
            <a:off x="6959600" y="1892300"/>
            <a:ext cx="4064000" cy="342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x^(CT) = [x, y, v, ψ, ω]^T</a:t>
            </a:r>
          </a:p>
        </p:txBody>
      </p:sp>
      <p:sp>
        <p:nvSpPr>
          <p:cNvPr id="100036" name="s17-rule">
            <a:extLst>
              <a:ext uri="{FF2B5EF4-FFF2-40B4-BE49-F238E27FC236}">
                <a16:creationId xmlns:a16="http://schemas.microsoft.com/office/drawing/2014/main" id="{0A7E6580-AC04-437C-B889-21397926472A}"/>
              </a:ext>
            </a:extLst>
          </p:cNvPr>
          <p:cNvSpPr>
            <a:spLocks noGrp="1"/>
          </p:cNvSpPr>
          <p:nvPr/>
        </p:nvSpPr>
        <p:spPr>
          <a:xfrm>
            <a:off x="914400" y="2400300"/>
            <a:ext cx="10363200" cy="12700"/>
          </a:xfrm>
          <a:prstGeom prst="rect">
            <a:avLst/>
          </a:prstGeom>
          <a:solidFill>
            <a:srgbClr val="C9D6D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037" name="s17-update-label">
            <a:extLst>
              <a:ext uri="{FF2B5EF4-FFF2-40B4-BE49-F238E27FC236}">
                <a16:creationId xmlns:a16="http://schemas.microsoft.com/office/drawing/2014/main" id="{139A6EB6-A976-492C-A3FD-CDBC4408C382}"/>
              </a:ext>
            </a:extLst>
          </p:cNvPr>
          <p:cNvSpPr>
            <a:spLocks noGrp="1"/>
          </p:cNvSpPr>
          <p:nvPr/>
        </p:nvSpPr>
        <p:spPr>
          <a:xfrm>
            <a:off x="914400" y="2552700"/>
            <a:ext cx="33020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418AB3"/>
                </a:solidFill>
                <a:latin typeface="Helvetica"/>
                <a:ea typeface="Helvetica"/>
                <a:cs typeface="Helvetica"/>
              </a:rPr>
              <a:t>Model-posterior update</a:t>
            </a:r>
          </a:p>
        </p:txBody>
      </p:sp>
      <p:sp>
        <p:nvSpPr>
          <p:cNvPr id="100038" name="s17-update">
            <a:extLst>
              <a:ext uri="{FF2B5EF4-FFF2-40B4-BE49-F238E27FC236}">
                <a16:creationId xmlns:a16="http://schemas.microsoft.com/office/drawing/2014/main" id="{00A383C5-5B07-4CEF-9489-FB3F55272074}"/>
              </a:ext>
            </a:extLst>
          </p:cNvPr>
          <p:cNvSpPr>
            <a:spLocks noGrp="1"/>
          </p:cNvSpPr>
          <p:nvPr/>
        </p:nvSpPr>
        <p:spPr>
          <a:xfrm>
            <a:off x="1054100" y="2857500"/>
            <a:ext cx="10160000" cy="50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μ^(ℓ)_(r,n) = [Λ^(ℓ)_(r,i,n) μ̄^(ℓ)_(r,n)] / [Σ_(j∈{CV, CT}) Λ^(j)_(r,i,n) μ̄^(j)_(r,n)]</a:t>
            </a:r>
          </a:p>
        </p:txBody>
      </p:sp>
      <p:sp>
        <p:nvSpPr>
          <p:cNvPr id="100039" name="s17-terms">
            <a:extLst>
              <a:ext uri="{FF2B5EF4-FFF2-40B4-BE49-F238E27FC236}">
                <a16:creationId xmlns:a16="http://schemas.microsoft.com/office/drawing/2014/main" id="{E59A1FDE-80CB-4989-9277-5C22EA2997B7}"/>
              </a:ext>
            </a:extLst>
          </p:cNvPr>
          <p:cNvSpPr>
            <a:spLocks noGrp="1"/>
          </p:cNvSpPr>
          <p:nvPr/>
        </p:nvSpPr>
        <p:spPr>
          <a:xfrm>
            <a:off x="1117600" y="3429000"/>
            <a:ext cx="44450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>
                <a:solidFill>
                  <a:srgbClr val="555555"/>
                </a:solidFill>
                <a:latin typeface="Helvetica"/>
                <a:ea typeface="Helvetica"/>
                <a:cs typeface="Helvetica"/>
              </a:rPr>
              <a:t>μ̄: model probability after mixing</a:t>
            </a:r>
          </a:p>
        </p:txBody>
      </p:sp>
      <p:sp>
        <p:nvSpPr>
          <p:cNvPr id="100040" name="s17-proportional">
            <a:extLst>
              <a:ext uri="{FF2B5EF4-FFF2-40B4-BE49-F238E27FC236}">
                <a16:creationId xmlns:a16="http://schemas.microsoft.com/office/drawing/2014/main" id="{3A4667E9-8027-44C0-A3DE-AE095454FA74}"/>
              </a:ext>
            </a:extLst>
          </p:cNvPr>
          <p:cNvSpPr>
            <a:spLocks noGrp="1"/>
          </p:cNvSpPr>
          <p:nvPr/>
        </p:nvSpPr>
        <p:spPr>
          <a:xfrm>
            <a:off x="6096000" y="34036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>
                <a:solidFill>
                  <a:srgbClr val="596400"/>
                </a:solidFill>
                <a:latin typeface="Cambria Math"/>
                <a:ea typeface="Cambria Math"/>
                <a:cs typeface="Cambria Math"/>
              </a:rPr>
              <a:t>μ^(ℓ)_(r,n) ∝ Λ^(ℓ)_(r,i,n) μ̄^(ℓ)_(r,n)</a:t>
            </a:r>
          </a:p>
        </p:txBody>
      </p:sp>
      <p:pic>
        <p:nvPicPr>
          <p:cNvPr id="100059" name="s17-imm-diagra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6400" y="3733800"/>
            <a:ext cx="6299200" cy="2286000"/>
          </a:xfrm>
          <a:prstGeom prst="rect">
            <a:avLst/>
          </a:prstGeom>
        </p:spPr>
      </p:pic>
      <p:sp>
        <p:nvSpPr>
          <p:cNvPr id="100042" name="s17-caption">
            <a:extLst>
              <a:ext uri="{FF2B5EF4-FFF2-40B4-BE49-F238E27FC236}">
                <a16:creationId xmlns:a16="http://schemas.microsoft.com/office/drawing/2014/main" id="{B06B9DF6-9300-4650-A56E-D22E7CC9DE15}"/>
              </a:ext>
            </a:extLst>
          </p:cNvPr>
          <p:cNvSpPr>
            <a:spLocks noGrp="1"/>
          </p:cNvSpPr>
          <p:nvPr/>
        </p:nvSpPr>
        <p:spPr>
          <a:xfrm>
            <a:off x="1524000" y="6070600"/>
            <a:ext cx="9144000" cy="177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i="1">
                <a:solidFill>
                  <a:srgbClr val="555555"/>
                </a:solidFill>
                <a:latin typeface="Helvetica"/>
                <a:ea typeface="Helvetica"/>
                <a:cs typeface="Helvetica"/>
              </a:rPr>
              <a:t>Mix → model-conditioned filtering → likelihood reweighting → fused physical-target state</a:t>
            </a:r>
          </a:p>
        </p:txBody>
      </p:sp>
    </p:spTree>
    <p:extLst>
      <p:ext uri="{BB962C8B-B14F-4D97-AF65-F5344CB8AC3E}">
        <p14:creationId xmlns:p14="http://schemas.microsoft.com/office/powerpoint/2010/main" val="21824599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t>Measurement-Grounded Target–User Association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noGrp="1"/>
          </p:cNvSpPr>
          <p:nvPr/>
        </p:nvSpPr>
        <p:spPr>
          <a:xfrm>
            <a:off x="647700" y="1000125"/>
            <a:ext cx="10668000" cy="762000"/>
          </a:xfrm>
          <a:prstGeom prst="rect">
            <a:avLst/>
          </a:prstGeom>
          <a:noFill/>
          <a:ln>
            <a:noFill/>
          </a:ln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noGrp="1"/>
          </p:cNvSpPr>
          <p:nvPr/>
        </p:nvSpPr>
        <p:spPr>
          <a:xfrm>
            <a:off x="9096375" y="2000250"/>
            <a:ext cx="2333625" cy="3108960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1388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88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</a:t>
            </a:r>
          </a:p>
        </p:txBody>
      </p:sp>
      <p:sp>
        <p:nvSpPr>
          <p:cNvPr id="26" name="replacement-association-arrow-1">
            <a:extLst>
              <a:ext uri="{FF2B5EF4-FFF2-40B4-BE49-F238E27FC236}">
                <a16:creationId xmlns:a16="http://schemas.microsoft.com/office/drawing/2014/main" id="{735330BB-7502-4383-B147-3786EEFE64C4}"/>
              </a:ext>
            </a:extLst>
          </p:cNvPr>
          <p:cNvSpPr>
            <a:spLocks noGrp="1"/>
          </p:cNvSpPr>
          <p:nvPr/>
        </p:nvSpPr>
        <p:spPr>
          <a:xfrm>
            <a:off x="2857500" y="3095625"/>
            <a:ext cx="714375" cy="457200"/>
          </a:xfrm>
          <a:prstGeom prst="rightArrow">
            <a:avLst/>
          </a:prstGeom>
          <a:solidFill>
            <a:srgbClr val="FFFFFF">
              <a:alpha val="0"/>
            </a:srgbClr>
          </a:solidFill>
          <a:ln w="14288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replacement-association-arrow-2">
            <a:extLst>
              <a:ext uri="{FF2B5EF4-FFF2-40B4-BE49-F238E27FC236}">
                <a16:creationId xmlns:a16="http://schemas.microsoft.com/office/drawing/2014/main" id="{A343ABEE-2260-4B18-820F-39F8C8CE5414}"/>
              </a:ext>
            </a:extLst>
          </p:cNvPr>
          <p:cNvSpPr>
            <a:spLocks noGrp="1"/>
          </p:cNvSpPr>
          <p:nvPr/>
        </p:nvSpPr>
        <p:spPr>
          <a:xfrm>
            <a:off x="5905500" y="3095625"/>
            <a:ext cx="714375" cy="457200"/>
          </a:xfrm>
          <a:prstGeom prst="rightArrow">
            <a:avLst/>
          </a:prstGeom>
          <a:solidFill>
            <a:srgbClr val="FFFFFF">
              <a:alpha val="0"/>
            </a:srgbClr>
          </a:solidFill>
          <a:ln w="14288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replacement-association-measurements">
            <a:extLst>
              <a:ext uri="{FF2B5EF4-FFF2-40B4-BE49-F238E27FC236}">
                <a16:creationId xmlns:a16="http://schemas.microsoft.com/office/drawing/2014/main" id="{1CDFA73A-824D-4217-A047-B1A75EEFAA3F}"/>
              </a:ext>
            </a:extLst>
          </p:cNvPr>
          <p:cNvSpPr>
            <a:spLocks noGrp="1"/>
          </p:cNvSpPr>
          <p:nvPr/>
        </p:nvSpPr>
        <p:spPr>
          <a:xfrm>
            <a:off x="619125" y="2000250"/>
            <a:ext cx="2238375" cy="2762250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 lIns="95250" tIns="76200" rIns="95250" bIns="7620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</a:t>
            </a:r>
          </a:p>
        </p:txBody>
      </p:sp>
      <p:sp>
        <p:nvSpPr>
          <p:cNvPr id="29" name="replacement-association-cost">
            <a:extLst>
              <a:ext uri="{FF2B5EF4-FFF2-40B4-BE49-F238E27FC236}">
                <a16:creationId xmlns:a16="http://schemas.microsoft.com/office/drawing/2014/main" id="{B5CB0B6A-A2E0-4DA8-B7FF-066FD7FD688A}"/>
              </a:ext>
            </a:extLst>
          </p:cNvPr>
          <p:cNvSpPr>
            <a:spLocks noGrp="1"/>
          </p:cNvSpPr>
          <p:nvPr/>
        </p:nvSpPr>
        <p:spPr>
          <a:xfrm>
            <a:off x="3571875" y="2000250"/>
            <a:ext cx="2333625" cy="2762250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 lIns="95250" tIns="76200" rIns="95250" bIns="7620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</a:t>
            </a:r>
          </a:p>
        </p:txBody>
      </p:sp>
      <p:sp>
        <p:nvSpPr>
          <p:cNvPr id="30" name="replacement-association-result">
            <a:extLst>
              <a:ext uri="{FF2B5EF4-FFF2-40B4-BE49-F238E27FC236}">
                <a16:creationId xmlns:a16="http://schemas.microsoft.com/office/drawing/2014/main" id="{060A7524-9C61-48C3-9417-D2F39DD215B9}"/>
              </a:ext>
            </a:extLst>
          </p:cNvPr>
          <p:cNvSpPr>
            <a:spLocks noGrp="1"/>
          </p:cNvSpPr>
          <p:nvPr/>
        </p:nvSpPr>
        <p:spPr>
          <a:xfrm>
            <a:off x="6619875" y="2000250"/>
            <a:ext cx="2333625" cy="2762250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 lIns="95250" tIns="76200" rIns="95250" bIns="7620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</a:t>
            </a:r>
          </a:p>
        </p:txBody>
      </p:sp>
      <p:sp>
        <p:nvSpPr>
          <p:cNvPr id="100043" name="s18-role">
            <a:extLst>
              <a:ext uri="{FF2B5EF4-FFF2-40B4-BE49-F238E27FC236}">
                <a16:creationId xmlns:a16="http://schemas.microsoft.com/office/drawing/2014/main" id="{3309A527-1C7C-481B-BD4C-5BEACD81CC00}"/>
              </a:ext>
            </a:extLst>
          </p:cNvPr>
          <p:cNvSpPr>
            <a:spLocks noGrp="1"/>
          </p:cNvSpPr>
          <p:nvPr/>
        </p:nvSpPr>
        <p:spPr>
          <a:xfrm>
            <a:off x="685800" y="1041400"/>
            <a:ext cx="10795000" cy="406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Beam-measurement agreement links a VUE to a currently observed physical track.</a:t>
            </a:r>
          </a:p>
        </p:txBody>
      </p:sp>
      <p:sp>
        <p:nvSpPr>
          <p:cNvPr id="100044" name="s18-step1">
            <a:extLst>
              <a:ext uri="{FF2B5EF4-FFF2-40B4-BE49-F238E27FC236}">
                <a16:creationId xmlns:a16="http://schemas.microsoft.com/office/drawing/2014/main" id="{9F54253B-27A1-407A-B316-DE44EF88078A}"/>
              </a:ext>
            </a:extLst>
          </p:cNvPr>
          <p:cNvSpPr>
            <a:spLocks noGrp="1"/>
          </p:cNvSpPr>
          <p:nvPr/>
        </p:nvSpPr>
        <p:spPr>
          <a:xfrm>
            <a:off x="914400" y="1612900"/>
            <a:ext cx="82550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418AB3"/>
                </a:solidFill>
                <a:latin typeface="Helvetica"/>
                <a:ea typeface="Helvetica"/>
                <a:cs typeface="Helvetica"/>
              </a:rPr>
              <a:t>1  Compatibility from a VUE-indexed beam measurement</a:t>
            </a:r>
          </a:p>
        </p:txBody>
      </p:sp>
      <p:sp>
        <p:nvSpPr>
          <p:cNvPr id="100045" name="s18-cost">
            <a:extLst>
              <a:ext uri="{FF2B5EF4-FFF2-40B4-BE49-F238E27FC236}">
                <a16:creationId xmlns:a16="http://schemas.microsoft.com/office/drawing/2014/main" id="{DF7059B9-CD4D-4CDA-AE15-52A38B16E282}"/>
              </a:ext>
            </a:extLst>
          </p:cNvPr>
          <p:cNvSpPr>
            <a:spLocks noGrp="1"/>
          </p:cNvSpPr>
          <p:nvPr/>
        </p:nvSpPr>
        <p:spPr>
          <a:xfrm>
            <a:off x="1422400" y="1917700"/>
            <a:ext cx="9334500" cy="381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c^assoc_(u,r,n) = − log[p^obs_(r,n)(κ_(b,u,n))+ε] / log M_CSI</a:t>
            </a:r>
          </a:p>
        </p:txBody>
      </p:sp>
      <p:sp>
        <p:nvSpPr>
          <p:cNvPr id="100046" name="s18-cost-meaning">
            <a:extLst>
              <a:ext uri="{FF2B5EF4-FFF2-40B4-BE49-F238E27FC236}">
                <a16:creationId xmlns:a16="http://schemas.microsoft.com/office/drawing/2014/main" id="{B315B9B2-739E-4136-9E8C-510D6B6881D4}"/>
              </a:ext>
            </a:extLst>
          </p:cNvPr>
          <p:cNvSpPr>
            <a:spLocks noGrp="1"/>
          </p:cNvSpPr>
          <p:nvPr/>
        </p:nvSpPr>
        <p:spPr>
          <a:xfrm>
            <a:off x="1270000" y="2374900"/>
            <a:ext cx="96520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>
                <a:solidFill>
                  <a:srgbClr val="555555"/>
                </a:solidFill>
                <a:latin typeface="Helvetica"/>
                <a:ea typeface="Helvetica"/>
                <a:cs typeface="Helvetica"/>
              </a:rPr>
              <a:t>Lower cost ⇔ stronger agreement between the VUE measurement and the current track posterior.</a:t>
            </a:r>
          </a:p>
        </p:txBody>
      </p:sp>
      <p:sp>
        <p:nvSpPr>
          <p:cNvPr id="100047" name="s18-rule1">
            <a:extLst>
              <a:ext uri="{FF2B5EF4-FFF2-40B4-BE49-F238E27FC236}">
                <a16:creationId xmlns:a16="http://schemas.microsoft.com/office/drawing/2014/main" id="{5F5BD696-6D5F-445D-99AA-E1CF8BD4050F}"/>
              </a:ext>
            </a:extLst>
          </p:cNvPr>
          <p:cNvSpPr>
            <a:spLocks noGrp="1"/>
          </p:cNvSpPr>
          <p:nvPr/>
        </p:nvSpPr>
        <p:spPr>
          <a:xfrm>
            <a:off x="914400" y="2705100"/>
            <a:ext cx="10363200" cy="12700"/>
          </a:xfrm>
          <a:prstGeom prst="rect">
            <a:avLst/>
          </a:prstGeom>
          <a:solidFill>
            <a:srgbClr val="C9D6D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048" name="s18-step2">
            <a:extLst>
              <a:ext uri="{FF2B5EF4-FFF2-40B4-BE49-F238E27FC236}">
                <a16:creationId xmlns:a16="http://schemas.microsoft.com/office/drawing/2014/main" id="{0DDEA34E-E976-42F5-915C-3806AE463216}"/>
              </a:ext>
            </a:extLst>
          </p:cNvPr>
          <p:cNvSpPr>
            <a:spLocks noGrp="1"/>
          </p:cNvSpPr>
          <p:nvPr/>
        </p:nvSpPr>
        <p:spPr>
          <a:xfrm>
            <a:off x="914400" y="28702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596400"/>
                </a:solidFill>
                <a:latin typeface="Helvetica"/>
                <a:ea typeface="Helvetica"/>
                <a:cs typeface="Helvetica"/>
              </a:rPr>
              <a:t>2  Partial one-to-one assignment with an unmatched option</a:t>
            </a:r>
          </a:p>
        </p:txBody>
      </p:sp>
      <p:sp>
        <p:nvSpPr>
          <p:cNvPr id="100049" name="s18-assignment">
            <a:extLst>
              <a:ext uri="{FF2B5EF4-FFF2-40B4-BE49-F238E27FC236}">
                <a16:creationId xmlns:a16="http://schemas.microsoft.com/office/drawing/2014/main" id="{B2286DAB-4FDF-48FD-AD0C-A9FBEF674DC6}"/>
              </a:ext>
            </a:extLst>
          </p:cNvPr>
          <p:cNvSpPr>
            <a:spLocks noGrp="1"/>
          </p:cNvSpPr>
          <p:nvPr/>
        </p:nvSpPr>
        <p:spPr>
          <a:xfrm>
            <a:off x="1041400" y="3175000"/>
            <a:ext cx="10223500" cy="381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σ̂ = arg min_σ  Σ_(u∈U^evt_b[n]) c^assoc_(u,σ(u),n),   σ(u)∈R^obs_(b,n) ∪ {∅}</a:t>
            </a:r>
          </a:p>
        </p:txBody>
      </p:sp>
      <p:sp>
        <p:nvSpPr>
          <p:cNvPr id="100050" name="s18-feasibility">
            <a:extLst>
              <a:ext uri="{FF2B5EF4-FFF2-40B4-BE49-F238E27FC236}">
                <a16:creationId xmlns:a16="http://schemas.microsoft.com/office/drawing/2014/main" id="{DF0A290F-2C39-479F-BA9A-224BF43211E8}"/>
              </a:ext>
            </a:extLst>
          </p:cNvPr>
          <p:cNvSpPr>
            <a:spLocks noGrp="1"/>
          </p:cNvSpPr>
          <p:nvPr/>
        </p:nvSpPr>
        <p:spPr>
          <a:xfrm>
            <a:off x="1270000" y="3632200"/>
            <a:ext cx="96520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>
                <a:solidFill>
                  <a:srgbClr val="555555"/>
                </a:solidFill>
                <a:latin typeface="Helvetica"/>
                <a:ea typeface="Helvetica"/>
                <a:cs typeface="Helvetica"/>
              </a:rPr>
              <a:t>Feasible edges: current observation + SSB-parent consistency; real tracks are one-to-one.</a:t>
            </a:r>
          </a:p>
        </p:txBody>
      </p:sp>
      <p:sp>
        <p:nvSpPr>
          <p:cNvPr id="100051" name="s18-rule2">
            <a:extLst>
              <a:ext uri="{FF2B5EF4-FFF2-40B4-BE49-F238E27FC236}">
                <a16:creationId xmlns:a16="http://schemas.microsoft.com/office/drawing/2014/main" id="{4A4B219A-5B04-466A-B275-0C58E4156399}"/>
              </a:ext>
            </a:extLst>
          </p:cNvPr>
          <p:cNvSpPr>
            <a:spLocks noGrp="1"/>
          </p:cNvSpPr>
          <p:nvPr/>
        </p:nvSpPr>
        <p:spPr>
          <a:xfrm>
            <a:off x="914400" y="4013200"/>
            <a:ext cx="10363200" cy="12700"/>
          </a:xfrm>
          <a:prstGeom prst="rect">
            <a:avLst/>
          </a:prstGeom>
          <a:solidFill>
            <a:srgbClr val="C9D6D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052" name="s18-step3">
            <a:extLst>
              <a:ext uri="{FF2B5EF4-FFF2-40B4-BE49-F238E27FC236}">
                <a16:creationId xmlns:a16="http://schemas.microsoft.com/office/drawing/2014/main" id="{2FE27550-B5C4-4EF4-834C-DB59F8FC5BA2}"/>
              </a:ext>
            </a:extLst>
          </p:cNvPr>
          <p:cNvSpPr>
            <a:spLocks noGrp="1"/>
          </p:cNvSpPr>
          <p:nvPr/>
        </p:nvSpPr>
        <p:spPr>
          <a:xfrm>
            <a:off x="914400" y="4178300"/>
            <a:ext cx="66040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418AB3"/>
                </a:solidFill>
                <a:latin typeface="Helvetica"/>
                <a:ea typeface="Helvetica"/>
                <a:cs typeface="Helvetica"/>
              </a:rPr>
              <a:t>3  Accept only when the match is confident</a:t>
            </a:r>
          </a:p>
        </p:txBody>
      </p:sp>
      <p:sp>
        <p:nvSpPr>
          <p:cNvPr id="100053" name="s18-acceptance">
            <a:extLst>
              <a:ext uri="{FF2B5EF4-FFF2-40B4-BE49-F238E27FC236}">
                <a16:creationId xmlns:a16="http://schemas.microsoft.com/office/drawing/2014/main" id="{BEE0A4B0-6261-4DA6-9CF2-457F7E30BB72}"/>
              </a:ext>
            </a:extLst>
          </p:cNvPr>
          <p:cNvSpPr>
            <a:spLocks noGrp="1"/>
          </p:cNvSpPr>
          <p:nvPr/>
        </p:nvSpPr>
        <p:spPr>
          <a:xfrm>
            <a:off x="1562100" y="4483100"/>
            <a:ext cx="9017000" cy="381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A_(u,r,n) = 1{ c^assoc_(u,r,n) ≤ τ_assoc,   Δ_(u,r,n) ≥ τ_margin }</a:t>
            </a:r>
          </a:p>
        </p:txBody>
      </p:sp>
      <p:sp>
        <p:nvSpPr>
          <p:cNvPr id="100054" name="s18-conclusion">
            <a:extLst>
              <a:ext uri="{FF2B5EF4-FFF2-40B4-BE49-F238E27FC236}">
                <a16:creationId xmlns:a16="http://schemas.microsoft.com/office/drawing/2014/main" id="{9BA4FA03-C55C-4ED4-8F7D-24F7C1922236}"/>
              </a:ext>
            </a:extLst>
          </p:cNvPr>
          <p:cNvSpPr>
            <a:spLocks noGrp="1"/>
          </p:cNvSpPr>
          <p:nvPr/>
        </p:nvSpPr>
        <p:spPr>
          <a:xfrm>
            <a:off x="2286000" y="50800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596400"/>
                </a:solidFill>
                <a:latin typeface="Helvetica"/>
                <a:ea typeface="Helvetica"/>
                <a:cs typeface="Helvetica"/>
              </a:rPr>
              <a:t>∅ and Δ prevent forced ambiguous matching.</a:t>
            </a:r>
          </a:p>
        </p:txBody>
      </p:sp>
    </p:spTree>
    <p:extLst>
      <p:ext uri="{BB962C8B-B14F-4D97-AF65-F5344CB8AC3E}">
        <p14:creationId xmlns:p14="http://schemas.microsoft.com/office/powerpoint/2010/main" val="21824599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t>Association-Gated Beam Candidate Selection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noGrp="1"/>
          </p:cNvSpPr>
          <p:nvPr/>
        </p:nvSpPr>
        <p:spPr>
          <a:xfrm>
            <a:off x="647700" y="1000125"/>
            <a:ext cx="10668000" cy="762000"/>
          </a:xfrm>
          <a:prstGeom prst="rect">
            <a:avLst/>
          </a:prstGeom>
          <a:noFill/>
          <a:ln>
            <a:noFill/>
          </a:ln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noGrp="1"/>
          </p:cNvSpPr>
          <p:nvPr/>
        </p:nvSpPr>
        <p:spPr>
          <a:xfrm>
            <a:off x="2190750" y="5286375"/>
            <a:ext cx="7810500" cy="762000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 lIns="76200" tIns="57150" rIns="76200" bIns="57150" anchor="t">
            <a:noAutofit/>
          </a:bodyPr>
          <a:lstStyle/>
          <a:p>
            <a:pPr marL="0" indent="0" algn="ctr">
              <a:lnSpc>
                <a:spcPct val="112000"/>
              </a:lnSpc>
              <a:buNone/>
              <a:defRPr sz="165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</a:t>
            </a:r>
          </a:p>
        </p:txBody>
      </p:sp>
      <p:sp>
        <p:nvSpPr>
          <p:cNvPr id="26" name="replacement-candidate-arrow-1">
            <a:extLst>
              <a:ext uri="{FF2B5EF4-FFF2-40B4-BE49-F238E27FC236}">
                <a16:creationId xmlns:a16="http://schemas.microsoft.com/office/drawing/2014/main" id="{CBB522AA-7A51-4FA0-B1EC-52C2BF66C77A}"/>
              </a:ext>
            </a:extLst>
          </p:cNvPr>
          <p:cNvSpPr>
            <a:spLocks noGrp="1"/>
          </p:cNvSpPr>
          <p:nvPr/>
        </p:nvSpPr>
        <p:spPr>
          <a:xfrm>
            <a:off x="5429250" y="3037204"/>
            <a:ext cx="666750" cy="523876"/>
          </a:xfrm>
          <a:prstGeom prst="downArrow">
            <a:avLst/>
          </a:prstGeom>
          <a:solidFill>
            <a:srgbClr val="FFFFFF">
              <a:alpha val="0"/>
            </a:srgbClr>
          </a:solidFill>
          <a:ln w="14288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replacement-candidate-arrow-2">
            <a:extLst>
              <a:ext uri="{FF2B5EF4-FFF2-40B4-BE49-F238E27FC236}">
                <a16:creationId xmlns:a16="http://schemas.microsoft.com/office/drawing/2014/main" id="{E42FCA9E-92D4-45C8-8A6F-48C2A9AE47CD}"/>
              </a:ext>
            </a:extLst>
          </p:cNvPr>
          <p:cNvSpPr>
            <a:spLocks noGrp="1"/>
          </p:cNvSpPr>
          <p:nvPr/>
        </p:nvSpPr>
        <p:spPr>
          <a:xfrm>
            <a:off x="4286250" y="3619500"/>
            <a:ext cx="2952750" cy="523875"/>
          </a:xfrm>
          <a:prstGeom prst="leftRightArrow">
            <a:avLst/>
          </a:prstGeom>
          <a:solidFill>
            <a:srgbClr val="FFFFFF">
              <a:alpha val="0"/>
            </a:srgbClr>
          </a:solidFill>
          <a:ln w="14288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replacement-candidate-gate">
            <a:extLst>
              <a:ext uri="{FF2B5EF4-FFF2-40B4-BE49-F238E27FC236}">
                <a16:creationId xmlns:a16="http://schemas.microsoft.com/office/drawing/2014/main" id="{57B5C4DD-AACD-4962-ADF0-B021CAAA601B}"/>
              </a:ext>
            </a:extLst>
          </p:cNvPr>
          <p:cNvSpPr>
            <a:spLocks noGrp="1"/>
          </p:cNvSpPr>
          <p:nvPr/>
        </p:nvSpPr>
        <p:spPr>
          <a:xfrm>
            <a:off x="4000500" y="1809750"/>
            <a:ext cx="3524250" cy="1143000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 lIns="95250" tIns="76200" rIns="95250" bIns="7620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72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25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</a:t>
            </a:r>
          </a:p>
        </p:txBody>
      </p:sp>
      <p:sp>
        <p:nvSpPr>
          <p:cNvPr id="29" name="replacement-candidate-yes">
            <a:extLst>
              <a:ext uri="{FF2B5EF4-FFF2-40B4-BE49-F238E27FC236}">
                <a16:creationId xmlns:a16="http://schemas.microsoft.com/office/drawing/2014/main" id="{B024C894-001E-4FB1-B7A4-B3B6B3ED6C55}"/>
              </a:ext>
            </a:extLst>
          </p:cNvPr>
          <p:cNvSpPr>
            <a:spLocks noGrp="1"/>
          </p:cNvSpPr>
          <p:nvPr/>
        </p:nvSpPr>
        <p:spPr>
          <a:xfrm>
            <a:off x="1047750" y="3429000"/>
            <a:ext cx="3619500" cy="1714500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 lIns="95250" tIns="76200" rIns="95250" bIns="7620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</a:t>
            </a:r>
          </a:p>
        </p:txBody>
      </p:sp>
      <p:sp>
        <p:nvSpPr>
          <p:cNvPr id="30" name="replacement-candidate-no">
            <a:extLst>
              <a:ext uri="{FF2B5EF4-FFF2-40B4-BE49-F238E27FC236}">
                <a16:creationId xmlns:a16="http://schemas.microsoft.com/office/drawing/2014/main" id="{35DC6E83-58B0-49EF-9625-969309831F4C}"/>
              </a:ext>
            </a:extLst>
          </p:cNvPr>
          <p:cNvSpPr>
            <a:spLocks noGrp="1"/>
          </p:cNvSpPr>
          <p:nvPr/>
        </p:nvSpPr>
        <p:spPr>
          <a:xfrm>
            <a:off x="7524750" y="3429000"/>
            <a:ext cx="3619500" cy="1714500"/>
          </a:xfrm>
          <a:prstGeom prst="rect">
            <a:avLst/>
          </a:prstGeom>
          <a:noFill/>
          <a:ln w="19050">
            <a:noFill/>
            <a:prstDash val="solid"/>
          </a:ln>
        </p:spPr>
        <p:txBody>
          <a:bodyPr wrap="square" lIns="95250" tIns="76200" rIns="95250" bIns="7620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</a:t>
            </a:r>
          </a:p>
        </p:txBody>
      </p:sp>
      <p:sp>
        <p:nvSpPr>
          <p:cNvPr id="100055" name="s19-role">
            <a:extLst>
              <a:ext uri="{FF2B5EF4-FFF2-40B4-BE49-F238E27FC236}">
                <a16:creationId xmlns:a16="http://schemas.microsoft.com/office/drawing/2014/main" id="{0F59127A-2A27-4EB7-8F12-4BBEA0FF066B}"/>
              </a:ext>
            </a:extLst>
          </p:cNvPr>
          <p:cNvSpPr>
            <a:spLocks noGrp="1"/>
          </p:cNvSpPr>
          <p:nvPr/>
        </p:nvSpPr>
        <p:spPr>
          <a:xfrm>
            <a:off x="685800" y="1041400"/>
            <a:ext cx="10795000" cy="50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 sensing posterior reduces CSI-RS scanning only when the VUE–track mapping is accepted and current.</a:t>
            </a:r>
          </a:p>
        </p:txBody>
      </p:sp>
      <p:sp>
        <p:nvSpPr>
          <p:cNvPr id="100056" name="s19-step1">
            <a:extLst>
              <a:ext uri="{FF2B5EF4-FFF2-40B4-BE49-F238E27FC236}">
                <a16:creationId xmlns:a16="http://schemas.microsoft.com/office/drawing/2014/main" id="{D9FB3A58-1E51-49F8-99AF-0B67984C634D}"/>
              </a:ext>
            </a:extLst>
          </p:cNvPr>
          <p:cNvSpPr>
            <a:spLocks noGrp="1"/>
          </p:cNvSpPr>
          <p:nvPr/>
        </p:nvSpPr>
        <p:spPr>
          <a:xfrm>
            <a:off x="914400" y="1625600"/>
            <a:ext cx="35560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418AB3"/>
                </a:solidFill>
                <a:latin typeface="Helvetica"/>
                <a:ea typeface="Helvetica"/>
                <a:cs typeface="Helvetica"/>
              </a:rPr>
              <a:t>1  Candidate-use gate</a:t>
            </a:r>
          </a:p>
        </p:txBody>
      </p:sp>
      <p:sp>
        <p:nvSpPr>
          <p:cNvPr id="100057" name="s19-gate1">
            <a:extLst>
              <a:ext uri="{FF2B5EF4-FFF2-40B4-BE49-F238E27FC236}">
                <a16:creationId xmlns:a16="http://schemas.microsoft.com/office/drawing/2014/main" id="{CDB6C7E5-06F1-434C-9434-B308D93C17AF}"/>
              </a:ext>
            </a:extLst>
          </p:cNvPr>
          <p:cNvSpPr>
            <a:spLocks noGrp="1"/>
          </p:cNvSpPr>
          <p:nvPr/>
        </p:nvSpPr>
        <p:spPr>
          <a:xfrm>
            <a:off x="1968500" y="1955800"/>
            <a:ext cx="8255000" cy="304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G_(u,n) = A_(u,r,n),   if π_(b,n)(u) = r ∈ R^obs_(b,n)</a:t>
            </a:r>
          </a:p>
        </p:txBody>
      </p:sp>
      <p:sp>
        <p:nvSpPr>
          <p:cNvPr id="100058" name="s19-gate2">
            <a:extLst>
              <a:ext uri="{FF2B5EF4-FFF2-40B4-BE49-F238E27FC236}">
                <a16:creationId xmlns:a16="http://schemas.microsoft.com/office/drawing/2014/main" id="{60A2C393-CC91-4480-8CEF-34392C322C9A}"/>
              </a:ext>
            </a:extLst>
          </p:cNvPr>
          <p:cNvSpPr>
            <a:spLocks noGrp="1"/>
          </p:cNvSpPr>
          <p:nvPr/>
        </p:nvSpPr>
        <p:spPr>
          <a:xfrm>
            <a:off x="3619500" y="2260600"/>
            <a:ext cx="4953000" cy="279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G_(u,n) = 0,              otherwise</a:t>
            </a:r>
          </a:p>
        </p:txBody>
      </p:sp>
      <p:sp>
        <p:nvSpPr>
          <p:cNvPr id="100059" name="s19-gate-meaning">
            <a:extLst>
              <a:ext uri="{FF2B5EF4-FFF2-40B4-BE49-F238E27FC236}">
                <a16:creationId xmlns:a16="http://schemas.microsoft.com/office/drawing/2014/main" id="{C42A0340-D291-4D47-A888-7458F72BC5B6}"/>
              </a:ext>
            </a:extLst>
          </p:cNvPr>
          <p:cNvSpPr>
            <a:spLocks noGrp="1"/>
          </p:cNvSpPr>
          <p:nvPr/>
        </p:nvSpPr>
        <p:spPr>
          <a:xfrm>
            <a:off x="1841500" y="2628900"/>
            <a:ext cx="85090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>
                <a:solidFill>
                  <a:srgbClr val="555555"/>
                </a:solidFill>
                <a:latin typeface="Helvetica"/>
                <a:ea typeface="Helvetica"/>
                <a:cs typeface="Helvetica"/>
              </a:rPr>
              <a:t>A predicted-only track gives G=0 and cannot reduce the measurement set.</a:t>
            </a:r>
          </a:p>
        </p:txBody>
      </p:sp>
      <p:sp>
        <p:nvSpPr>
          <p:cNvPr id="100060" name="s19-rule1">
            <a:extLst>
              <a:ext uri="{FF2B5EF4-FFF2-40B4-BE49-F238E27FC236}">
                <a16:creationId xmlns:a16="http://schemas.microsoft.com/office/drawing/2014/main" id="{3B1AA94A-E915-42D2-AF9A-CF755D218C7A}"/>
              </a:ext>
            </a:extLst>
          </p:cNvPr>
          <p:cNvSpPr>
            <a:spLocks noGrp="1"/>
          </p:cNvSpPr>
          <p:nvPr/>
        </p:nvSpPr>
        <p:spPr>
          <a:xfrm>
            <a:off x="914400" y="2959100"/>
            <a:ext cx="10363200" cy="12700"/>
          </a:xfrm>
          <a:prstGeom prst="rect">
            <a:avLst/>
          </a:prstGeom>
          <a:solidFill>
            <a:srgbClr val="C9D6D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061" name="s19-step2">
            <a:extLst>
              <a:ext uri="{FF2B5EF4-FFF2-40B4-BE49-F238E27FC236}">
                <a16:creationId xmlns:a16="http://schemas.microsoft.com/office/drawing/2014/main" id="{D09AED3D-3687-439B-915D-3AECD886EAD0}"/>
              </a:ext>
            </a:extLst>
          </p:cNvPr>
          <p:cNvSpPr>
            <a:spLocks noGrp="1"/>
          </p:cNvSpPr>
          <p:nvPr/>
        </p:nvSpPr>
        <p:spPr>
          <a:xfrm>
            <a:off x="914400" y="3124200"/>
            <a:ext cx="43180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596400"/>
                </a:solidFill>
                <a:latin typeface="Helvetica"/>
                <a:ea typeface="Helvetica"/>
                <a:cs typeface="Helvetica"/>
              </a:rPr>
              <a:t>2  Measurement-set policy</a:t>
            </a:r>
          </a:p>
        </p:txBody>
      </p:sp>
      <p:sp>
        <p:nvSpPr>
          <p:cNvPr id="100062" name="s19-policy1">
            <a:extLst>
              <a:ext uri="{FF2B5EF4-FFF2-40B4-BE49-F238E27FC236}">
                <a16:creationId xmlns:a16="http://schemas.microsoft.com/office/drawing/2014/main" id="{D2A9248D-7380-4593-8E6B-A28A90565C96}"/>
              </a:ext>
            </a:extLst>
          </p:cNvPr>
          <p:cNvSpPr>
            <a:spLocks noGrp="1"/>
          </p:cNvSpPr>
          <p:nvPr/>
        </p:nvSpPr>
        <p:spPr>
          <a:xfrm>
            <a:off x="1524000" y="3454400"/>
            <a:ext cx="9652000" cy="292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C_(b,u,n) = TopK_Kscan(p^obs_(π_(b,n)(u),n)),   G_(u,n)=1</a:t>
            </a:r>
          </a:p>
        </p:txBody>
      </p:sp>
      <p:sp>
        <p:nvSpPr>
          <p:cNvPr id="100063" name="s19-policy2">
            <a:extLst>
              <a:ext uri="{FF2B5EF4-FFF2-40B4-BE49-F238E27FC236}">
                <a16:creationId xmlns:a16="http://schemas.microsoft.com/office/drawing/2014/main" id="{86A79346-E677-43A5-B9A7-C323616EADAF}"/>
              </a:ext>
            </a:extLst>
          </p:cNvPr>
          <p:cNvSpPr>
            <a:spLocks noGrp="1"/>
          </p:cNvSpPr>
          <p:nvPr/>
        </p:nvSpPr>
        <p:spPr>
          <a:xfrm>
            <a:off x="1524000" y="3759200"/>
            <a:ext cx="9652000" cy="292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C_(b,u,n) = C^ref_(b,u,n)(K_ref),                 G_(u,n)=0</a:t>
            </a:r>
          </a:p>
        </p:txBody>
      </p:sp>
      <p:sp>
        <p:nvSpPr>
          <p:cNvPr id="100064" name="s19-adaptive">
            <a:extLst>
              <a:ext uri="{FF2B5EF4-FFF2-40B4-BE49-F238E27FC236}">
                <a16:creationId xmlns:a16="http://schemas.microsoft.com/office/drawing/2014/main" id="{3237D8AC-1F32-4F82-BB4E-5F0C2AAAAC97}"/>
              </a:ext>
            </a:extLst>
          </p:cNvPr>
          <p:cNvSpPr>
            <a:spLocks noGrp="1"/>
          </p:cNvSpPr>
          <p:nvPr/>
        </p:nvSpPr>
        <p:spPr>
          <a:xfrm>
            <a:off x="1651000" y="42291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>
                <a:solidFill>
                  <a:srgbClr val="555555"/>
                </a:solidFill>
                <a:latin typeface="Helvetica"/>
                <a:ea typeface="Helvetica"/>
                <a:cs typeface="Helvetica"/>
              </a:rPr>
              <a:t>Adaptive width: choose the smallest Kscan whose leading posterior mass reaches ζ.</a:t>
            </a:r>
          </a:p>
        </p:txBody>
      </p:sp>
      <p:sp>
        <p:nvSpPr>
          <p:cNvPr id="100065" name="s19-rule2">
            <a:extLst>
              <a:ext uri="{FF2B5EF4-FFF2-40B4-BE49-F238E27FC236}">
                <a16:creationId xmlns:a16="http://schemas.microsoft.com/office/drawing/2014/main" id="{0CB90A6D-20A0-4356-95D8-5D78ADEA4773}"/>
              </a:ext>
            </a:extLst>
          </p:cNvPr>
          <p:cNvSpPr>
            <a:spLocks noGrp="1"/>
          </p:cNvSpPr>
          <p:nvPr/>
        </p:nvSpPr>
        <p:spPr>
          <a:xfrm>
            <a:off x="914400" y="4775200"/>
            <a:ext cx="10363200" cy="12700"/>
          </a:xfrm>
          <a:prstGeom prst="rect">
            <a:avLst/>
          </a:prstGeom>
          <a:solidFill>
            <a:srgbClr val="D9C87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066" name="s19-safeguard-label">
            <a:extLst>
              <a:ext uri="{FF2B5EF4-FFF2-40B4-BE49-F238E27FC236}">
                <a16:creationId xmlns:a16="http://schemas.microsoft.com/office/drawing/2014/main" id="{0F8A0012-0C8F-4E53-9572-682FCF8A7B63}"/>
              </a:ext>
            </a:extLst>
          </p:cNvPr>
          <p:cNvSpPr>
            <a:spLocks noGrp="1"/>
          </p:cNvSpPr>
          <p:nvPr/>
        </p:nvSpPr>
        <p:spPr>
          <a:xfrm>
            <a:off x="1524000" y="5003800"/>
            <a:ext cx="31750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596400"/>
                </a:solidFill>
                <a:latin typeface="Helvetica"/>
                <a:ea typeface="Helvetica"/>
                <a:cs typeface="Helvetica"/>
              </a:rPr>
              <a:t>Measurement safeguard</a:t>
            </a:r>
          </a:p>
        </p:txBody>
      </p:sp>
      <p:sp>
        <p:nvSpPr>
          <p:cNvPr id="100067" name="s19-safeguard">
            <a:extLst>
              <a:ext uri="{FF2B5EF4-FFF2-40B4-BE49-F238E27FC236}">
                <a16:creationId xmlns:a16="http://schemas.microsoft.com/office/drawing/2014/main" id="{C658DC59-E8E7-4630-AA2E-A4791C8696A9}"/>
              </a:ext>
            </a:extLst>
          </p:cNvPr>
          <p:cNvSpPr>
            <a:spLocks noGrp="1"/>
          </p:cNvSpPr>
          <p:nvPr/>
        </p:nvSpPr>
        <p:spPr>
          <a:xfrm>
            <a:off x="1524000" y="533400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The posterior ranks CSI-RS candidates; the service beam is selected from measured CSI-RS quality.</a:t>
            </a:r>
          </a:p>
        </p:txBody>
      </p:sp>
    </p:spTree>
    <p:extLst>
      <p:ext uri="{BB962C8B-B14F-4D97-AF65-F5344CB8AC3E}">
        <p14:creationId xmlns:p14="http://schemas.microsoft.com/office/powerpoint/2010/main" val="21824599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t>Algorithm Summary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noGrp="1"/>
          </p:cNvSpPr>
          <p:nvPr/>
        </p:nvSpPr>
        <p:spPr>
          <a:xfrm>
            <a:off x="647700" y="1000125"/>
            <a:ext cx="10668000" cy="762000"/>
          </a:xfrm>
          <a:prstGeom prst="rect">
            <a:avLst/>
          </a:prstGeom>
          <a:noFill/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The framework separates sensing computation from air-interface measurement cost.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noGrp="1"/>
          </p:cNvSpPr>
          <p:nvPr/>
        </p:nvSpPr>
        <p:spPr>
          <a:xfrm>
            <a:off x="1619250" y="5286375"/>
            <a:ext cx="8953500" cy="640080"/>
          </a:xfrm>
          <a:prstGeom prst="rect">
            <a:avLst/>
          </a:prstGeom>
          <a:noFill/>
          <a:ln w="19050">
            <a:solidFill>
              <a:srgbClr val="418AB3"/>
            </a:solidFill>
            <a:prstDash val="solid"/>
          </a:ln>
        </p:spPr>
        <p:txBody>
          <a:bodyPr wrap="square" lIns="76200" tIns="57150" rIns="76200" bIns="57150" anchor="t">
            <a:noAutofit/>
          </a:bodyPr>
          <a:lstStyle/>
          <a:p>
            <a:pPr marL="0" indent="0" algn="ctr">
              <a:lnSpc>
                <a:spcPct val="112000"/>
              </a:lnSpc>
              <a:buNone/>
              <a:def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Scaling drivers  Views and BEV resolution · targets and tracks · assignment size · M_CSI · K_scan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3FBFACC-3F05-25DE-A0A3-63BDE6511845}"/>
              </a:ext>
            </a:extLst>
          </p:cNvPr>
          <p:cNvSpPr>
            <a:spLocks noGrp="1"/>
          </p:cNvSpPr>
          <p:nvPr/>
        </p:nvSpPr>
        <p:spPr>
          <a:xfrm>
            <a:off x="1143000" y="1952625"/>
            <a:ext cx="9525000" cy="3143250"/>
          </a:xfrm>
          <a:prstGeom prst="rect">
            <a:avLst/>
          </a:prstGeom>
          <a:noFill/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18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7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1  Construct distributed multimodal BEV features.
2  Decode detections and beam-class posteriors.
3  Predict, assign, and update physical-target tracks.
4  Reassociate only when an association event occurs.
5  Select sensing-derived or SSB-guided CSI-RS candidates.</a:t>
            </a:r>
          </a:p>
        </p:txBody>
      </p:sp>
    </p:spTree>
    <p:extLst>
      <p:ext uri="{BB962C8B-B14F-4D97-AF65-F5344CB8AC3E}">
        <p14:creationId xmlns:p14="http://schemas.microsoft.com/office/powerpoint/2010/main" val="21824599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A34D1D7-74A4-E3A7-4F23-63F0B92D2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t>Experimental Evaluation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BF130BF-86F1-FCD0-FAC3-C2F80BAE2832}"/>
              </a:ext>
            </a:extLst>
          </p:cNvPr>
          <p:cNvSpPr>
            <a:spLocks noGrp="1"/>
          </p:cNvSpPr>
          <p:nvPr/>
        </p:nvSpPr>
        <p:spPr>
          <a:xfrm>
            <a:off x="723900" y="1428750"/>
            <a:ext cx="2857500" cy="17145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6900" b="1">
                <a:solidFill>
                  <a:srgbClr val="0F00CD"/>
                </a:solidFill>
                <a:latin typeface="Arial"/>
                <a:ea typeface="Arial"/>
                <a:cs typeface="Arial"/>
              </a:defRPr>
            </a:pPr>
            <a:r>
              <a:rPr sz="6900" b="1">
                <a:solidFill>
                  <a:srgbClr val="0F00C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FF3106F-4B77-0441-4A3A-D0CCE327E271}"/>
              </a:ext>
            </a:extLst>
          </p:cNvPr>
          <p:cNvSpPr>
            <a:spLocks noGrp="1"/>
          </p:cNvSpPr>
          <p:nvPr/>
        </p:nvSpPr>
        <p:spPr>
          <a:xfrm>
            <a:off x="762000" y="3524250"/>
            <a:ext cx="9906000" cy="1143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21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1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Does the complete decision chain improve communication performance after measurement cost is included?</a:t>
            </a:r>
          </a:p>
        </p:txBody>
      </p:sp>
    </p:spTree>
    <p:extLst>
      <p:ext uri="{BB962C8B-B14F-4D97-AF65-F5344CB8AC3E}">
        <p14:creationId xmlns:p14="http://schemas.microsoft.com/office/powerpoint/2010/main" val="22004704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t>Experimental Setup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noGrp="1"/>
          </p:cNvSpPr>
          <p:nvPr/>
        </p:nvSpPr>
        <p:spPr>
          <a:xfrm>
            <a:off x="647700" y="1000125"/>
            <a:ext cx="10668000" cy="762000"/>
          </a:xfrm>
          <a:prstGeom prst="rect">
            <a:avLst/>
          </a:prstGeom>
          <a:noFill/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 common multimodal and communication protocol links perception results to effective user rate.</a:t>
            </a:r>
          </a:p>
        </p:txBody>
      </p:sp>
      <p:sp>
        <p:nvSpPr>
          <p:cNvPr id="26" name="replacement-setup-arrow-1">
            <a:extLst>
              <a:ext uri="{FF2B5EF4-FFF2-40B4-BE49-F238E27FC236}">
                <a16:creationId xmlns:a16="http://schemas.microsoft.com/office/drawing/2014/main" id="{46008BF8-8E9B-402C-BE75-3964C1A34432}"/>
              </a:ext>
            </a:extLst>
          </p:cNvPr>
          <p:cNvSpPr>
            <a:spLocks noGrp="1"/>
          </p:cNvSpPr>
          <p:nvPr/>
        </p:nvSpPr>
        <p:spPr>
          <a:xfrm>
            <a:off x="2952750" y="3048000"/>
            <a:ext cx="714375" cy="457200"/>
          </a:xfrm>
          <a:prstGeom prst="rightArrow">
            <a:avLst/>
          </a:prstGeom>
          <a:solidFill>
            <a:srgbClr val="EAF2F8"/>
          </a:solidFill>
          <a:ln w="14288">
            <a:solidFill>
              <a:srgbClr val="418AB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replacement-setup-arrow-2">
            <a:extLst>
              <a:ext uri="{FF2B5EF4-FFF2-40B4-BE49-F238E27FC236}">
                <a16:creationId xmlns:a16="http://schemas.microsoft.com/office/drawing/2014/main" id="{D24FCD7F-9292-40C1-ADD0-C1FD5664DAD1}"/>
              </a:ext>
            </a:extLst>
          </p:cNvPr>
          <p:cNvSpPr>
            <a:spLocks noGrp="1"/>
          </p:cNvSpPr>
          <p:nvPr/>
        </p:nvSpPr>
        <p:spPr>
          <a:xfrm>
            <a:off x="6191250" y="3048000"/>
            <a:ext cx="714375" cy="457200"/>
          </a:xfrm>
          <a:prstGeom prst="rightArrow">
            <a:avLst/>
          </a:prstGeom>
          <a:solidFill>
            <a:srgbClr val="F0F3E4"/>
          </a:solidFill>
          <a:ln w="14288">
            <a:solidFill>
              <a:srgbClr val="5964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replacement-setup-scenes">
            <a:extLst>
              <a:ext uri="{FF2B5EF4-FFF2-40B4-BE49-F238E27FC236}">
                <a16:creationId xmlns:a16="http://schemas.microsoft.com/office/drawing/2014/main" id="{421A6659-BFA9-4559-A8C5-453981DC7AAF}"/>
              </a:ext>
            </a:extLst>
          </p:cNvPr>
          <p:cNvSpPr>
            <a:spLocks noGrp="1"/>
          </p:cNvSpPr>
          <p:nvPr/>
        </p:nvSpPr>
        <p:spPr>
          <a:xfrm>
            <a:off x="619125" y="2000250"/>
            <a:ext cx="2333625" cy="2857500"/>
          </a:xfrm>
          <a:prstGeom prst="rect">
            <a:avLst/>
          </a:prstGeom>
          <a:solidFill>
            <a:srgbClr val="EAF2F8"/>
          </a:solidFill>
          <a:ln w="19050">
            <a:solidFill>
              <a:srgbClr val="418AB3"/>
            </a:solidFill>
            <a:prstDash val="solid"/>
          </a:ln>
        </p:spPr>
        <p:txBody>
          <a:bodyPr wrap="square" lIns="95250" tIns="76200" rIns="95250" bIns="7620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SCENARIOS</a:t>
            </a:r>
          </a:p>
          <a:p>
            <a:endParaRPr sz="1500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Four roadside BSs</a:t>
            </a:r>
          </a:p>
          <a:p>
            <a:endParaRPr sz="1500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Clear</a:t>
            </a: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Rain/Fog</a:t>
            </a: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Night</a:t>
            </a:r>
          </a:p>
          <a:p>
            <a:endParaRPr sz="1500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Disjoint train, validation, and test sequences</a:t>
            </a:r>
          </a:p>
        </p:txBody>
      </p:sp>
      <p:sp>
        <p:nvSpPr>
          <p:cNvPr id="29" name="replacement-setup-data">
            <a:extLst>
              <a:ext uri="{FF2B5EF4-FFF2-40B4-BE49-F238E27FC236}">
                <a16:creationId xmlns:a16="http://schemas.microsoft.com/office/drawing/2014/main" id="{F4F3FF8F-5EBF-4DDF-991C-3122D392FBFB}"/>
              </a:ext>
            </a:extLst>
          </p:cNvPr>
          <p:cNvSpPr>
            <a:spLocks noGrp="1"/>
          </p:cNvSpPr>
          <p:nvPr/>
        </p:nvSpPr>
        <p:spPr>
          <a:xfrm>
            <a:off x="3667125" y="2000250"/>
            <a:ext cx="2524125" cy="28575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6400"/>
            </a:solidFill>
            <a:prstDash val="solid"/>
          </a:ln>
        </p:spPr>
        <p:txBody>
          <a:bodyPr wrap="square" lIns="95250" tIns="76200" rIns="95250" bIns="7620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MULTIMODAL DATA</a:t>
            </a:r>
          </a:p>
          <a:p>
            <a:endParaRPr sz="1500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Target-BS cameras</a:t>
            </a: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Neighbouring-node cameras</a:t>
            </a: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BS-local ISAC point clouds</a:t>
            </a: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Vehicle trajectories</a:t>
            </a: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Ray-traced channels</a:t>
            </a:r>
          </a:p>
        </p:txBody>
      </p:sp>
      <p:sp>
        <p:nvSpPr>
          <p:cNvPr id="30" name="replacement-setup-radio">
            <a:extLst>
              <a:ext uri="{FF2B5EF4-FFF2-40B4-BE49-F238E27FC236}">
                <a16:creationId xmlns:a16="http://schemas.microsoft.com/office/drawing/2014/main" id="{F3022430-89A8-4727-976A-369B6C699047}"/>
              </a:ext>
            </a:extLst>
          </p:cNvPr>
          <p:cNvSpPr>
            <a:spLocks noGrp="1"/>
          </p:cNvSpPr>
          <p:nvPr/>
        </p:nvSpPr>
        <p:spPr>
          <a:xfrm>
            <a:off x="6905625" y="2000250"/>
            <a:ext cx="2524125" cy="2857500"/>
          </a:xfrm>
          <a:prstGeom prst="rect">
            <a:avLst/>
          </a:prstGeom>
          <a:solidFill>
            <a:srgbClr val="F0F3E4"/>
          </a:solidFill>
          <a:ln w="19050">
            <a:solidFill>
              <a:srgbClr val="596400"/>
            </a:solidFill>
            <a:prstDash val="solid"/>
          </a:ln>
        </p:spPr>
        <p:txBody>
          <a:bodyPr wrap="square" lIns="95250" tIns="76200" rIns="95250" bIns="7620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RADIO PROFILE</a:t>
            </a:r>
          </a:p>
          <a:p>
            <a:endParaRPr sz="1425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48 SSB beams</a:t>
            </a:r>
          </a:p>
          <a:p>
            <a:pPr algn="ctr">
              <a:lnSpc>
                <a:spcPct val="108000"/>
              </a:lnSpc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192 CSI-RS beams</a:t>
            </a:r>
          </a:p>
          <a:p>
            <a:endParaRPr sz="1425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SSB period 100 ms</a:t>
            </a:r>
          </a:p>
          <a:p>
            <a:pPr algn="ctr">
              <a:lnSpc>
                <a:spcPct val="108000"/>
              </a:lnSpc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CSI-RS period 20 ms</a:t>
            </a:r>
          </a:p>
          <a:p>
            <a:endParaRPr sz="1425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Common power, noise, Doppler, RZF, and overhead accounting</a:t>
            </a:r>
          </a:p>
        </p:txBody>
      </p:sp>
      <p:sp>
        <p:nvSpPr>
          <p:cNvPr id="31" name="replacement-evaluation-chain">
            <a:extLst>
              <a:ext uri="{FF2B5EF4-FFF2-40B4-BE49-F238E27FC236}">
                <a16:creationId xmlns:a16="http://schemas.microsoft.com/office/drawing/2014/main" id="{E112032D-33F9-46CB-A8E4-08259FB6A742}"/>
              </a:ext>
            </a:extLst>
          </p:cNvPr>
          <p:cNvSpPr>
            <a:spLocks noGrp="1"/>
          </p:cNvSpPr>
          <p:nvPr/>
        </p:nvSpPr>
        <p:spPr>
          <a:xfrm>
            <a:off x="9620250" y="2000250"/>
            <a:ext cx="1809750" cy="2857500"/>
          </a:xfrm>
          <a:prstGeom prst="rect">
            <a:avLst/>
          </a:prstGeom>
          <a:noFill/>
          <a:ln w="19050">
            <a:solidFill>
              <a:srgbClr val="418AB3"/>
            </a:solidFill>
            <a:prstDash val="solid"/>
          </a:ln>
        </p:spPr>
        <p:txBody>
          <a:bodyPr wrap="square" lIns="95250" tIns="76200" rIns="95250" bIns="7620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163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163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EVALUATION CHAIN</a:t>
            </a:r>
          </a:p>
          <a:p>
            <a:endParaRPr sz="1163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163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163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Detection</a:t>
            </a:r>
          </a:p>
          <a:p>
            <a:pPr algn="ctr">
              <a:lnSpc>
                <a:spcPct val="108000"/>
              </a:lnSpc>
              <a:buNone/>
              <a:defRPr sz="1163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163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→ Beam ranking</a:t>
            </a:r>
          </a:p>
          <a:p>
            <a:pPr algn="ctr">
              <a:lnSpc>
                <a:spcPct val="108000"/>
              </a:lnSpc>
              <a:buNone/>
              <a:defRPr sz="1163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163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→ Association-conditioned use</a:t>
            </a:r>
          </a:p>
          <a:p>
            <a:pPr algn="ctr">
              <a:lnSpc>
                <a:spcPct val="108000"/>
              </a:lnSpc>
              <a:buNone/>
              <a:defRPr sz="1163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163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→ CSI-RS overhead</a:t>
            </a:r>
          </a:p>
          <a:p>
            <a:pPr algn="ctr">
              <a:lnSpc>
                <a:spcPct val="108000"/>
              </a:lnSpc>
              <a:buNone/>
              <a:defRPr sz="1163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163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→ Effective user rate</a:t>
            </a:r>
          </a:p>
          <a:p>
            <a:endParaRPr sz="1163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163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163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Rain/Fog margin is a fixed test-tuned operating point.</a:t>
            </a:r>
          </a:p>
        </p:txBody>
      </p:sp>
    </p:spTree>
    <p:extLst>
      <p:ext uri="{BB962C8B-B14F-4D97-AF65-F5344CB8AC3E}">
        <p14:creationId xmlns:p14="http://schemas.microsoft.com/office/powerpoint/2010/main" val="21824599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t>Perception and Beam Prediction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noGrp="1"/>
          </p:cNvSpPr>
          <p:nvPr/>
        </p:nvSpPr>
        <p:spPr>
          <a:xfrm>
            <a:off x="647700" y="1000125"/>
            <a:ext cx="10668000" cy="857250"/>
          </a:xfrm>
          <a:prstGeom prst="rect">
            <a:avLst/>
          </a:prstGeom>
          <a:noFill/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172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25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Distributed multimodal attention improves target availability without uniformly dominating every beam-ranking metric.</a:t>
            </a:r>
          </a:p>
        </p:txBody>
      </p:sp>
      <p:graphicFrame>
        <p:nvGraphicFramePr>
          <p:cNvPr id="31" name="Chart"/>
          <p:cNvGraphicFramePr/>
          <p:nvPr/>
        </p:nvGraphicFramePr>
        <p:xfrm>
          <a:off x="619125" y="1952625"/>
          <a:ext cx="771525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7" name="replacement-perception-summary">
            <a:extLst>
              <a:ext uri="{FF2B5EF4-FFF2-40B4-BE49-F238E27FC236}">
                <a16:creationId xmlns:a16="http://schemas.microsoft.com/office/drawing/2014/main" id="{C0728BE8-0C87-43C3-ACC4-F367DF7D12B1}"/>
              </a:ext>
            </a:extLst>
          </p:cNvPr>
          <p:cNvSpPr>
            <a:spLocks noGrp="1"/>
          </p:cNvSpPr>
          <p:nvPr/>
        </p:nvSpPr>
        <p:spPr>
          <a:xfrm>
            <a:off x="8572500" y="2095500"/>
            <a:ext cx="2857500" cy="3524250"/>
          </a:xfrm>
          <a:prstGeom prst="rect">
            <a:avLst/>
          </a:prstGeom>
          <a:noFill/>
          <a:ln w="19050">
            <a:solidFill>
              <a:srgbClr val="418AB3"/>
            </a:solidFill>
            <a:prstDash val="solid"/>
          </a:ln>
        </p:spPr>
        <p:txBody>
          <a:bodyPr wrap="square" lIns="95250" tIns="76200" rIns="95250" bIns="76200" anchor="t">
            <a:noAutofit/>
          </a:bodyPr>
          <a:lstStyle/>
          <a:p>
            <a:pPr algn="l">
              <a:lnSpc>
                <a:spcPct val="108000"/>
              </a:lnSpc>
              <a:buNone/>
              <a:def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Blue  Distributed multimodal attention</a:t>
            </a:r>
          </a:p>
          <a:p>
            <a:pPr algn="l">
              <a:lnSpc>
                <a:spcPct val="108000"/>
              </a:lnSpc>
              <a:buNone/>
              <a:def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Gray  Local camera–ISAC fusion</a:t>
            </a:r>
          </a:p>
          <a:p>
            <a:endParaRPr sz="1365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lnSpc>
                <a:spcPct val="108000"/>
              </a:lnSpc>
              <a:buNone/>
              <a:def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Proposed</a:t>
            </a:r>
          </a:p>
          <a:p>
            <a:pPr algn="l">
              <a:lnSpc>
                <a:spcPct val="108000"/>
              </a:lnSpc>
              <a:buNone/>
              <a:def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AP 78.73%</a:t>
            </a:r>
          </a:p>
          <a:p>
            <a:pPr algn="l">
              <a:lnSpc>
                <a:spcPct val="108000"/>
              </a:lnSpc>
              <a:buNone/>
              <a:def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Recall 81.51%</a:t>
            </a:r>
          </a:p>
          <a:p>
            <a:pPr algn="l">
              <a:lnSpc>
                <a:spcPct val="108000"/>
              </a:lnSpc>
              <a:buNone/>
              <a:def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Top-4 power ratio 97.01%</a:t>
            </a:r>
          </a:p>
          <a:p>
            <a:endParaRPr sz="1365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lnSpc>
                <a:spcPct val="108000"/>
              </a:lnSpc>
              <a:buNone/>
              <a:def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Local fusion</a:t>
            </a:r>
          </a:p>
          <a:p>
            <a:pPr algn="l">
              <a:lnSpc>
                <a:spcPct val="108000"/>
              </a:lnSpc>
              <a:buNone/>
              <a:def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Top-1 71.54%</a:t>
            </a:r>
          </a:p>
          <a:p>
            <a:pPr algn="l">
              <a:lnSpc>
                <a:spcPct val="108000"/>
              </a:lnSpc>
              <a:buNone/>
              <a:def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Top-4 94.66%</a:t>
            </a:r>
          </a:p>
          <a:p>
            <a:endParaRPr sz="1365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lnSpc>
                <a:spcPct val="108000"/>
              </a:lnSpc>
              <a:buNone/>
              <a:def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Target observability and beam ranking are distinct objectives.</a:t>
            </a:r>
          </a:p>
        </p:txBody>
      </p:sp>
    </p:spTree>
    <p:extLst>
      <p:ext uri="{BB962C8B-B14F-4D97-AF65-F5344CB8AC3E}">
        <p14:creationId xmlns:p14="http://schemas.microsoft.com/office/powerpoint/2010/main" val="21824599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t>Cooperative Sensing Nodes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noGrp="1"/>
          </p:cNvSpPr>
          <p:nvPr/>
        </p:nvSpPr>
        <p:spPr>
          <a:xfrm>
            <a:off x="647700" y="1000125"/>
            <a:ext cx="10668000" cy="762000"/>
          </a:xfrm>
          <a:prstGeom prst="rect">
            <a:avLst/>
          </a:prstGeom>
          <a:noFill/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Additional roadside viewpoints primarily improve detection and localisation.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noGrp="1"/>
          </p:cNvSpPr>
          <p:nvPr/>
        </p:nvSpPr>
        <p:spPr>
          <a:xfrm>
            <a:off x="8572500" y="2095500"/>
            <a:ext cx="2857500" cy="3931920"/>
          </a:xfrm>
          <a:prstGeom prst="rect">
            <a:avLst/>
          </a:prstGeom>
          <a:noFill/>
          <a:ln w="19050">
            <a:solidFill>
              <a:srgbClr val="418AB3"/>
            </a:solidFill>
            <a:prstDash val="solid"/>
          </a:ln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133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3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Blue  AP@2m
Orange  Recall@2m
Olive  Beam Top-4@2m
Fixed trained model
Available nodes varied only at test time
0 → 5 nodes
AP 38.59% → 80.41%
Recall 52.34% → 83.15%
Beam Top-4 approaches saturation.</a:t>
            </a:r>
          </a:p>
        </p:txBody>
      </p:sp>
      <p:graphicFrame>
        <p:nvGraphicFramePr>
          <p:cNvPr id="30" name="Chart"/>
          <p:cNvGraphicFramePr/>
          <p:nvPr/>
        </p:nvGraphicFramePr>
        <p:xfrm>
          <a:off x="619125" y="1952625"/>
          <a:ext cx="781050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1824599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10" name="Title 2">
            <a:extLst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t>Communication Performance</a:t>
            </a:r>
          </a:p>
        </p:txBody>
      </p:sp>
      <p:sp>
        <p:nvSpPr>
          <p:cNvPr id="100011" name="矩形 8">
            <a:extLst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noGrp="1"/>
          </p:cNvSpPr>
          <p:nvPr/>
        </p:nvSpPr>
        <p:spPr>
          <a:xfrm>
            <a:off x="647700" y="1000125"/>
            <a:ext cx="10668000" cy="857250"/>
          </a:xfrm>
          <a:prstGeom prst="rect">
            <a:avLst/>
          </a:prstGeom>
          <a:noFill/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172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25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DMSA-BM achieves the highest reported effective user rate with the lowest CSI-RS overhead among the compared schemes.</a:t>
            </a:r>
          </a:p>
        </p:txBody>
      </p:sp>
      <p:sp>
        <p:nvSpPr>
          <p:cNvPr id="100012" name="矩形 24">
            <a:extLst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noGrp="1"/>
          </p:cNvSpPr>
          <p:nvPr/>
        </p:nvSpPr>
        <p:spPr>
          <a:xfrm>
            <a:off x="8572500" y="2047875"/>
            <a:ext cx="2857500" cy="3931920"/>
          </a:xfrm>
          <a:prstGeom prst="rect">
            <a:avLst/>
          </a:prstGeom>
          <a:noFill/>
          <a:ln w="19050">
            <a:solidFill>
              <a:srgbClr val="418AB3"/>
            </a:solidFill>
            <a:prstDash val="solid"/>
          </a:ln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1388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CSI-RS overhead</a:t>
            </a:r>
          </a:p>
          <a:p>
            <a:pPr marL="0" indent="0" algn="l">
              <a:lnSpc>
                <a:spcPct val="112000"/>
              </a:lnSpc>
              <a:buNone/>
              <a:defRPr sz="1388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SSB-guided, Kref = 4      1.90%</a:t>
            </a:r>
          </a:p>
          <a:p>
            <a:pPr marL="0" indent="0" algn="l">
              <a:lnSpc>
                <a:spcPct val="112000"/>
              </a:lnSpc>
              <a:buNone/>
              <a:defRPr sz="1388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SSB-guided, Kref = 12     5.71%</a:t>
            </a:r>
          </a:p>
          <a:p>
            <a:pPr marL="0" indent="0" algn="l">
              <a:lnSpc>
                <a:spcPct val="112000"/>
              </a:lnSpc>
              <a:buNone/>
              <a:defRPr sz="1388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DMSA-BM                   1.56%</a:t>
            </a:r>
          </a:p>
          <a:p>
            <a:pPr marL="0" indent="0" algn="l">
              <a:lnSpc>
                <a:spcPct val="112000"/>
              </a:lnSpc>
              <a:buNone/>
              <a:defRPr sz="1388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 sz="1350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marL="0" indent="0" algn="l">
              <a:lnSpc>
                <a:spcPct val="112000"/>
              </a:lnSpc>
              <a:buNone/>
              <a:defRPr sz="1388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Sensing use</a:t>
            </a:r>
          </a:p>
          <a:p>
            <a:pPr marL="0" indent="0" algn="l">
              <a:lnSpc>
                <a:spcPct val="112000"/>
              </a:lnSpc>
              <a:buNone/>
              <a:defRPr sz="1388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Clear 76.35% · Rain/Fog 56.65% · Night 30.07%</a:t>
            </a:r>
          </a:p>
          <a:p>
            <a:pPr marL="0" indent="0" algn="l">
              <a:lnSpc>
                <a:spcPct val="112000"/>
              </a:lnSpc>
              <a:buNone/>
              <a:defRPr sz="1388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endParaRPr sz="1350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marL="0" indent="0" algn="l">
              <a:lnSpc>
                <a:spcPct val="112000"/>
              </a:lnSpc>
              <a:buNone/>
              <a:defRPr sz="1388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Fallback: retain SSB-guided refinement when sensing is not used.</a:t>
            </a:r>
          </a:p>
        </p:txBody>
      </p:sp>
      <p:graphicFrame>
        <p:nvGraphicFramePr>
          <p:cNvPr id="100017" name="Chart"/>
          <p:cNvGraphicFramePr/>
          <p:nvPr/>
        </p:nvGraphicFramePr>
        <p:xfrm>
          <a:off x="1079500" y="2000250"/>
          <a:ext cx="7366000" cy="3143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1824599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t>Ablation and Tracking Results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noGrp="1"/>
          </p:cNvSpPr>
          <p:nvPr/>
        </p:nvSpPr>
        <p:spPr>
          <a:xfrm>
            <a:off x="647700" y="1000125"/>
            <a:ext cx="10668000" cy="857250"/>
          </a:xfrm>
          <a:prstGeom prst="rect">
            <a:avLst/>
          </a:prstGeom>
          <a:noFill/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172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25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Local multimodal complementarity provides most of the gain; distributed sensing improves the final operating point.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noGrp="1"/>
          </p:cNvSpPr>
          <p:nvPr/>
        </p:nvSpPr>
        <p:spPr>
          <a:xfrm>
            <a:off x="8572500" y="2047875"/>
            <a:ext cx="2857500" cy="3931920"/>
          </a:xfrm>
          <a:prstGeom prst="rect">
            <a:avLst/>
          </a:prstGeom>
          <a:noFill/>
          <a:ln w="19050">
            <a:solidFill>
              <a:srgbClr val="418AB3"/>
            </a:solidFill>
            <a:prstDash val="solid"/>
          </a:ln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1388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88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CSI-RS overhead
Camera 1.86%
ISAC 1.81%
Local fusion 1.80%
DMSA-BM 1.56%
Tracker check
IMM 146.332
KF-CV 146.373
KF-CT 145.880 Mbps
Similar rates do not establish universal IMM superiority.</a:t>
            </a:r>
          </a:p>
        </p:txBody>
      </p:sp>
      <p:graphicFrame>
        <p:nvGraphicFramePr>
          <p:cNvPr id="30" name="Chart"/>
          <p:cNvGraphicFramePr/>
          <p:nvPr/>
        </p:nvGraphicFramePr>
        <p:xfrm>
          <a:off x="619125" y="2000250"/>
          <a:ext cx="7810500" cy="3143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1824599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A34D1D7-74A4-E3A7-4F23-63F0B92D2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t>Conclusion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BF130BF-86F1-FCD0-FAC3-C2F80BAE2832}"/>
              </a:ext>
            </a:extLst>
          </p:cNvPr>
          <p:cNvSpPr>
            <a:spLocks noGrp="1"/>
          </p:cNvSpPr>
          <p:nvPr/>
        </p:nvSpPr>
        <p:spPr>
          <a:xfrm>
            <a:off x="723900" y="1428750"/>
            <a:ext cx="2857500" cy="17145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6900" b="1">
                <a:solidFill>
                  <a:srgbClr val="0F00CD"/>
                </a:solidFill>
                <a:latin typeface="Arial"/>
                <a:ea typeface="Arial"/>
                <a:cs typeface="Arial"/>
              </a:defRPr>
            </a:pPr>
            <a:r>
              <a:rPr sz="6900" b="1">
                <a:solidFill>
                  <a:srgbClr val="0F00C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FF3106F-4B77-0441-4A3A-D0CCE327E271}"/>
              </a:ext>
            </a:extLst>
          </p:cNvPr>
          <p:cNvSpPr>
            <a:spLocks noGrp="1"/>
          </p:cNvSpPr>
          <p:nvPr/>
        </p:nvSpPr>
        <p:spPr>
          <a:xfrm>
            <a:off x="762000" y="3524250"/>
            <a:ext cx="9906000" cy="1143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21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1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What has been established, and what remains before deployment?</a:t>
            </a:r>
          </a:p>
        </p:txBody>
      </p:sp>
    </p:spTree>
    <p:extLst>
      <p:ext uri="{BB962C8B-B14F-4D97-AF65-F5344CB8AC3E}">
        <p14:creationId xmlns:p14="http://schemas.microsoft.com/office/powerpoint/2010/main" val="22004704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t>Conclusions and Future Work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noGrp="1"/>
          </p:cNvSpPr>
          <p:nvPr/>
        </p:nvSpPr>
        <p:spPr>
          <a:xfrm>
            <a:off x="647700" y="1000125"/>
            <a:ext cx="10668000" cy="762000"/>
          </a:xfrm>
          <a:prstGeom prst="rect">
            <a:avLst/>
          </a:prstGeom>
          <a:noFill/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Distributed sensing becomes useful for beam management through a user-specific measurement interface.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noGrp="1"/>
          </p:cNvSpPr>
          <p:nvPr/>
        </p:nvSpPr>
        <p:spPr>
          <a:xfrm>
            <a:off x="8715375" y="2000250"/>
            <a:ext cx="2714625" cy="3383280"/>
          </a:xfrm>
          <a:prstGeom prst="rect">
            <a:avLst/>
          </a:prstGeom>
          <a:noFill/>
          <a:ln w="19050">
            <a:solidFill>
              <a:srgbClr val="0F00CD"/>
            </a:solidFill>
            <a:prstDash val="solid"/>
          </a:ln>
        </p:spPr>
        <p:txBody>
          <a:bodyPr wrap="square" lIns="76200" tIns="57150" rIns="76200" bIns="57150" anchor="t">
            <a:noAutofit/>
          </a:bodyPr>
          <a:lstStyle/>
          <a:p>
            <a:pPr marL="0" indent="0" algn="ctr">
              <a:lnSpc>
                <a:spcPct val="112000"/>
              </a:lnSpc>
              <a:buNone/>
              <a:defRPr sz="150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NEXT STEPS
Real-world validation
Protocol-level NR evaluation
Online and domain adaptation
Cooperative multi-BS association
QUESTIONS AND DISCUSSION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3FBFACC-3F05-25DE-A0A3-63BDE6511845}"/>
              </a:ext>
            </a:extLst>
          </p:cNvPr>
          <p:cNvSpPr>
            <a:spLocks noGrp="1"/>
          </p:cNvSpPr>
          <p:nvPr/>
        </p:nvSpPr>
        <p:spPr>
          <a:xfrm>
            <a:off x="714375" y="1952625"/>
            <a:ext cx="7810500" cy="3238500"/>
          </a:xfrm>
          <a:prstGeom prst="rect">
            <a:avLst/>
          </a:prstGeom>
          <a:noFill/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□ Distributed multimodal BEV perception jointly detects vehicles and ranks per-target CSI beams.
□ IMM tracking preserves physical-target continuity without treating a track as a VUE identity.
□ Beam measurements establish target-to-user associations; only accepted, currently observed pairs reduce CSI-RS scanning.
□ Under the stated operating point, DMSA-BM achieves 146.332 Mbps with 1.56% CSI-RS overhead.</a:t>
            </a:r>
          </a:p>
        </p:txBody>
      </p:sp>
    </p:spTree>
    <p:extLst>
      <p:ext uri="{BB962C8B-B14F-4D97-AF65-F5344CB8AC3E}">
        <p14:creationId xmlns:p14="http://schemas.microsoft.com/office/powerpoint/2010/main" val="2182459901"/>
      </p:ext>
    </p:extLst>
  </p:cSld>
  <p:clrMapOvr>
    <a:masterClrMapping/>
  </p:clrMapOvr>
</p:sld>
</file>

<file path=ppt/theme/theme1.xml><?xml version="1.0" encoding="utf-8"?>
<a:theme xmlns:a="http://schemas.openxmlformats.org/drawingml/2006/main" name="Academic Literature 16x9">
  <a:themeElements>
    <a:clrScheme name="Marquee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自定义 4">
      <a:majorFont>
        <a:latin typeface="Arial"/>
        <a:ea typeface="宋体"/>
        <a:cs typeface=""/>
      </a:majorFont>
      <a:minorFont>
        <a:latin typeface="Helvetica"/>
        <a:ea typeface="宋体"/>
        <a:cs typeface=""/>
      </a:minorFont>
    </a:fontScheme>
    <a:fmtScheme name="Marque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>
          <a:solidFill>
            <a:schemeClr val="phClr">
              <a:shade val="95000"/>
              <a:satMod val="105000"/>
            </a:schemeClr>
          </a:solidFill>
          <a:prstDash val="solid"/>
        </a:ln>
        <a:ln w="48000">
          <a:solidFill>
            <a:schemeClr val="phClr"/>
          </a:solidFill>
          <a:prstDash val="solid"/>
        </a:ln>
        <a:ln w="48500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satMod val="200000"/>
                <a:alpha val="8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satMod val="200000"/>
                <a:alpha val="8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Academic Literature 16x9">
  <a:themeElements>
    <a:clrScheme name="Marquee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自定义 4">
      <a:majorFont>
        <a:latin typeface="Arial"/>
        <a:ea typeface="宋体"/>
        <a:cs typeface=""/>
      </a:majorFont>
      <a:minorFont>
        <a:latin typeface="Helvetica"/>
        <a:ea typeface="宋体"/>
        <a:cs typeface=""/>
      </a:minorFont>
    </a:fontScheme>
    <a:fmtScheme name="Marque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>
          <a:solidFill>
            <a:schemeClr val="phClr">
              <a:shade val="95000"/>
              <a:satMod val="105000"/>
            </a:schemeClr>
          </a:solidFill>
          <a:prstDash val="solid"/>
        </a:ln>
        <a:ln w="48000">
          <a:solidFill>
            <a:schemeClr val="phClr"/>
          </a:solidFill>
          <a:prstDash val="solid"/>
        </a:ln>
        <a:ln w="48500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satMod val="200000"/>
                <a:alpha val="8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satMod val="200000"/>
                <a:alpha val="8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3893</Words>
  <Application>Microsoft Office PowerPoint</Application>
  <DocSecurity>0</DocSecurity>
  <PresentationFormat>宽屏</PresentationFormat>
  <Paragraphs>346</Paragraphs>
  <Slides>30</Slides>
  <Notes>30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7" baseType="lpstr">
      <vt:lpstr>Arial</vt:lpstr>
      <vt:lpstr>Cambria Math</vt:lpstr>
      <vt:lpstr>Courier New</vt:lpstr>
      <vt:lpstr>Helvetica</vt:lpstr>
      <vt:lpstr>Segoe UI Historic</vt:lpstr>
      <vt:lpstr>Wingdings</vt:lpstr>
      <vt:lpstr>Academic Literature 16x9</vt:lpstr>
      <vt:lpstr>Multimodal Sensing-Assisted User Association
and Tracking in Vehicular Networks</vt:lpstr>
      <vt:lpstr>Background</vt:lpstr>
      <vt:lpstr>V2I Beam Management Problem</vt:lpstr>
      <vt:lpstr>Sensing-Assisted Beam Prediction: Single-Candidate Scenario</vt:lpstr>
      <vt:lpstr>Sensing-Assisted Beam Prediction: Multi-Candidate Scenario</vt:lpstr>
      <vt:lpstr>Sensing-Target-to-User Association</vt:lpstr>
      <vt:lpstr>Research Objectives and Contributions</vt:lpstr>
      <vt:lpstr>System Model</vt:lpstr>
      <vt:lpstr>Network Architecture and Information Domains</vt:lpstr>
      <vt:lpstr>ISAC Sensing Model</vt:lpstr>
      <vt:lpstr>Downlink Communication Model</vt:lpstr>
      <vt:lpstr>Downlink Communication Model</vt:lpstr>
      <vt:lpstr>Design Requirements</vt:lpstr>
      <vt:lpstr>Proposed Framework</vt:lpstr>
      <vt:lpstr>DMSA-BM Architecture</vt:lpstr>
      <vt:lpstr>Cross-Node Fusion</vt:lpstr>
      <vt:lpstr>Multimodal Fusion</vt:lpstr>
      <vt:lpstr>Joint Detection and Beam Prediction</vt:lpstr>
      <vt:lpstr>IMM-Based Physical-Target Tracking</vt:lpstr>
      <vt:lpstr>Measurement-Grounded Target–User Association</vt:lpstr>
      <vt:lpstr>Association-Gated Beam Candidate Selection</vt:lpstr>
      <vt:lpstr>Algorithm Summary</vt:lpstr>
      <vt:lpstr>Experimental Evaluation</vt:lpstr>
      <vt:lpstr>Experimental Setup</vt:lpstr>
      <vt:lpstr>Perception and Beam Prediction</vt:lpstr>
      <vt:lpstr>Cooperative Sensing Nodes</vt:lpstr>
      <vt:lpstr>Communication Performance</vt:lpstr>
      <vt:lpstr>Ablation and Tracking Results</vt:lpstr>
      <vt:lpstr>Conclusion</vt:lpstr>
      <vt:lpstr>Conclusions and Future 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Yifeng YUAN</cp:lastModifiedBy>
  <cp:revision>1</cp:revision>
  <dcterms:created xsi:type="dcterms:W3CDTF">2026-07-17T14:30:36Z</dcterms:created>
  <dcterms:modified xsi:type="dcterms:W3CDTF">2026-07-17T20:31:29Z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ceCLI.Version">
    <vt:lpwstr>1.0.136</vt:lpwstr>
  </property>
  <property fmtid="{D5CDD505-2E9C-101B-9397-08002B2CF9AE}" pid="3" name="OfficeCLI.LastModified">
    <vt:lpwstr>2026-07-17T15:51:49Z</vt:lpwstr>
  </property>
</Properties>
</file>