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95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首先将为大家介绍该研究背景与意义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gradFill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1"/>
          <p:cNvPicPr>
            <a:picLocks noChangeAspect="1"/>
          </p:cNvPicPr>
          <p:nvPr/>
        </p:nvPicPr>
        <p:blipFill>
          <a:blip r:embed="rId2">
            <a:alphaModFix amt="14000"/>
          </a:blip>
          <a:srcRect r="90374"/>
          <a:stretch/>
        </p:blipFill>
        <p:spPr>
          <a:xfrm>
            <a:off x="4701908" y="1689194"/>
            <a:ext cx="3107159" cy="4487091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3">
            <a:alphaModFix amt="21000"/>
          </a:blip>
          <a:srcRect l="8" t="48319" r="92" b="33286"/>
          <a:stretch/>
        </p:blipFill>
        <p:spPr>
          <a:xfrm>
            <a:off x="0" y="0"/>
            <a:ext cx="12192000" cy="9497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"/>
          <a:srcRect r="46366"/>
          <a:stretch/>
        </p:blipFill>
        <p:spPr>
          <a:xfrm>
            <a:off x="208020" y="261391"/>
            <a:ext cx="2346921" cy="596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noGrp="1"/>
          </p:cNvSpPr>
          <p:nvPr/>
        </p:nvSpPr>
        <p:spPr>
          <a:xfrm>
            <a:off x="667124" y="949717"/>
            <a:ext cx="11524876" cy="54733"/>
          </a:xfrm>
          <a:prstGeom prst="rect">
            <a:avLst/>
          </a:prstGeom>
          <a:solidFill>
            <a:srgbClr val="00B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noGrp="1"/>
          </p:cNvSpPr>
          <p:nvPr/>
        </p:nvSpPr>
        <p:spPr>
          <a:xfrm>
            <a:off x="0" y="949716"/>
            <a:ext cx="667125" cy="54733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3"/>
          <p:cNvPicPr>
            <a:picLocks noChangeAspect="1"/>
          </p:cNvPicPr>
          <p:nvPr/>
        </p:nvPicPr>
        <p:blipFill>
          <a:blip r:embed="rId2"/>
          <a:srcRect l="58346"/>
          <a:stretch/>
        </p:blipFill>
        <p:spPr>
          <a:xfrm>
            <a:off x="10282518" y="261391"/>
            <a:ext cx="1822746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F6A6F2-D14C-4131-92F5-EBAC01F52C2C}" type="datetime3">
              <a:t>2026年7月16日星期四</a:t>
            </a:fld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FF54DE5-C571-48E8-A5BC-B369434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79BA0B-69DA-4385-8551-E5A78E7330E4}" type="datetime3">
              <a:t>2026年7月16日星期四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188" y="1025525"/>
            <a:ext cx="10966450" cy="5375275"/>
          </a:xfrm>
        </p:spPr>
        <p:txBody>
          <a:bodyPr/>
          <a:lstStyle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noGrp="1"/>
          </p:cNvSpPr>
          <p:nvPr/>
        </p:nvSpPr>
        <p:spPr>
          <a:xfrm>
            <a:off x="208344" y="647024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6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noGrp="1"/>
          </p:cNvSpPr>
          <p:nvPr/>
        </p:nvSpPr>
        <p:spPr>
          <a:xfrm>
            <a:off x="609027" y="296125"/>
            <a:ext cx="10965590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DF5D18-0C97-4B9B-A5F0-23768CA63075}" type="datetime3">
              <a:t>2026年7月16日星期四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0698" y="1041721"/>
            <a:ext cx="5285887" cy="5359079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1041721"/>
            <a:ext cx="5482035" cy="5359080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noGrp="1"/>
          </p:cNvSpPr>
          <p:nvPr/>
        </p:nvSpPr>
        <p:spPr>
          <a:xfrm>
            <a:off x="617383" y="296125"/>
            <a:ext cx="10957234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>
            <a:fld id="{1D8A88B6-106F-4EA9-92E3-FB2DE653E9D7}" type="datetime3">
              <a:t>2026年7月16日星期四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15352" y="6527381"/>
            <a:ext cx="962683" cy="278072"/>
          </a:xfrm>
        </p:spPr>
        <p:txBody>
          <a:bodyPr/>
          <a:lstStyle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1" y="1013674"/>
            <a:ext cx="10967258" cy="528353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0698" y="6530413"/>
            <a:ext cx="143423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67F6A6F2-D14C-4131-92F5-EBAC01F52C2C}" type="datetime3">
              <a:t>2026年7月16日星期四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15352" y="6530413"/>
            <a:ext cx="96268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07731"/>
            <a:ext cx="12192000" cy="788134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4800" b="1" dirty="0" err="1">
                <a:latin typeface="微软雅黑"/>
                <a:ea typeface="微软雅黑"/>
                <a:cs typeface="微软雅黑"/>
              </a:rPr>
              <a:t>多模态感知辅助的车联网用户关联与跟踪</a:t>
            </a:r>
            <a:endParaRPr sz="48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MPhil Thesis · </a:t>
            </a:r>
            <a:r>
              <a:rPr dirty="0" err="1"/>
              <a:t>Yifeng</a:t>
            </a:r>
            <a:r>
              <a:rPr dirty="0"/>
              <a:t> YUAN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ontent Placeholder 3">
            <a:extLst>
              <a:ext uri="{FF2B5EF4-FFF2-40B4-BE49-F238E27FC236}">
                <a16:creationId xmlns:a16="http://schemas.microsoft.com/office/drawing/2014/main" id="{83A20FDD-8004-448C-BEB7-0F0BC98859B8}"/>
              </a:ext>
            </a:extLst>
          </p:cNvPr>
          <p:cNvSpPr>
            <a:spLocks noGrp="1"/>
          </p:cNvSpPr>
          <p:nvPr/>
        </p:nvSpPr>
        <p:spPr>
          <a:xfrm>
            <a:off x="792601" y="1320991"/>
            <a:ext cx="10689907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indent="-288000"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buClr>
                <a:srgbClr val="2A51A5"/>
              </a:buClr>
              <a:buFont typeface="Wingdings"/>
              <a:buChar char="q"/>
              <a:defRPr sz="1600">
                <a:solidFill>
                  <a:prstClr val="black"/>
                </a:solidFill>
                <a:latin typeface="微软雅黑"/>
                <a:ea typeface="微软雅黑"/>
                <a:cs typeface="微软雅黑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600"/>
              </a:spcBef>
              <a:buClr>
                <a:srgbClr val="FF0000"/>
              </a:buClr>
              <a:buFont typeface="Wingdings"/>
              <a:buChar char="v"/>
              <a:defRPr sz="2400" kern="1200">
                <a:solidFill>
                  <a:schemeClr val="tx1"/>
                </a:solidFill>
                <a:latin typeface="Candara"/>
                <a:ea typeface="Candara"/>
                <a:cs typeface="Candara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600"/>
              </a:spcBef>
              <a:buClr>
                <a:schemeClr val="accent4">
                  <a:lumMod val="75000"/>
                </a:schemeClr>
              </a:buClr>
              <a:buFont typeface="Wingdings"/>
              <a:buChar char="Ø"/>
              <a:defRPr sz="2000" kern="1200">
                <a:solidFill>
                  <a:schemeClr val="tx1"/>
                </a:solidFill>
                <a:latin typeface="Candara"/>
                <a:ea typeface="Candara"/>
                <a:cs typeface="Candara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Courier New"/>
              <a:buChar char="o"/>
              <a:defRPr sz="2000" kern="1200">
                <a:solidFill>
                  <a:schemeClr val="tx1"/>
                </a:solidFill>
                <a:latin typeface="Candara"/>
                <a:ea typeface="Candara"/>
                <a:cs typeface="Candara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600"/>
              </a:spcBef>
              <a:buFont typeface="Wingdings"/>
              <a:buChar char="§"/>
              <a:defRPr sz="2000" kern="1200">
                <a:solidFill>
                  <a:schemeClr val="tx1"/>
                </a:solidFill>
                <a:latin typeface="Candara"/>
                <a:ea typeface="Candara"/>
                <a:cs typeface="Candara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Wingdings"/>
              <a:buChar char="§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 b="1" dirty="0" err="1"/>
              <a:t>研究问题与贡献</a:t>
            </a:r>
            <a:endParaRPr sz="2800" b="1" dirty="0"/>
          </a:p>
          <a:p>
            <a:r>
              <a:rPr sz="2800" b="1" dirty="0" err="1">
                <a:solidFill>
                  <a:schemeClr val="bg2">
                    <a:lumMod val="90000"/>
                  </a:schemeClr>
                </a:solidFill>
              </a:rPr>
              <a:t>系统模型与</a:t>
            </a:r>
            <a:r>
              <a:rPr sz="2800" b="1" dirty="0">
                <a:solidFill>
                  <a:schemeClr val="bg2">
                    <a:lumMod val="90000"/>
                  </a:schemeClr>
                </a:solidFill>
              </a:rPr>
              <a:t> DMSA-BM</a:t>
            </a:r>
          </a:p>
          <a:p>
            <a:r>
              <a:rPr sz="2800" b="1" dirty="0" err="1">
                <a:solidFill>
                  <a:schemeClr val="bg2">
                    <a:lumMod val="90000"/>
                  </a:schemeClr>
                </a:solidFill>
              </a:rPr>
              <a:t>关联、跟踪与候选选择</a:t>
            </a:r>
            <a:endParaRPr sz="28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2800" b="1" dirty="0" err="1">
                <a:solidFill>
                  <a:schemeClr val="bg2">
                    <a:lumMod val="90000"/>
                  </a:schemeClr>
                </a:solidFill>
              </a:rPr>
              <a:t>实验结果与边界</a:t>
            </a:r>
            <a:endParaRPr sz="2800" b="1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sz="2800" b="1" dirty="0" err="1">
                <a:solidFill>
                  <a:schemeClr val="bg2">
                    <a:lumMod val="90000"/>
                  </a:schemeClr>
                </a:solidFill>
              </a:rPr>
              <a:t>结论与未来工作</a:t>
            </a:r>
            <a:endParaRPr sz="28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标题 3">
            <a:extLst>
              <a:ext uri="{FF2B5EF4-FFF2-40B4-BE49-F238E27FC236}">
                <a16:creationId xmlns:a16="http://schemas.microsoft.com/office/drawing/2014/main" id="{DF98AF49-904F-EEB8-3C3A-D39CF01734B1}"/>
              </a:ext>
            </a:extLst>
          </p:cNvPr>
          <p:cNvSpPr>
            <a:spLocks noGrp="1"/>
          </p:cNvSpPr>
          <p:nvPr/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F00CD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b="1">
                <a:solidFill>
                  <a:srgbClr val="2A51A5"/>
                </a:solidFill>
                <a:latin typeface="Times New Roman"/>
                <a:ea typeface="Times New Roman"/>
                <a:cs typeface="Times New Roman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7374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>
                <a:latin typeface="微软雅黑"/>
                <a:ea typeface="微软雅黑"/>
                <a:cs typeface="微软雅黑"/>
              </a:rPr>
              <a:t>高频 V2I 对准是持续决策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17382" y="984917"/>
            <a:ext cx="10025218" cy="1618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448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51A5"/>
              </a:buClr>
              <a:buSzTx/>
              <a:buFont typeface="Wingdings"/>
              <a:buChar char="q"/>
            </a:pPr>
            <a:r>
              <a:rPr sz="2000" b="0" i="0" u="none" cap="none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高频段提供带宽，但窄波束需要持续维持对准。车辆位置、遮挡与多径会迅速改变最佳方向。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17382" y="2497928"/>
            <a:ext cx="10025218" cy="19878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448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51A5"/>
              </a:buClr>
              <a:buSzTx/>
              <a:buFont typeface="Wingdings"/>
              <a:buChar char="q"/>
            </a:pPr>
            <a:r>
              <a:rPr sz="2000" b="0" i="0" u="none" cap="none" dirty="0" err="1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关键矛盾：频繁测量提高链路证据，却挤占本可传输数据的时频资源</a:t>
            </a:r>
            <a:r>
              <a:rPr sz="2000" b="0" i="0" u="none" cap="none" dirty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>
                <a:latin typeface="微软雅黑"/>
                <a:ea typeface="微软雅黑"/>
                <a:cs typeface="微软雅黑"/>
              </a:rPr>
              <a:t>波束扫描在可靠性与资源之间取舍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17381" y="960718"/>
            <a:ext cx="11163139" cy="1382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448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51A5"/>
              </a:buClr>
              <a:buSzTx/>
              <a:buFont typeface="Wingdings"/>
              <a:buChar char="q"/>
            </a:pPr>
            <a:r>
              <a:rPr sz="2000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SSB 扫描给出粗方向；CSI-RS 在候选集合中测量并反馈等效信道。候选过宽会增加开销，过窄会漏掉强波束。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31026" y="4393365"/>
            <a:ext cx="5968822" cy="82296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marL="1270" marR="0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51A5"/>
              </a:buClr>
              <a:buSzTx/>
              <a:buNone/>
            </a:pPr>
            <a:r>
              <a:rPr sz="1600" b="0" i="0" u="none" cap="none" dirty="0" err="1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候选宽度</a:t>
            </a: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 K </a:t>
            </a:r>
            <a:r>
              <a:rPr sz="1600" b="0" i="0" u="none" cap="none" dirty="0" err="1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同时决定后续</a:t>
            </a: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 RZF SINR 与 CSI-RS </a:t>
            </a:r>
            <a:r>
              <a:rPr sz="1600" b="0" i="0" u="none" cap="none" dirty="0" err="1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占用：准确排序可提升前者，精简测量可释放后者</a:t>
            </a:r>
            <a:r>
              <a:rPr sz="1600" b="0" i="0" u="none" cap="none" dirty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617381" y="2493713"/>
            <a:ext cx="11163139" cy="2357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4480" algn="l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51A5"/>
              </a:buClr>
              <a:buSzTx/>
              <a:buFont typeface="Wingdings"/>
              <a:buChar char="q"/>
            </a:pPr>
            <a:r>
              <a:rPr sz="2000" dirty="0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感知的作用是排序“</a:t>
            </a:r>
            <a:r>
              <a:rPr sz="2000" dirty="0" err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值得测量的波束</a:t>
            </a:r>
            <a:r>
              <a:rPr sz="2000" dirty="0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”，</a:t>
            </a:r>
            <a:r>
              <a:rPr sz="2000" dirty="0" err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而不是跳过测量直接宣布服务波束</a:t>
            </a:r>
            <a:r>
              <a:rPr sz="2000" dirty="0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07731"/>
            <a:ext cx="12192000" cy="788134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4800" b="1" dirty="0" err="1">
                <a:latin typeface="微软雅黑"/>
                <a:ea typeface="微软雅黑"/>
                <a:cs typeface="微软雅黑"/>
              </a:rPr>
              <a:t>谢谢聆听</a:t>
            </a:r>
            <a:endParaRPr sz="4800" b="1"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Q&amp;A · </a:t>
            </a:r>
            <a:r>
              <a:rPr dirty="0" err="1"/>
              <a:t>Yifeng</a:t>
            </a:r>
            <a:r>
              <a:rPr dirty="0"/>
              <a:t> YUAN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DocSecurity>0</DocSecurity>
  <PresentationFormat>宽屏</PresentationFormat>
  <Paragraphs>18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Arial</vt:lpstr>
      <vt:lpstr>Courier New</vt:lpstr>
      <vt:lpstr>Helvetica</vt:lpstr>
      <vt:lpstr>Segoe UI Historic</vt:lpstr>
      <vt:lpstr>Times New Roman</vt:lpstr>
      <vt:lpstr>Wingdings</vt:lpstr>
      <vt:lpstr>Academic Literature 16x9</vt:lpstr>
      <vt:lpstr>多模态感知辅助的车联网用户关联与跟踪</vt:lpstr>
      <vt:lpstr>PowerPoint 演示文稿</vt:lpstr>
      <vt:lpstr>高频 V2I 对准是持续决策</vt:lpstr>
      <vt:lpstr>波束扫描在可靠性与资源之间取舍</vt:lpstr>
      <vt:lpstr>谢谢聆听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1</cp:revision>
  <dcterms:created xsi:type="dcterms:W3CDTF">2026-07-16T13:40:38Z</dcterms:created>
  <dcterms:modified xsi:type="dcterms:W3CDTF">2026-07-16T15:54:13Z</dcterms:modified>
</cp:coreProperties>
</file>